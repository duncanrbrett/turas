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73" r:id="rId3"/>
    <p:sldId id="257" r:id="rId4"/>
    <p:sldId id="276" r:id="rId5"/>
    <p:sldId id="259" r:id="rId6"/>
    <p:sldId id="280" r:id="rId7"/>
    <p:sldId id="272" r:id="rId8"/>
    <p:sldId id="265" r:id="rId9"/>
    <p:sldId id="266" r:id="rId10"/>
    <p:sldId id="267" r:id="rId11"/>
    <p:sldId id="268" r:id="rId12"/>
    <p:sldId id="269" r:id="rId13"/>
    <p:sldId id="271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/>
    <p:restoredTop sz="94694"/>
  </p:normalViewPr>
  <p:slideViewPr>
    <p:cSldViewPr snapToGrid="0">
      <p:cViewPr varScale="1">
        <p:scale>
          <a:sx n="107" d="100"/>
          <a:sy n="107" d="100"/>
        </p:scale>
        <p:origin x="13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979EB0-E91F-CC45-B59B-1976BB608CC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0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 Analytics Engine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2D1C2E-628B-F342-8B9E-1EDC207525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C050A-E8A6-9340-AECB-D5AFFD566095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495AE-8458-0641-8432-7291A499C029}"/>
              </a:ext>
            </a:extLst>
          </p:cNvPr>
          <p:cNvSpPr txBox="1"/>
          <p:nvPr/>
        </p:nvSpPr>
        <p:spPr>
          <a:xfrm>
            <a:off x="762000" y="254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What is Turas?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1CED1-8BFF-634F-B314-E4CFC52C705A}"/>
              </a:ext>
            </a:extLst>
          </p:cNvPr>
          <p:cNvSpPr txBox="1"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FFFFFF"/>
                </a:solidFill>
                <a:latin typeface="Calibri"/>
                <a:cs typeface="Calibri"/>
              </a:rPr>
              <a:t>Research Analysis That Works the Way You Do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B9D40-8E3A-7C4E-AC52-00C299B114CE}"/>
              </a:ext>
            </a:extLst>
          </p:cNvPr>
          <p:cNvSpPr txBox="1"/>
          <p:nvPr/>
        </p:nvSpPr>
        <p:spPr>
          <a:xfrm>
            <a:off x="762000" y="1879600"/>
            <a:ext cx="1066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444444"/>
                </a:solidFill>
                <a:latin typeface="Calibri"/>
                <a:cs typeface="Calibri"/>
              </a:rPr>
              <a:t>Research analysis is slow, inconsistent, and hard to defend. Analysts rebuild the same crosstabs from scratch. Methods vary by project. Outputs can't be audited. And when a client pushes back on a finding, there's no clean trail to follow.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67A42D-69B5-EF45-B03D-27FBA31A46B3}"/>
              </a:ext>
            </a:extLst>
          </p:cNvPr>
          <p:cNvSpPr txBox="1"/>
          <p:nvPr/>
        </p:nvSpPr>
        <p:spPr>
          <a:xfrm>
            <a:off x="762000" y="3175000"/>
            <a:ext cx="1066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1B2A3D"/>
                </a:solidFill>
                <a:latin typeface="Calibri"/>
              </a:rPr>
              <a:t>Turas fixes that.</a:t>
            </a:r>
            <a:r>
              <a:rPr lang="en-US" sz="1600" dirty="0">
                <a:solidFill>
                  <a:srgbClr val="444444"/>
                </a:solidFill>
                <a:latin typeface="Calibri"/>
              </a:rPr>
              <a:t> It's a controlled, reproducible analytics platform built for survey research — combining world-class statistical methods with a structured workflow that delivers automated, consistent, and fully auditable analysis every time.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C4E34A-1B67-D64E-9845-92A4C46E92C5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2920AC-B26A-D04E-9D11-61F96EB7649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DF4AEA-0047-C844-8E90-AB53E48EAFF2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5A65B60-A50C-CE42-BC53-C193AA972AC4}"/>
              </a:ext>
            </a:extLst>
          </p:cNvPr>
          <p:cNvSpPr/>
          <p:nvPr/>
        </p:nvSpPr>
        <p:spPr>
          <a:xfrm>
            <a:off x="762000" y="4953000"/>
            <a:ext cx="3302000" cy="635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E6E7-8A2B-9D41-A5E1-27C86A201FAC}"/>
              </a:ext>
            </a:extLst>
          </p:cNvPr>
          <p:cNvSpPr txBox="1"/>
          <p:nvPr/>
        </p:nvSpPr>
        <p:spPr>
          <a:xfrm>
            <a:off x="914400" y="5116611"/>
            <a:ext cx="2997200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GB" sz="1400" b="1" dirty="0">
                <a:latin typeface="Calibri"/>
                <a:cs typeface="Calibri"/>
              </a:rPr>
              <a:t>Automated  —  No manual rebuilds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2897D3-152F-1F45-A34E-298E8976C3C2}"/>
              </a:ext>
            </a:extLst>
          </p:cNvPr>
          <p:cNvSpPr/>
          <p:nvPr/>
        </p:nvSpPr>
        <p:spPr>
          <a:xfrm>
            <a:off x="4216400" y="4953000"/>
            <a:ext cx="3759200" cy="635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64AD43-D5BD-694D-8922-1E1ECC644AD0}"/>
              </a:ext>
            </a:extLst>
          </p:cNvPr>
          <p:cNvSpPr txBox="1"/>
          <p:nvPr/>
        </p:nvSpPr>
        <p:spPr>
          <a:xfrm>
            <a:off x="4597400" y="5116611"/>
            <a:ext cx="2997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400" b="1">
                <a:latin typeface="Calibri"/>
                <a:cs typeface="Calibri"/>
              </a:defRPr>
            </a:lvl1pPr>
          </a:lstStyle>
          <a:p>
            <a:r>
              <a:rPr lang="en-GB" dirty="0"/>
              <a:t>Consistent methodology every time 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473ADD6-AEF5-0846-9896-5C4B199675A4}"/>
              </a:ext>
            </a:extLst>
          </p:cNvPr>
          <p:cNvSpPr/>
          <p:nvPr/>
        </p:nvSpPr>
        <p:spPr>
          <a:xfrm>
            <a:off x="8128000" y="4953000"/>
            <a:ext cx="3302000" cy="635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95308-FEB7-E848-B8B7-9334013E962E}"/>
              </a:ext>
            </a:extLst>
          </p:cNvPr>
          <p:cNvSpPr txBox="1"/>
          <p:nvPr/>
        </p:nvSpPr>
        <p:spPr>
          <a:xfrm>
            <a:off x="8280400" y="5116611"/>
            <a:ext cx="2997200" cy="307777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GB" sz="1400" b="1" dirty="0">
                <a:latin typeface="Calibri"/>
                <a:cs typeface="Calibri"/>
              </a:rPr>
              <a:t>Auditable  —  Full trail of evidence</a:t>
            </a:r>
          </a:p>
        </p:txBody>
      </p:sp>
    </p:spTree>
    <p:extLst>
      <p:ext uri="{BB962C8B-B14F-4D97-AF65-F5344CB8AC3E}">
        <p14:creationId xmlns:p14="http://schemas.microsoft.com/office/powerpoint/2010/main" val="57814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A7047C-FAD6-DB46-8BD8-4D99E8E1AC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464AB-DDA6-E748-9953-5AEF81DE6156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A27846-A213-D44E-AC09-70C0A2D01324}"/>
              </a:ext>
            </a:extLst>
          </p:cNvPr>
          <p:cNvSpPr txBox="1"/>
          <p:nvPr/>
        </p:nvSpPr>
        <p:spPr>
          <a:xfrm>
            <a:off x="762000" y="254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Why You Can Trust 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A8E68-1D28-D643-A66E-58A9624BB935}"/>
              </a:ext>
            </a:extLst>
          </p:cNvPr>
          <p:cNvSpPr txBox="1"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FFFFFF"/>
                </a:solidFill>
                <a:latin typeface="Calibri"/>
                <a:cs typeface="Calibri"/>
              </a:rPr>
              <a:t>Built on Proven, Transparent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7D263-8620-0544-B30D-D7CEDEC528BC}"/>
              </a:ext>
            </a:extLst>
          </p:cNvPr>
          <p:cNvSpPr txBox="1"/>
          <p:nvPr/>
        </p:nvSpPr>
        <p:spPr>
          <a:xfrm>
            <a:off x="762000" y="1879600"/>
            <a:ext cx="1066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444444"/>
                </a:solidFill>
                <a:latin typeface="Calibri"/>
                <a:cs typeface="Calibri"/>
              </a:rPr>
              <a:t>Turas is built on mature R packages with over 400 million downloads — not proprietary black-box algorithms. The underlying TRS framework adds a critical layer: no silent failures, full reproducibility, and complete auditability.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26031B-589F-3042-8CD6-7B0A2C96436E}"/>
              </a:ext>
            </a:extLst>
          </p:cNvPr>
          <p:cNvSpPr txBox="1"/>
          <p:nvPr/>
        </p:nvSpPr>
        <p:spPr>
          <a:xfrm>
            <a:off x="762000" y="3365500"/>
            <a:ext cx="10668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 dirty="0">
                <a:solidFill>
                  <a:srgbClr val="1B2A3D"/>
                </a:solidFill>
                <a:latin typeface="Calibri"/>
                <a:cs typeface="Calibri"/>
              </a:rPr>
              <a:t>Every analytical output can be traced back to its methodology. </a:t>
            </a:r>
          </a:p>
          <a:p>
            <a:pPr algn="l"/>
            <a:r>
              <a:rPr lang="en-GB" b="1" dirty="0">
                <a:solidFill>
                  <a:srgbClr val="1B2A3D"/>
                </a:solidFill>
                <a:latin typeface="Calibri"/>
                <a:cs typeface="Calibri"/>
              </a:rPr>
              <a:t>No black boxes — just transparent, reproducible analysis.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35D2FD-2054-5B42-AE08-A9663F56C355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6785DA-5C28-C744-9F80-DB5FEED9780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3C62D1-1CAD-7C4C-BC1C-6667A710ACB8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8F5C00-1B54-FE40-BDB8-1EA8E84D3A61}"/>
              </a:ext>
            </a:extLst>
          </p:cNvPr>
          <p:cNvSpPr/>
          <p:nvPr/>
        </p:nvSpPr>
        <p:spPr>
          <a:xfrm>
            <a:off x="762000" y="4318000"/>
            <a:ext cx="457200" cy="457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A40506-FFBC-F447-B723-EFF8B4AB7680}"/>
              </a:ext>
            </a:extLst>
          </p:cNvPr>
          <p:cNvSpPr txBox="1"/>
          <p:nvPr/>
        </p:nvSpPr>
        <p:spPr>
          <a:xfrm>
            <a:off x="1346200" y="43180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B2A3D"/>
                </a:solidFill>
                <a:latin typeface="Calibri"/>
                <a:cs typeface="Calibri"/>
              </a:rPr>
              <a:t>400M+ Downloads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C078E-A07B-1C42-A93E-3CA3D58A6000}"/>
              </a:ext>
            </a:extLst>
          </p:cNvPr>
          <p:cNvSpPr txBox="1"/>
          <p:nvPr/>
        </p:nvSpPr>
        <p:spPr>
          <a:xfrm>
            <a:off x="1346200" y="46228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666666"/>
                </a:solidFill>
                <a:latin typeface="Calibri"/>
                <a:cs typeface="Calibri"/>
              </a:rPr>
              <a:t>Built on proven, mature R packages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DB3D44B-0C87-7543-BA54-36427A6CE3B5}"/>
              </a:ext>
            </a:extLst>
          </p:cNvPr>
          <p:cNvSpPr/>
          <p:nvPr/>
        </p:nvSpPr>
        <p:spPr>
          <a:xfrm>
            <a:off x="4445000" y="4318000"/>
            <a:ext cx="457200" cy="457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B46E68-835E-A044-8265-445934992F7A}"/>
              </a:ext>
            </a:extLst>
          </p:cNvPr>
          <p:cNvSpPr txBox="1"/>
          <p:nvPr/>
        </p:nvSpPr>
        <p:spPr>
          <a:xfrm>
            <a:off x="5029200" y="4318000"/>
            <a:ext cx="2667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1B2A3D"/>
                </a:solidFill>
                <a:latin typeface="Calibri"/>
                <a:cs typeface="Calibri"/>
              </a:rPr>
              <a:t>Full Reproducibility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29EF4C-A963-F945-BBA1-2D01F1EE1741}"/>
              </a:ext>
            </a:extLst>
          </p:cNvPr>
          <p:cNvSpPr txBox="1"/>
          <p:nvPr/>
        </p:nvSpPr>
        <p:spPr>
          <a:xfrm>
            <a:off x="5029200" y="46228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666666"/>
                </a:solidFill>
                <a:latin typeface="Calibri"/>
                <a:cs typeface="Calibri"/>
              </a:rPr>
              <a:t>Every analysis runs the same way, every time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5BAD6B-1F91-0D44-9604-C0B5B81F5379}"/>
              </a:ext>
            </a:extLst>
          </p:cNvPr>
          <p:cNvSpPr/>
          <p:nvPr/>
        </p:nvSpPr>
        <p:spPr>
          <a:xfrm>
            <a:off x="8128000" y="4318000"/>
            <a:ext cx="457200" cy="457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711D3D-69EA-BB4D-97D9-85295C656A46}"/>
              </a:ext>
            </a:extLst>
          </p:cNvPr>
          <p:cNvSpPr txBox="1"/>
          <p:nvPr/>
        </p:nvSpPr>
        <p:spPr>
          <a:xfrm>
            <a:off x="8712200" y="4318000"/>
            <a:ext cx="2667000" cy="3231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 dirty="0">
                <a:solidFill>
                  <a:srgbClr val="1B2A3D"/>
                </a:solidFill>
                <a:latin typeface="Calibri"/>
                <a:cs typeface="Calibri"/>
              </a:rPr>
              <a:t>Auditability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9F9D99-625D-4E44-A0F2-28040B17B7C8}"/>
              </a:ext>
            </a:extLst>
          </p:cNvPr>
          <p:cNvSpPr txBox="1"/>
          <p:nvPr/>
        </p:nvSpPr>
        <p:spPr>
          <a:xfrm>
            <a:off x="8712200" y="4622800"/>
            <a:ext cx="2667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dirty="0">
                <a:solidFill>
                  <a:srgbClr val="666666"/>
                </a:solidFill>
                <a:latin typeface="Calibri"/>
                <a:cs typeface="Calibri"/>
              </a:rPr>
              <a:t>Trace any output back to the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2D684C-A584-5D4D-A68D-21E12D0AB9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B7343-5168-5A4B-B996-763FA6B896C6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4BAAE-3C33-B748-B5E9-6200AA8679CD}"/>
              </a:ext>
            </a:extLst>
          </p:cNvPr>
          <p:cNvSpPr txBox="1"/>
          <p:nvPr/>
        </p:nvSpPr>
        <p:spPr>
          <a:xfrm>
            <a:off x="762000" y="254000"/>
            <a:ext cx="635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Why HTML Reports Are the Future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F2661-B740-7640-B6A4-948F162C4EB8}"/>
              </a:ext>
            </a:extLst>
          </p:cNvPr>
          <p:cNvSpPr txBox="1"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FFFFFF"/>
                </a:solidFill>
                <a:latin typeface="Calibri"/>
                <a:cs typeface="Calibri"/>
              </a:rPr>
              <a:t>From Static Slides to Interactive Insights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79450-EC88-4E42-80A8-2028054A2F8A}"/>
              </a:ext>
            </a:extLst>
          </p:cNvPr>
          <p:cNvSpPr txBox="1"/>
          <p:nvPr/>
        </p:nvSpPr>
        <p:spPr>
          <a:xfrm>
            <a:off x="762000" y="18796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444444"/>
                </a:solidFill>
                <a:latin typeface="Calibri"/>
                <a:cs typeface="Calibri"/>
              </a:rPr>
              <a:t>Static PowerPoint decks go stale the moment they leave the analyst's hands. Turas HTML reports change that.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BE12A1-4C70-0348-BB6A-0FD6E53BBB49}"/>
              </a:ext>
            </a:extLst>
          </p:cNvPr>
          <p:cNvSpPr/>
          <p:nvPr/>
        </p:nvSpPr>
        <p:spPr>
          <a:xfrm>
            <a:off x="762000" y="2794000"/>
            <a:ext cx="3302000" cy="2286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47C707-169E-AA4A-A144-FB99CEB5D19A}"/>
              </a:ext>
            </a:extLst>
          </p:cNvPr>
          <p:cNvSpPr txBox="1"/>
          <p:nvPr/>
        </p:nvSpPr>
        <p:spPr>
          <a:xfrm>
            <a:off x="952500" y="3429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B2A3D"/>
                </a:solidFill>
                <a:latin typeface="Calibri"/>
                <a:cs typeface="Calibri"/>
              </a:rPr>
              <a:t>One Source of Truth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4538B6-BC1B-1249-9288-CF5956C77279}"/>
              </a:ext>
            </a:extLst>
          </p:cNvPr>
          <p:cNvSpPr txBox="1"/>
          <p:nvPr/>
        </p:nvSpPr>
        <p:spPr>
          <a:xfrm>
            <a:off x="952500" y="38735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55555"/>
                </a:solidFill>
                <a:latin typeface="Calibri"/>
                <a:cs typeface="Calibri"/>
              </a:rPr>
              <a:t>Produced directly from the analysis — interactive, shareable, and reusable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D7ED609-6072-D74F-AFF9-25BD5BEA83E4}"/>
              </a:ext>
            </a:extLst>
          </p:cNvPr>
          <p:cNvSpPr/>
          <p:nvPr/>
        </p:nvSpPr>
        <p:spPr>
          <a:xfrm>
            <a:off x="4445000" y="2794000"/>
            <a:ext cx="3302000" cy="2286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8BAFA-4AF7-0245-9265-20B62EC38676}"/>
              </a:ext>
            </a:extLst>
          </p:cNvPr>
          <p:cNvSpPr txBox="1"/>
          <p:nvPr/>
        </p:nvSpPr>
        <p:spPr>
          <a:xfrm>
            <a:off x="4635500" y="3429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B2A3D"/>
                </a:solidFill>
                <a:latin typeface="Calibri"/>
                <a:cs typeface="Calibri"/>
              </a:rPr>
              <a:t>Explore &amp; Drill 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1FD5CB-8F95-B04C-99CF-20F9D73986C9}"/>
              </a:ext>
            </a:extLst>
          </p:cNvPr>
          <p:cNvSpPr txBox="1"/>
          <p:nvPr/>
        </p:nvSpPr>
        <p:spPr>
          <a:xfrm>
            <a:off x="4635500" y="38735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55555"/>
                </a:solidFill>
                <a:latin typeface="Calibri"/>
                <a:cs typeface="Calibri"/>
              </a:rPr>
              <a:t>Decision-makers can explore the data themselves and drill into what matters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DCB270E-93BB-6D44-9073-0E9E8CA9DCFE}"/>
              </a:ext>
            </a:extLst>
          </p:cNvPr>
          <p:cNvSpPr/>
          <p:nvPr/>
        </p:nvSpPr>
        <p:spPr>
          <a:xfrm>
            <a:off x="8128000" y="2794000"/>
            <a:ext cx="3302000" cy="2286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9582E6-2479-0945-B8EA-4AAC217FE916}"/>
              </a:ext>
            </a:extLst>
          </p:cNvPr>
          <p:cNvSpPr txBox="1"/>
          <p:nvPr/>
        </p:nvSpPr>
        <p:spPr>
          <a:xfrm>
            <a:off x="8318500" y="3429000"/>
            <a:ext cx="292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b="1">
                <a:solidFill>
                  <a:srgbClr val="1B2A3D"/>
                </a:solidFill>
                <a:latin typeface="Calibri"/>
                <a:cs typeface="Calibri"/>
              </a:rPr>
              <a:t>Lasting Confidence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591788-1526-EF4A-9DD3-72848C999A65}"/>
              </a:ext>
            </a:extLst>
          </p:cNvPr>
          <p:cNvSpPr txBox="1"/>
          <p:nvPr/>
        </p:nvSpPr>
        <p:spPr>
          <a:xfrm>
            <a:off x="8318500" y="3873500"/>
            <a:ext cx="292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555555"/>
                </a:solidFill>
                <a:latin typeface="Calibri"/>
                <a:cs typeface="Calibri"/>
              </a:rPr>
              <a:t>Return to the same report weeks later with full confidence in what you're seeing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0F88F0-4AB3-A644-8A34-468209B486E4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4D429-0E25-604D-BE14-495099E382B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22" name="Graphic 22" descr="One source of truth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12900" y="2895600"/>
            <a:ext cx="457200" cy="457200"/>
          </a:xfrm>
          <a:prstGeom prst="rect">
            <a:avLst/>
          </a:prstGeom>
        </p:spPr>
      </p:pic>
      <p:pic>
        <p:nvPicPr>
          <p:cNvPr id="23" name="Graphic 23" descr="Explore data 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5900" y="2895600"/>
            <a:ext cx="457200" cy="457200"/>
          </a:xfrm>
          <a:prstGeom prst="rect">
            <a:avLst/>
          </a:prstGeom>
        </p:spPr>
      </p:pic>
      <p:pic>
        <p:nvPicPr>
          <p:cNvPr id="24" name="Graphic 24" descr="Lasting confidence ic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8900" y="2895600"/>
            <a:ext cx="457200" cy="457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A69A21-C5EB-D745-BA4E-A84439F80755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58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C8233D8-7CE6-3040-A583-B424DEA90C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FC6D8A-FA2C-B54F-B35B-8DFC9810C9AC}"/>
              </a:ext>
            </a:extLst>
          </p:cNvPr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43C047-B410-634B-9AD0-0B17B73EDCD0}"/>
              </a:ext>
            </a:extLst>
          </p:cNvPr>
          <p:cNvSpPr txBox="1"/>
          <p:nvPr/>
        </p:nvSpPr>
        <p:spPr>
          <a:xfrm>
            <a:off x="762000" y="1905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What Turas Can Do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E8EE64-A87D-4745-9389-EC091DB2CB05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  <a:latin typeface="Calibri"/>
                <a:cs typeface="Calibri"/>
              </a:rPr>
              <a:t>Analysis Modules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57FF6B-F539-1846-B74D-8D1A234B0100}"/>
              </a:ext>
            </a:extLst>
          </p:cNvPr>
          <p:cNvSpPr/>
          <p:nvPr/>
        </p:nvSpPr>
        <p:spPr>
          <a:xfrm>
            <a:off x="762000" y="14224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F070BF6-DB99-F543-899E-E29C4E3D1578}"/>
              </a:ext>
            </a:extLst>
          </p:cNvPr>
          <p:cNvSpPr/>
          <p:nvPr/>
        </p:nvSpPr>
        <p:spPr>
          <a:xfrm>
            <a:off x="7620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3190C93-7907-B641-B8DD-EA779F0A213C}"/>
              </a:ext>
            </a:extLst>
          </p:cNvPr>
          <p:cNvSpPr/>
          <p:nvPr/>
        </p:nvSpPr>
        <p:spPr>
          <a:xfrm>
            <a:off x="35179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781D9EC-CFF0-3844-8E6C-D5412B0A3192}"/>
              </a:ext>
            </a:extLst>
          </p:cNvPr>
          <p:cNvSpPr/>
          <p:nvPr/>
        </p:nvSpPr>
        <p:spPr>
          <a:xfrm>
            <a:off x="62738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6F64443-D3D6-A849-881D-F8A1A1BCD391}"/>
              </a:ext>
            </a:extLst>
          </p:cNvPr>
          <p:cNvSpPr/>
          <p:nvPr/>
        </p:nvSpPr>
        <p:spPr>
          <a:xfrm>
            <a:off x="9029700" y="15748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F58FC37-F053-2640-991A-B2F6CCE174BC}"/>
              </a:ext>
            </a:extLst>
          </p:cNvPr>
          <p:cNvSpPr/>
          <p:nvPr/>
        </p:nvSpPr>
        <p:spPr>
          <a:xfrm>
            <a:off x="7620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A7D42BE-E159-534A-95C2-3E080884706A}"/>
              </a:ext>
            </a:extLst>
          </p:cNvPr>
          <p:cNvSpPr/>
          <p:nvPr/>
        </p:nvSpPr>
        <p:spPr>
          <a:xfrm>
            <a:off x="35179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D49E127-BDD0-1B43-86D8-FD5A40893B80}"/>
              </a:ext>
            </a:extLst>
          </p:cNvPr>
          <p:cNvSpPr/>
          <p:nvPr/>
        </p:nvSpPr>
        <p:spPr>
          <a:xfrm>
            <a:off x="62738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B9912827-55B8-954D-BAA4-4F76826FFD98}"/>
              </a:ext>
            </a:extLst>
          </p:cNvPr>
          <p:cNvSpPr/>
          <p:nvPr/>
        </p:nvSpPr>
        <p:spPr>
          <a:xfrm>
            <a:off x="9029700" y="2794000"/>
            <a:ext cx="2603500" cy="1117600"/>
          </a:xfrm>
          <a:prstGeom prst="roundRect">
            <a:avLst/>
          </a:prstGeom>
          <a:solidFill>
            <a:srgbClr val="F0F4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790DA2-E312-4C41-9213-1619638B3E3E}"/>
              </a:ext>
            </a:extLst>
          </p:cNvPr>
          <p:cNvSpPr txBox="1"/>
          <p:nvPr/>
        </p:nvSpPr>
        <p:spPr>
          <a:xfrm>
            <a:off x="8890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Tabs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B6FA97-7E01-EB4C-A664-8D16277891A2}"/>
              </a:ext>
            </a:extLst>
          </p:cNvPr>
          <p:cNvSpPr txBox="1"/>
          <p:nvPr/>
        </p:nvSpPr>
        <p:spPr>
          <a:xfrm>
            <a:off x="8890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Automated crosstabs with frequency, column %, row %, significance testing &amp; weighting.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003FE3-9A4B-1743-983E-31C587F473B1}"/>
              </a:ext>
            </a:extLst>
          </p:cNvPr>
          <p:cNvSpPr txBox="1"/>
          <p:nvPr/>
        </p:nvSpPr>
        <p:spPr>
          <a:xfrm>
            <a:off x="36449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Tracker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47FCD7-5CCC-C441-81B9-3168ECCF30F0}"/>
              </a:ext>
            </a:extLst>
          </p:cNvPr>
          <p:cNvSpPr txBox="1"/>
          <p:nvPr/>
        </p:nvSpPr>
        <p:spPr>
          <a:xfrm>
            <a:off x="36449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Multi-wave trend analysis with significance testing and question mapping across waves.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51E0F9-85D5-BB46-96C2-0DBAA6E95C85}"/>
              </a:ext>
            </a:extLst>
          </p:cNvPr>
          <p:cNvSpPr txBox="1"/>
          <p:nvPr/>
        </p:nvSpPr>
        <p:spPr>
          <a:xfrm>
            <a:off x="64008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Key Driver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21EAE8-B1A8-AD42-B659-03CF9BBDB478}"/>
              </a:ext>
            </a:extLst>
          </p:cNvPr>
          <p:cNvSpPr txBox="1"/>
          <p:nvPr/>
        </p:nvSpPr>
        <p:spPr>
          <a:xfrm>
            <a:off x="64008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Identifies factors with the strongest statistical relationship to key business outcomes.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9AE69A-C069-AB49-BFFE-90A9D60AC8A7}"/>
              </a:ext>
            </a:extLst>
          </p:cNvPr>
          <p:cNvSpPr txBox="1"/>
          <p:nvPr/>
        </p:nvSpPr>
        <p:spPr>
          <a:xfrm>
            <a:off x="9156700" y="16510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Key Driver (Cat.)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989C79-1E27-CB4D-8E36-D438D3355670}"/>
              </a:ext>
            </a:extLst>
          </p:cNvPr>
          <p:cNvSpPr txBox="1"/>
          <p:nvPr/>
        </p:nvSpPr>
        <p:spPr>
          <a:xfrm>
            <a:off x="9156700" y="19558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Regression methods for categorical outcomes — purchase decisions, segments, or tiers.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AE5A11-65E8-4047-A2B8-2B13CA66730C}"/>
              </a:ext>
            </a:extLst>
          </p:cNvPr>
          <p:cNvSpPr txBox="1"/>
          <p:nvPr/>
        </p:nvSpPr>
        <p:spPr>
          <a:xfrm>
            <a:off x="8890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Segment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41FE5B-4D9E-B945-8BCA-A1DDD336A85F}"/>
              </a:ext>
            </a:extLst>
          </p:cNvPr>
          <p:cNvSpPr txBox="1"/>
          <p:nvPr/>
        </p:nvSpPr>
        <p:spPr>
          <a:xfrm>
            <a:off x="8890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Statistical clustering to discover natural customer groups beyond broad averages.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82F090-30CF-AF4D-9458-44D4ECDAC31A}"/>
              </a:ext>
            </a:extLst>
          </p:cNvPr>
          <p:cNvSpPr txBox="1"/>
          <p:nvPr/>
        </p:nvSpPr>
        <p:spPr>
          <a:xfrm>
            <a:off x="36449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Conjoint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1BEF0A-1593-2743-AF66-78215481E6C2}"/>
              </a:ext>
            </a:extLst>
          </p:cNvPr>
          <p:cNvSpPr txBox="1"/>
          <p:nvPr/>
        </p:nvSpPr>
        <p:spPr>
          <a:xfrm>
            <a:off x="36449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Discrete choice modelling with an Excel-based interactive market simulator.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9C3EF0-82D5-004D-9A17-2AFF25A97564}"/>
              </a:ext>
            </a:extLst>
          </p:cNvPr>
          <p:cNvSpPr txBox="1"/>
          <p:nvPr/>
        </p:nvSpPr>
        <p:spPr>
          <a:xfrm>
            <a:off x="64008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MaxDiff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CBB32C-2E22-8A47-83E4-79C1EA177110}"/>
              </a:ext>
            </a:extLst>
          </p:cNvPr>
          <p:cNvSpPr txBox="1"/>
          <p:nvPr/>
        </p:nvSpPr>
        <p:spPr>
          <a:xfrm>
            <a:off x="64008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Precise preference rankings from balanced best/worst item sets.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1EAE9E5-6F0C-8246-8FCF-09E439AB5914}"/>
              </a:ext>
            </a:extLst>
          </p:cNvPr>
          <p:cNvSpPr txBox="1"/>
          <p:nvPr/>
        </p:nvSpPr>
        <p:spPr>
          <a:xfrm>
            <a:off x="9156700" y="2870200"/>
            <a:ext cx="2349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1B2A3D"/>
                </a:solidFill>
                <a:latin typeface="Calibri"/>
                <a:cs typeface="Calibri"/>
              </a:rPr>
              <a:t>Pricing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D06395-3496-7343-A2ED-871DF34814A3}"/>
              </a:ext>
            </a:extLst>
          </p:cNvPr>
          <p:cNvSpPr txBox="1"/>
          <p:nvPr/>
        </p:nvSpPr>
        <p:spPr>
          <a:xfrm>
            <a:off x="9156700" y="3175000"/>
            <a:ext cx="23495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>
                <a:solidFill>
                  <a:srgbClr val="555555"/>
                </a:solidFill>
                <a:latin typeface="Calibri"/>
                <a:cs typeface="Calibri"/>
              </a:rPr>
              <a:t>Price sensitivity analysis using Van Westendorp &amp; Gabor-Granger models.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C3CA275-5B10-E84F-BA78-7C50005E6DBC}"/>
              </a:ext>
            </a:extLst>
          </p:cNvPr>
          <p:cNvSpPr/>
          <p:nvPr/>
        </p:nvSpPr>
        <p:spPr>
          <a:xfrm>
            <a:off x="762000" y="4318000"/>
            <a:ext cx="10668000" cy="698500"/>
          </a:xfrm>
          <a:prstGeom prst="round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85ADAF3-61C3-C541-9DDB-D07F886F79FE}"/>
              </a:ext>
            </a:extLst>
          </p:cNvPr>
          <p:cNvSpPr txBox="1"/>
          <p:nvPr/>
        </p:nvSpPr>
        <p:spPr>
          <a:xfrm>
            <a:off x="952500" y="43688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 b="1">
                <a:solidFill>
                  <a:srgbClr val="7AB5E8"/>
                </a:solidFill>
                <a:latin typeface="Calibri"/>
                <a:cs typeface="Calibri"/>
              </a:rPr>
              <a:t>Supporting Modules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28D3C2-0AEF-9F43-A3A9-3276BF9C851D}"/>
              </a:ext>
            </a:extLst>
          </p:cNvPr>
          <p:cNvSpPr txBox="1"/>
          <p:nvPr/>
        </p:nvSpPr>
        <p:spPr>
          <a:xfrm>
            <a:off x="952500" y="4648200"/>
            <a:ext cx="10287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200" dirty="0">
                <a:solidFill>
                  <a:srgbClr val="CCCCCC"/>
                </a:solidFill>
                <a:latin typeface="Calibri"/>
                <a:cs typeface="Calibri"/>
              </a:rPr>
              <a:t>Weighting — ensures data represents your target population  |  Confidence — rigorous validity testing beyond standard significance flags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B49658-CD81-4F4A-BEE8-82A4157F8438}"/>
              </a:ext>
            </a:extLst>
          </p:cNvPr>
          <p:cNvSpPr txBox="1"/>
          <p:nvPr/>
        </p:nvSpPr>
        <p:spPr>
          <a:xfrm>
            <a:off x="762000" y="3969108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GB" sz="1200" i="1" dirty="0">
                <a:solidFill>
                  <a:srgbClr val="999999"/>
                </a:solidFill>
                <a:latin typeface="Calibri"/>
                <a:cs typeface="Calibri"/>
              </a:rPr>
              <a:t>Current operational modules (with more in development)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69B0F3-4AA1-444C-9A47-8B57023619BB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A58C9D-15F4-854C-B25E-D94CE378247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79D97E-0D80-D949-AE31-40A1A1847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F7B05A-6359-F442-A9E0-971EBB4117BF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4F885-D873-7344-BDE7-8555353B700F}"/>
              </a:ext>
            </a:extLst>
          </p:cNvPr>
          <p:cNvSpPr txBox="1"/>
          <p:nvPr/>
        </p:nvSpPr>
        <p:spPr>
          <a:xfrm>
            <a:off x="762000" y="254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400">
                <a:solidFill>
                  <a:srgbClr val="7AB5E8"/>
                </a:solidFill>
                <a:latin typeface="Calibri"/>
                <a:cs typeface="Calibri"/>
              </a:rPr>
              <a:t>From Analysis to Action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91D84-822A-634B-B629-6935042CF937}"/>
              </a:ext>
            </a:extLst>
          </p:cNvPr>
          <p:cNvSpPr txBox="1"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600" b="1">
                <a:solidFill>
                  <a:srgbClr val="FFFFFF"/>
                </a:solidFill>
                <a:latin typeface="Calibri"/>
                <a:cs typeface="Calibri"/>
              </a:rPr>
              <a:t>A Powerful Analytics Capability. Yours to Own.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ADDEF2-ED26-C444-B13F-B05D61A403B7}"/>
              </a:ext>
            </a:extLst>
          </p:cNvPr>
          <p:cNvSpPr txBox="1"/>
          <p:nvPr/>
        </p:nvSpPr>
        <p:spPr>
          <a:xfrm>
            <a:off x="1524000" y="20955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B2A3D"/>
                </a:solidFill>
                <a:latin typeface="Calibri"/>
                <a:cs typeface="Calibri"/>
              </a:rPr>
              <a:t>White-Label Ready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C676B-ED42-DC42-9BFC-AF23F8726616}"/>
              </a:ext>
            </a:extLst>
          </p:cNvPr>
          <p:cNvSpPr txBox="1"/>
          <p:nvPr/>
        </p:nvSpPr>
        <p:spPr>
          <a:xfrm>
            <a:off x="1524000" y="25146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555555"/>
                </a:solidFill>
                <a:latin typeface="Calibri"/>
                <a:cs typeface="Calibri"/>
              </a:rPr>
              <a:t>Bring Turas into your practice, under your brand, and use it directly with your clients.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866D0-B79B-B94A-9183-0D13314BA327}"/>
              </a:ext>
            </a:extLst>
          </p:cNvPr>
          <p:cNvSpPr txBox="1"/>
          <p:nvPr/>
        </p:nvSpPr>
        <p:spPr>
          <a:xfrm>
            <a:off x="1524000" y="33020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B2A3D"/>
                </a:solidFill>
                <a:latin typeface="Calibri"/>
                <a:cs typeface="Calibri"/>
              </a:rPr>
              <a:t>No Overhead Required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5EA7AE-8FDF-BE4F-8887-563357049EA8}"/>
              </a:ext>
            </a:extLst>
          </p:cNvPr>
          <p:cNvSpPr txBox="1"/>
          <p:nvPr/>
        </p:nvSpPr>
        <p:spPr>
          <a:xfrm>
            <a:off x="1524000" y="3721100"/>
            <a:ext cx="9906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555555"/>
                </a:solidFill>
                <a:latin typeface="Calibri"/>
                <a:cs typeface="Calibri"/>
              </a:rPr>
              <a:t>Offer rigorous quantitative research — key drivers, segmentation, conjoint, trackers — without building methodology from scratch or hiring specialist analysts.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8B2AE-D58B-EE41-B4E1-D03503B10B57}"/>
              </a:ext>
            </a:extLst>
          </p:cNvPr>
          <p:cNvSpPr txBox="1"/>
          <p:nvPr/>
        </p:nvSpPr>
        <p:spPr>
          <a:xfrm>
            <a:off x="1524000" y="4635500"/>
            <a:ext cx="990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1B2A3D"/>
                </a:solidFill>
                <a:latin typeface="Calibri"/>
                <a:cs typeface="Calibri"/>
              </a:rPr>
              <a:t>Immediate Client Value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7B2690-8242-694D-8C33-F1FFF1145231}"/>
              </a:ext>
            </a:extLst>
          </p:cNvPr>
          <p:cNvSpPr txBox="1"/>
          <p:nvPr/>
        </p:nvSpPr>
        <p:spPr>
          <a:xfrm>
            <a:off x="1524000" y="5054600"/>
            <a:ext cx="9906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555555"/>
                </a:solidFill>
                <a:latin typeface="Calibri"/>
                <a:cs typeface="Calibri"/>
              </a:rPr>
              <a:t>Faster turnaround, interactive reports they can actually use, and findings built on defensible, peer-reviewed methodology — not a black box.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5870264-2615-B94B-B881-D00877DFE546}"/>
              </a:ext>
            </a:extLst>
          </p:cNvPr>
          <p:cNvSpPr/>
          <p:nvPr/>
        </p:nvSpPr>
        <p:spPr>
          <a:xfrm>
            <a:off x="762000" y="5969000"/>
            <a:ext cx="10668000" cy="571500"/>
          </a:xfrm>
          <a:prstGeom prst="roundRect">
            <a:avLst/>
          </a:prstGeom>
          <a:solidFill>
            <a:srgbClr val="1B2A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E22803-517A-CB4B-9CAF-CCD2E2DFFE53}"/>
              </a:ext>
            </a:extLst>
          </p:cNvPr>
          <p:cNvSpPr txBox="1"/>
          <p:nvPr/>
        </p:nvSpPr>
        <p:spPr>
          <a:xfrm>
            <a:off x="952500" y="6070600"/>
            <a:ext cx="1028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500" b="1">
                <a:solidFill>
                  <a:srgbClr val="FFFFFF"/>
                </a:solidFill>
                <a:latin typeface="Calibri"/>
                <a:cs typeface="Calibri"/>
              </a:rPr>
              <a:t>Turas adds a high-value analytics capability to your practice without the overhead of building one.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05BD88-D80B-E84E-AE09-0C5526EDF688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C2777F-D4E5-BC46-85CC-B65D31B6971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17" name="Graphic 17" descr="White-label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159000"/>
            <a:ext cx="457200" cy="457200"/>
          </a:xfrm>
          <a:prstGeom prst="rect">
            <a:avLst/>
          </a:prstGeom>
        </p:spPr>
      </p:pic>
      <p:pic>
        <p:nvPicPr>
          <p:cNvPr id="18" name="Graphic 18" descr="No overhead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3365500"/>
            <a:ext cx="457200" cy="457200"/>
          </a:xfrm>
          <a:prstGeom prst="rect">
            <a:avLst/>
          </a:prstGeom>
        </p:spPr>
      </p:pic>
      <p:pic>
        <p:nvPicPr>
          <p:cNvPr id="19" name="Graphic 19" descr="Client value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699000"/>
            <a:ext cx="457200" cy="457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B233E20-AA8D-0C4F-8983-14537C621BF2}"/>
              </a:ext>
            </a:extLst>
          </p:cNvPr>
          <p:cNvSpPr/>
          <p:nvPr/>
        </p:nvSpPr>
        <p:spPr>
          <a:xfrm>
            <a:off x="762000" y="1714500"/>
            <a:ext cx="1524000" cy="25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4538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A97DD-B5E4-2A0C-253F-9BBB7CA6C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D1EB3FB4-A12A-F2EB-87F1-428F12031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9A7FF3-8F8C-1735-C29D-F65891F04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45343-D4B9-47CD-B4D0-DA7C788B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0" dirty="0">
                <a:solidFill>
                  <a:srgbClr val="FFFFFF"/>
                </a:solidFill>
                <a:latin typeface="Calibri Light"/>
              </a:rPr>
              <a:t>Sample Slides from </a:t>
            </a:r>
            <a:r>
              <a:rPr lang="en-US" sz="4000" b="1" dirty="0">
                <a:solidFill>
                  <a:srgbClr val="FFFFFF"/>
                </a:solidFill>
                <a:latin typeface="Calibri"/>
              </a:rPr>
              <a:t>Turas</a:t>
            </a:r>
          </a:p>
          <a:p>
            <a:pPr algn="l"/>
            <a:r>
              <a:rPr lang="en-US" sz="1800" dirty="0">
                <a:solidFill>
                  <a:srgbClr val="D0E0F0"/>
                </a:solidFill>
                <a:latin typeface="Calibri"/>
              </a:rPr>
              <a:t>Demonstrating report pin outputs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CC8D73-175E-11D6-245E-8A24B9CE8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>
            <a:extLst>
              <a:ext uri="{FF2B5EF4-FFF2-40B4-BE49-F238E27FC236}">
                <a16:creationId xmlns:a16="http://schemas.microsoft.com/office/drawing/2014/main" id="{91C5457B-C152-C130-B252-4E30BA02FBDF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81FCE29-48B5-17C9-E5B3-5F6FDCC1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915" y="133349"/>
            <a:ext cx="1956220" cy="137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49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3627-5B54-92CC-23C0-1719AE2C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Overall satisfaction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823819-EFD8-54A8-CBEE-F41AD6A89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7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0344-D7B7-E3E4-2063-A2FF09438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Age by region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105FF194-763A-3264-0F85-7F293E0C6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61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8476-1AE8-31CE-0D75-A7574802B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What is driving satisfaction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8D2BCE-A4A7-9E32-3529-2E4133AC8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7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321B-5570-74FC-E35A-129FF3F4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400" b="1" dirty="0">
                <a:solidFill>
                  <a:srgbClr val="1B2A3D"/>
                </a:solidFill>
                <a:latin typeface="Calibri"/>
              </a:rPr>
              <a:t>The older you are the higher the chances of satisfaction</a:t>
            </a:r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975E0A76-F89C-BD26-F9F5-14BB0431B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2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1D50-A656-AA12-BCE4-0B63EA6B4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Cross wave comparison</a:t>
            </a:r>
          </a:p>
        </p:txBody>
      </p:sp>
      <p:pic>
        <p:nvPicPr>
          <p:cNvPr id="9" name="Content Placeholder 8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1212E547-028A-E5FD-29F3-491EAAA13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11277600" cy="5638800"/>
          </a:xfrm>
        </p:spPr>
      </p:pic>
      <p:cxnSp>
        <p:nvCxnSpPr>
          <p:cNvPr id="20" name="AccentLine"/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61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B6B47-D3CA-316F-5961-3925B345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D936-2845-D175-D7B8-E9FA08B9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685800"/>
          </a:xfrm>
        </p:spPr>
        <p:txBody>
          <a:bodyPr lIns="0" tIns="0" rIns="0" bIns="0" anchor="b">
            <a:normAutofit/>
          </a:bodyPr>
          <a:lstStyle/>
          <a:p>
            <a:pPr algn="l"/>
            <a:r>
              <a:rPr lang="en-GB" sz="2800" b="1" dirty="0">
                <a:solidFill>
                  <a:srgbClr val="1B2A3D"/>
                </a:solidFill>
                <a:latin typeface="Calibri"/>
              </a:rPr>
              <a:t>Importance performance maps</a:t>
            </a:r>
          </a:p>
        </p:txBody>
      </p:sp>
      <p:cxnSp>
        <p:nvCxnSpPr>
          <p:cNvPr id="20" name="AccentLine">
            <a:extLst>
              <a:ext uri="{FF2B5EF4-FFF2-40B4-BE49-F238E27FC236}">
                <a16:creationId xmlns:a16="http://schemas.microsoft.com/office/drawing/2014/main" id="{C0A8309F-8240-07B6-4CE8-7EF79987B872}"/>
              </a:ext>
            </a:extLst>
          </p:cNvPr>
          <p:cNvCxnSpPr/>
          <p:nvPr/>
        </p:nvCxnSpPr>
        <p:spPr>
          <a:xfrm>
            <a:off x="609600" y="9144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</p:cxnSp>
      <p:sp>
        <p:nvSpPr>
          <p:cNvPr id="21" name="TopBar">
            <a:extLst>
              <a:ext uri="{FF2B5EF4-FFF2-40B4-BE49-F238E27FC236}">
                <a16:creationId xmlns:a16="http://schemas.microsoft.com/office/drawing/2014/main" id="{AF5923D6-6734-ADFE-534F-12412D068CC4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607900-133F-A11C-EA44-AFA3A1255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73" y="1021760"/>
            <a:ext cx="10157255" cy="571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58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B73C2-984A-1002-FE45-A7C025C5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A55FEB41-169C-DFC5-EB93-338C6BA9F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0BE1BAC-96C3-C8CF-ED64-C974FC309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1B2A3D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47B31-E80B-CFB2-3348-A12A4FF7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5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5F2B7A-D8CB-F866-092D-EE32CD45B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2000" y="4495800"/>
            <a:ext cx="1828800" cy="0"/>
          </a:xfrm>
          <a:prstGeom prst="line">
            <a:avLst/>
          </a:prstGeom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opAccentBar">
            <a:extLst>
              <a:ext uri="{FF2B5EF4-FFF2-40B4-BE49-F238E27FC236}">
                <a16:creationId xmlns:a16="http://schemas.microsoft.com/office/drawing/2014/main" id="{F6F75ACC-389C-4142-A542-20537875AC35}"/>
              </a:ext>
            </a:extLst>
          </p:cNvPr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4E43171-CBB9-5BD6-00E5-1F8096AB6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29F7A2-D2DD-22B2-51D0-CB66BC8ABA07}"/>
              </a:ext>
            </a:extLst>
          </p:cNvPr>
          <p:cNvSpPr txBox="1"/>
          <p:nvPr/>
        </p:nvSpPr>
        <p:spPr>
          <a:xfrm>
            <a:off x="714500" y="5261427"/>
            <a:ext cx="762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dirty="0">
                <a:solidFill>
                  <a:srgbClr val="7AB5E8"/>
                </a:solidFill>
                <a:latin typeface="Calibri"/>
                <a:cs typeface="Calibri"/>
              </a:rPr>
              <a:t>Reproducible research analysis, delivered.</a:t>
            </a:r>
          </a:p>
        </p:txBody>
      </p:sp>
    </p:spTree>
    <p:extLst>
      <p:ext uri="{BB962C8B-B14F-4D97-AF65-F5344CB8AC3E}">
        <p14:creationId xmlns:p14="http://schemas.microsoft.com/office/powerpoint/2010/main" val="3703074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20150</TotalTime>
  <Words>582</Words>
  <Application>Microsoft Macintosh PowerPoint</Application>
  <PresentationFormat>Widescreen</PresentationFormat>
  <Paragraphs>73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Office Theme</vt:lpstr>
      <vt:lpstr>Turas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Slides from Turas Demonstrating report pin outputs</vt:lpstr>
      <vt:lpstr>Overall satisfaction</vt:lpstr>
      <vt:lpstr>Age by region</vt:lpstr>
      <vt:lpstr>What is driving satisfaction</vt:lpstr>
      <vt:lpstr>The older you are the higher the chances of satisfaction</vt:lpstr>
      <vt:lpstr>Cross wave comparison</vt:lpstr>
      <vt:lpstr>Importance performance maps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13</cp:revision>
  <dcterms:created xsi:type="dcterms:W3CDTF">2026-02-19T04:31:59Z</dcterms:created>
  <dcterms:modified xsi:type="dcterms:W3CDTF">2026-03-05T12:29:24Z</dcterms:modified>
</cp:coreProperties>
</file>