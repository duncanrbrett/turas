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358" r:id="rId2"/>
    <p:sldId id="257" r:id="rId3"/>
    <p:sldId id="258" r:id="rId4"/>
    <p:sldId id="412" r:id="rId5"/>
    <p:sldId id="397" r:id="rId6"/>
    <p:sldId id="260" r:id="rId7"/>
    <p:sldId id="37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70"/>
    <p:restoredTop sz="94680"/>
  </p:normalViewPr>
  <p:slideViewPr>
    <p:cSldViewPr snapToGrid="0">
      <p:cViewPr varScale="1">
        <p:scale>
          <a:sx n="106" d="100"/>
          <a:sy n="106" d="100"/>
        </p:scale>
        <p:origin x="208" y="1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2E67B-B6FB-F4CB-209A-E9B20CAA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FC7EFF-81A1-943C-2CC8-642E8811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56DBC-BACE-C3CA-95EA-BD6B89A46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1E3D7-F29B-4345-D4B3-2A47BEC3D9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082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195072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19507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that stops working the day it’s delivered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7536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536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158496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Data, Limited Life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97536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commission research and get a deck that answers the questions you asked at the time.</a:t>
            </a:r>
            <a:endParaRPr lang="en-US" sz="1533" dirty="0"/>
          </a:p>
        </p:txBody>
      </p:sp>
      <p:sp>
        <p:nvSpPr>
          <p:cNvPr id="11" name="Shape 9"/>
          <p:cNvSpPr/>
          <p:nvPr/>
        </p:nvSpPr>
        <p:spPr>
          <a:xfrm>
            <a:off x="445008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45008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9392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9392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530352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Questions, Old Process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69392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new question surfaces, someone has to reopen the dataset, rebuild the analysis. That takes time and money.</a:t>
            </a:r>
            <a:endParaRPr lang="en-US" sz="1533" dirty="0"/>
          </a:p>
        </p:txBody>
      </p:sp>
      <p:sp>
        <p:nvSpPr>
          <p:cNvPr id="17" name="Shape 15"/>
          <p:cNvSpPr/>
          <p:nvPr/>
        </p:nvSpPr>
        <p:spPr>
          <a:xfrm>
            <a:off x="816864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16864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41248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41248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902208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Deliverable, Not a Resource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41248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research ends up as a presentation filed on a shared drive. The data stops working for you.</a:t>
            </a:r>
            <a:endParaRPr lang="en-US" sz="1533" dirty="0"/>
          </a:p>
        </p:txBody>
      </p:sp>
      <p:sp>
        <p:nvSpPr>
          <p:cNvPr id="23" name="Text 21"/>
          <p:cNvSpPr/>
          <p:nvPr/>
        </p:nvSpPr>
        <p:spPr>
          <a:xfrm>
            <a:off x="731520" y="554736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Turas changes that. Let me show you.</a:t>
            </a:r>
            <a:endParaRPr lang="en-US" sz="2133" dirty="0"/>
          </a:p>
        </p:txBody>
      </p:sp>
      <p:sp>
        <p:nvSpPr>
          <p:cNvPr id="24" name="Shape 2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LOOK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behind it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36320" y="215798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R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036320" y="2563340"/>
            <a:ext cx="4511040" cy="9768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statistical environment used by national statistics offices, central banks, and universities. Every calculation is inspectable. There are no black boxes hiding the calculation mechanics from view.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39840" y="201168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39840" y="201168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644640" y="215798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Managed, Fully Secure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644640" y="259689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us the data. We handle all preparation, analysis and delivery on our own systems. No third-party platform touches your data. The delivered report is immutable.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96240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31520" y="396240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36320" y="410870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SAMRA Members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1036320" y="454761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Duncan Brett is a SAMRA Accredited Researcher with 30+ years quantitative research experience and we're here for you from data preparation through to interpretation.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39840" y="396240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39840" y="396240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44640" y="410870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Subscriptions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6644640" y="454761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project. No software to learn, no licences, no installations. Send us a dataset and we deliver an interactive report. 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5E082-4A23-3BB2-8312-44ACDAF2B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C4D6DFD-186B-9842-B079-BD89D0C361DD}"/>
              </a:ext>
            </a:extLst>
          </p:cNvPr>
          <p:cNvSpPr/>
          <p:nvPr/>
        </p:nvSpPr>
        <p:spPr>
          <a:xfrm>
            <a:off x="4914900" y="2184400"/>
            <a:ext cx="6413500" cy="2286000"/>
          </a:xfrm>
          <a:prstGeom prst="roundRect">
            <a:avLst/>
          </a:prstGeom>
          <a:solidFill>
            <a:srgbClr val="FDF6E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F99FD8F-E8D9-B746-BB35-7E148A1D75CE}"/>
              </a:ext>
            </a:extLst>
          </p:cNvPr>
          <p:cNvSpPr/>
          <p:nvPr/>
        </p:nvSpPr>
        <p:spPr>
          <a:xfrm>
            <a:off x="914400" y="2184400"/>
            <a:ext cx="3924300" cy="2286000"/>
          </a:xfrm>
          <a:prstGeom prst="roundRect">
            <a:avLst/>
          </a:prstGeom>
          <a:solidFill>
            <a:srgbClr val="F0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365E8963-2D87-FCCF-0A82-4FE70351544A}"/>
              </a:ext>
            </a:extLst>
          </p:cNvPr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cs typeface="Calibri" pitchFamily="34" charset="-120"/>
              </a:rPr>
              <a:t>SEE IT IN ACTION</a:t>
            </a:r>
            <a:endParaRPr lang="en-US" sz="1067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6F26F8-3497-B340-BDB5-59D9388E6451}"/>
              </a:ext>
            </a:extLst>
          </p:cNvPr>
          <p:cNvSpPr txBox="1"/>
          <p:nvPr/>
        </p:nvSpPr>
        <p:spPr>
          <a:xfrm>
            <a:off x="731520" y="914400"/>
            <a:ext cx="1072896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</a:p>
        </p:txBody>
      </p:sp>
      <p:sp>
        <p:nvSpPr>
          <p:cNvPr id="54" name="Circle 1"/>
          <p:cNvSpPr/>
          <p:nvPr/>
        </p:nvSpPr>
        <p:spPr>
          <a:xfrm>
            <a:off x="1231900" y="2667000"/>
            <a:ext cx="787400" cy="787400"/>
          </a:xfrm>
          <a:prstGeom prst="ellipse">
            <a:avLst/>
          </a:prstGeom>
          <a:solidFill>
            <a:srgbClr val="1C2456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55" name="Circle 2"/>
          <p:cNvSpPr/>
          <p:nvPr/>
        </p:nvSpPr>
        <p:spPr>
          <a:xfrm>
            <a:off x="3263900" y="2667000"/>
            <a:ext cx="787400" cy="787400"/>
          </a:xfrm>
          <a:prstGeom prst="ellipse">
            <a:avLst/>
          </a:prstGeom>
          <a:solidFill>
            <a:srgbClr val="1C2456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56" name="Circle 3"/>
          <p:cNvSpPr/>
          <p:nvPr/>
        </p:nvSpPr>
        <p:spPr>
          <a:xfrm>
            <a:off x="57023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57" name="Circle 4"/>
          <p:cNvSpPr/>
          <p:nvPr/>
        </p:nvSpPr>
        <p:spPr>
          <a:xfrm>
            <a:off x="81407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58" name="Circle 5"/>
          <p:cNvSpPr/>
          <p:nvPr/>
        </p:nvSpPr>
        <p:spPr>
          <a:xfrm>
            <a:off x="101727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23876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1C2456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0" name="Text 60"/>
          <p:cNvSpPr txBox="1"/>
          <p:nvPr/>
        </p:nvSpPr>
        <p:spPr>
          <a:xfrm>
            <a:off x="46228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1C2456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70612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D4A843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92964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D4A843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8636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Send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28956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Create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53340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Explore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77724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Pin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98044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Present</a:t>
            </a:r>
          </a:p>
        </p:txBody>
      </p:sp>
      <p:sp>
        <p:nvSpPr>
          <p:cNvPr id="68" name="Text 68"/>
          <p:cNvSpPr txBox="1"/>
          <p:nvPr/>
        </p:nvSpPr>
        <p:spPr>
          <a:xfrm>
            <a:off x="7366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data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27686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report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52070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Tables &amp; charts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76454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Key findings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96774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story</a:t>
            </a:r>
          </a:p>
        </p:txBody>
      </p:sp>
      <p:sp>
        <p:nvSpPr>
          <p:cNvPr id="73" name="Tagline"/>
          <p:cNvSpPr txBox="1"/>
          <p:nvPr/>
        </p:nvSpPr>
        <p:spPr>
          <a:xfrm>
            <a:off x="1219200" y="5397500"/>
            <a:ext cx="9753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i="1" dirty="0">
                <a:solidFill>
                  <a:srgbClr val="B8922F"/>
                </a:solidFill>
                <a:latin typeface="Georgia" pitchFamily="34" charset="0"/>
              </a:rPr>
              <a:t>You send the data. We build the report. You explore the story.</a:t>
            </a:r>
          </a:p>
        </p:txBody>
      </p:sp>
      <p:sp>
        <p:nvSpPr>
          <p:cNvPr id="74" name="AccentLine"/>
          <p:cNvSpPr/>
          <p:nvPr/>
        </p:nvSpPr>
        <p:spPr>
          <a:xfrm>
            <a:off x="1104900" y="5080000"/>
            <a:ext cx="998220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B3A0E-25ED-AF43-9384-9F9531E903D9}"/>
              </a:ext>
            </a:extLst>
          </p:cNvPr>
          <p:cNvSpPr txBox="1"/>
          <p:nvPr/>
        </p:nvSpPr>
        <p:spPr>
          <a:xfrm>
            <a:off x="1016000" y="2222500"/>
            <a:ext cx="3733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1C2456"/>
                </a:solidFill>
                <a:latin typeface="Calibri"/>
                <a:cs typeface="Calibri"/>
              </a:rPr>
              <a:t>WE DO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B2F7A7-6BFE-064D-A96B-BFF124C04F40}"/>
              </a:ext>
            </a:extLst>
          </p:cNvPr>
          <p:cNvSpPr txBox="1"/>
          <p:nvPr/>
        </p:nvSpPr>
        <p:spPr>
          <a:xfrm>
            <a:off x="4991100" y="2222500"/>
            <a:ext cx="6273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1C2456"/>
                </a:solidFill>
                <a:latin typeface="Calibri"/>
                <a:cs typeface="Calibri"/>
              </a:rPr>
              <a:t>YOU DO</a:t>
            </a: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EEB508C-908B-9B3C-B9C7-DA5823585E41}"/>
              </a:ext>
            </a:extLst>
          </p:cNvPr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A107A50-3800-9656-A1FA-F9C9BB262D30}"/>
              </a:ext>
            </a:extLst>
          </p:cNvPr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9530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950976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Turas can analyse</a:t>
            </a:r>
            <a:endParaRPr lang="en-US" sz="2933" dirty="0"/>
          </a:p>
        </p:txBody>
      </p:sp>
      <p:sp>
        <p:nvSpPr>
          <p:cNvPr id="5" name="Text 3"/>
          <p:cNvSpPr/>
          <p:nvPr/>
        </p:nvSpPr>
        <p:spPr>
          <a:xfrm>
            <a:off x="731520" y="1414272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select and configure the right modules for your project and deliver them in a single interactive report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731520" y="1853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33" dirty="0"/>
          </a:p>
        </p:txBody>
      </p:sp>
      <p:sp>
        <p:nvSpPr>
          <p:cNvPr id="7" name="Shape 5"/>
          <p:cNvSpPr/>
          <p:nvPr/>
        </p:nvSpPr>
        <p:spPr>
          <a:xfrm>
            <a:off x="73152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7782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87782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crosstabs with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testing</a:t>
            </a:r>
            <a:endParaRPr lang="en-US" sz="1133" dirty="0"/>
          </a:p>
        </p:txBody>
      </p:sp>
      <p:sp>
        <p:nvSpPr>
          <p:cNvPr id="11" name="Shape 9"/>
          <p:cNvSpPr/>
          <p:nvPr/>
        </p:nvSpPr>
        <p:spPr>
          <a:xfrm>
            <a:off x="341376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41376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6006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356006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Multi-wave trend analysis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tracking waves</a:t>
            </a:r>
            <a:endParaRPr lang="en-US" sz="1133" dirty="0"/>
          </a:p>
        </p:txBody>
      </p:sp>
      <p:sp>
        <p:nvSpPr>
          <p:cNvPr id="15" name="Shape 13"/>
          <p:cNvSpPr/>
          <p:nvPr/>
        </p:nvSpPr>
        <p:spPr>
          <a:xfrm>
            <a:off x="609600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9600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4230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Weighting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624230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population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1133" dirty="0"/>
          </a:p>
        </p:txBody>
      </p:sp>
      <p:sp>
        <p:nvSpPr>
          <p:cNvPr id="19" name="Shape 17"/>
          <p:cNvSpPr/>
          <p:nvPr/>
        </p:nvSpPr>
        <p:spPr>
          <a:xfrm>
            <a:off x="877824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77824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92454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92454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validity testing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plain-language callouts</a:t>
            </a:r>
            <a:endParaRPr lang="en-US" sz="1133" dirty="0"/>
          </a:p>
        </p:txBody>
      </p:sp>
      <p:sp>
        <p:nvSpPr>
          <p:cNvPr id="23" name="Text 21"/>
          <p:cNvSpPr/>
          <p:nvPr/>
        </p:nvSpPr>
        <p:spPr>
          <a:xfrm>
            <a:off x="731520" y="32430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33" dirty="0"/>
          </a:p>
        </p:txBody>
      </p:sp>
      <p:sp>
        <p:nvSpPr>
          <p:cNvPr id="24" name="Shape 22"/>
          <p:cNvSpPr/>
          <p:nvPr/>
        </p:nvSpPr>
        <p:spPr>
          <a:xfrm>
            <a:off x="73152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3152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7782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</a:t>
            </a:r>
            <a:endParaRPr lang="en-US" sz="1467" dirty="0"/>
          </a:p>
        </p:txBody>
      </p:sp>
      <p:sp>
        <p:nvSpPr>
          <p:cNvPr id="27" name="Text 25"/>
          <p:cNvSpPr/>
          <p:nvPr/>
        </p:nvSpPr>
        <p:spPr>
          <a:xfrm>
            <a:off x="87782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factors driving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1133" dirty="0"/>
          </a:p>
        </p:txBody>
      </p:sp>
      <p:sp>
        <p:nvSpPr>
          <p:cNvPr id="28" name="Shape 26"/>
          <p:cNvSpPr/>
          <p:nvPr/>
        </p:nvSpPr>
        <p:spPr>
          <a:xfrm>
            <a:off x="341376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341376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356006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Key Driver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356006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logistic regression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categorical outcomes</a:t>
            </a:r>
            <a:endParaRPr lang="en-US" sz="1133" dirty="0"/>
          </a:p>
        </p:txBody>
      </p:sp>
      <p:sp>
        <p:nvSpPr>
          <p:cNvPr id="32" name="Shape 30"/>
          <p:cNvSpPr/>
          <p:nvPr/>
        </p:nvSpPr>
        <p:spPr>
          <a:xfrm>
            <a:off x="609600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09600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24230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1467" dirty="0"/>
          </a:p>
        </p:txBody>
      </p:sp>
      <p:sp>
        <p:nvSpPr>
          <p:cNvPr id="35" name="Text 33"/>
          <p:cNvSpPr/>
          <p:nvPr/>
        </p:nvSpPr>
        <p:spPr>
          <a:xfrm>
            <a:off x="624230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clustering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customer groups</a:t>
            </a:r>
            <a:endParaRPr lang="en-US" sz="1133" dirty="0"/>
          </a:p>
        </p:txBody>
      </p:sp>
      <p:sp>
        <p:nvSpPr>
          <p:cNvPr id="36" name="Text 34"/>
          <p:cNvSpPr/>
          <p:nvPr/>
        </p:nvSpPr>
        <p:spPr>
          <a:xfrm>
            <a:off x="731520" y="4632960"/>
            <a:ext cx="304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&amp; PRICING</a:t>
            </a:r>
            <a:endParaRPr lang="en-US" sz="933" dirty="0"/>
          </a:p>
        </p:txBody>
      </p:sp>
      <p:sp>
        <p:nvSpPr>
          <p:cNvPr id="37" name="Shape 35"/>
          <p:cNvSpPr/>
          <p:nvPr/>
        </p:nvSpPr>
        <p:spPr>
          <a:xfrm>
            <a:off x="73152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73152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87782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7782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modelling with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market simulator</a:t>
            </a:r>
            <a:endParaRPr lang="en-US" sz="1133" dirty="0"/>
          </a:p>
        </p:txBody>
      </p:sp>
      <p:sp>
        <p:nvSpPr>
          <p:cNvPr id="41" name="Shape 39"/>
          <p:cNvSpPr/>
          <p:nvPr/>
        </p:nvSpPr>
        <p:spPr>
          <a:xfrm>
            <a:off x="341376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341376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356006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MaxDiff</a:t>
            </a:r>
            <a:endParaRPr lang="en-US" sz="1467" dirty="0"/>
          </a:p>
        </p:txBody>
      </p:sp>
      <p:sp>
        <p:nvSpPr>
          <p:cNvPr id="44" name="Text 42"/>
          <p:cNvSpPr/>
          <p:nvPr/>
        </p:nvSpPr>
        <p:spPr>
          <a:xfrm>
            <a:off x="356006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preference rankings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interactive simulator</a:t>
            </a:r>
            <a:endParaRPr lang="en-US" sz="1133" dirty="0"/>
          </a:p>
        </p:txBody>
      </p:sp>
      <p:sp>
        <p:nvSpPr>
          <p:cNvPr id="45" name="Shape 43"/>
          <p:cNvSpPr/>
          <p:nvPr/>
        </p:nvSpPr>
        <p:spPr>
          <a:xfrm>
            <a:off x="609600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46" name="Shape 44"/>
          <p:cNvSpPr/>
          <p:nvPr/>
        </p:nvSpPr>
        <p:spPr>
          <a:xfrm>
            <a:off x="609600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624230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467" dirty="0"/>
          </a:p>
        </p:txBody>
      </p:sp>
      <p:sp>
        <p:nvSpPr>
          <p:cNvPr id="48" name="Text 46"/>
          <p:cNvSpPr/>
          <p:nvPr/>
        </p:nvSpPr>
        <p:spPr>
          <a:xfrm>
            <a:off x="624230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Westendorp, Gabor-Granger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monadic price models</a:t>
            </a:r>
            <a:endParaRPr lang="en-US" sz="1133" dirty="0"/>
          </a:p>
        </p:txBody>
      </p:sp>
      <p:sp>
        <p:nvSpPr>
          <p:cNvPr id="49" name="Shape 47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be most useful?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7536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536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496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 Own Data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97536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us an existing dataset — even an old one — and we’ll run it through Turas so you can see your data in an interactive report.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445008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45008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9392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9392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0352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 Current Project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69392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a study in the pipeline, we can discuss how Turas fits the analytical plan and what the output would look like.</a:t>
            </a:r>
            <a:endParaRPr lang="en-US" sz="1467" dirty="0"/>
          </a:p>
        </p:txBody>
      </p:sp>
      <p:sp>
        <p:nvSpPr>
          <p:cNvPr id="17" name="Shape 15"/>
          <p:cNvSpPr/>
          <p:nvPr/>
        </p:nvSpPr>
        <p:spPr>
          <a:xfrm>
            <a:off x="816864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16864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41248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41248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2208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With Your Team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41248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set up a broader session for colleagues who need to see it. Or share the one-pager and let them come to us.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731520" y="5608320"/>
            <a:ext cx="10728960" cy="54864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" y="5608320"/>
            <a:ext cx="1072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Duncan Brett</a:t>
            </a:r>
            <a:r>
              <a:rPr lang="en-US" sz="1467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duncan@researchlamppost.co.za  ·  The Research LampPost</a:t>
            </a:r>
            <a:endParaRPr lang="en-US" sz="1467" dirty="0"/>
          </a:p>
        </p:txBody>
      </p:sp>
      <p:sp>
        <p:nvSpPr>
          <p:cNvPr id="25" name="Shape 23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8" name="Picture 7" descr="A logo with a yellow and blue diamond&#10;&#10;AI-generated content may be incorrect.">
            <a:extLst>
              <a:ext uri="{FF2B5EF4-FFF2-40B4-BE49-F238E27FC236}">
                <a16:creationId xmlns:a16="http://schemas.microsoft.com/office/drawing/2014/main" id="{13F92F90-D33B-0689-B5C0-AF4DB9924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114" y="4595977"/>
            <a:ext cx="2365231" cy="166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22436</TotalTime>
  <Words>523</Words>
  <Application>Microsoft Macintosh PowerPoint</Application>
  <PresentationFormat>Widescreen</PresentationFormat>
  <Paragraphs>104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Georgia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Duncan Brett</dc:creator>
  <cp:keywords/>
  <dc:description/>
  <cp:lastModifiedBy>Duncan Brett</cp:lastModifiedBy>
  <cp:revision>47</cp:revision>
  <dcterms:created xsi:type="dcterms:W3CDTF">2026-02-19T04:31:59Z</dcterms:created>
  <dcterms:modified xsi:type="dcterms:W3CDTF">2026-03-24T10:34:48Z</dcterms:modified>
  <cp:category/>
</cp:coreProperties>
</file>