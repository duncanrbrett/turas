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58" r:id="rId2"/>
    <p:sldId id="257" r:id="rId3"/>
    <p:sldId id="258" r:id="rId4"/>
    <p:sldId id="412" r:id="rId5"/>
    <p:sldId id="397" r:id="rId6"/>
    <p:sldId id="260" r:id="rId7"/>
    <p:sldId id="3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66"/>
    <p:restoredTop sz="94680"/>
  </p:normalViewPr>
  <p:slideViewPr>
    <p:cSldViewPr snapToGrid="0">
      <p:cViewPr varScale="1">
        <p:scale>
          <a:sx n="60" d="100"/>
          <a:sy n="60" d="100"/>
        </p:scale>
        <p:origin x="208" y="2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293FD-1E42-1447-A1A4-389C6E1A364E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79EB0-E91F-CC45-B59B-1976BB608CC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88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E67B-B6FB-F4CB-209A-E9B20CAAF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C7EFF-81A1-943C-2CC8-642E8811B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56DBC-BACE-C3CA-95EA-BD6B89A46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1E3D7-F29B-4345-D4B3-2A47BEC3D9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82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24/03/2026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42107E63-9AE6-455E-83EE-4B213E6CB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op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Backdrop"/>
          <p:cNvSpPr/>
          <p:nvPr/>
        </p:nvSpPr>
        <p:spPr>
          <a:xfrm>
            <a:off x="0" y="4300000"/>
            <a:ext cx="12192000" cy="2507200"/>
          </a:xfrm>
          <a:prstGeom prst="rect">
            <a:avLst/>
          </a:prstGeom>
          <a:solidFill>
            <a:srgbClr val="0A1628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C3F1A-6632-A2DB-45B5-73CE46A1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Turas</a:t>
            </a:r>
          </a:p>
        </p:txBody>
      </p:sp>
      <p:sp>
        <p:nvSpPr>
          <p:cNvPr id="31" name="Subtitle"/>
          <p:cNvSpPr txBox="1"/>
          <p:nvPr/>
        </p:nvSpPr>
        <p:spPr>
          <a:xfrm>
            <a:off x="762000" y="5562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FFFFFF"/>
                </a:solidFill>
                <a:latin typeface="Calibri"/>
              </a:rPr>
              <a:t>The complete survey analytics system</a:t>
            </a:r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A0B7A84-EAF0-A86E-8F4A-2A0E437B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  <p:sp>
        <p:nvSpPr>
          <p:cNvPr id="30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19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1950720" cy="341376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1950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731520" y="1036320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that stops working the day it’s delivered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413760" cy="2926080"/>
          </a:xfrm>
          <a:prstGeom prst="rect">
            <a:avLst/>
          </a:prstGeom>
          <a:solidFill>
            <a:srgbClr val="FAF8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413760" cy="48768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75360" y="2499360"/>
            <a:ext cx="426720" cy="426720"/>
          </a:xfrm>
          <a:prstGeom prst="ellipse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75360" y="249936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1584960" y="2499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Data, Limited Life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975360" y="3230880"/>
            <a:ext cx="292608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5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commission research and get a deck that answers the questions you asked at the time.</a:t>
            </a:r>
            <a:endParaRPr lang="en-US" sz="1533" dirty="0"/>
          </a:p>
        </p:txBody>
      </p:sp>
      <p:sp>
        <p:nvSpPr>
          <p:cNvPr id="11" name="Shape 9"/>
          <p:cNvSpPr/>
          <p:nvPr/>
        </p:nvSpPr>
        <p:spPr>
          <a:xfrm>
            <a:off x="4450080" y="2194560"/>
            <a:ext cx="3413760" cy="2926080"/>
          </a:xfrm>
          <a:prstGeom prst="rect">
            <a:avLst/>
          </a:prstGeom>
          <a:solidFill>
            <a:srgbClr val="FAF8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50080" y="2194560"/>
            <a:ext cx="3413760" cy="48768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693920" y="2499360"/>
            <a:ext cx="426720" cy="426720"/>
          </a:xfrm>
          <a:prstGeom prst="ellipse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93920" y="249936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5303520" y="2499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Questions, Old Process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4693920" y="3230880"/>
            <a:ext cx="292608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5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question surfaces, someone has to reopen the dataset, rebuild the analysis. That takes time and money.</a:t>
            </a:r>
            <a:endParaRPr lang="en-US" sz="1533" dirty="0"/>
          </a:p>
        </p:txBody>
      </p:sp>
      <p:sp>
        <p:nvSpPr>
          <p:cNvPr id="17" name="Shape 15"/>
          <p:cNvSpPr/>
          <p:nvPr/>
        </p:nvSpPr>
        <p:spPr>
          <a:xfrm>
            <a:off x="8168640" y="2194560"/>
            <a:ext cx="3413760" cy="2926080"/>
          </a:xfrm>
          <a:prstGeom prst="rect">
            <a:avLst/>
          </a:prstGeom>
          <a:solidFill>
            <a:srgbClr val="FAF8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68640" y="2194560"/>
            <a:ext cx="3413760" cy="48768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412480" y="2499360"/>
            <a:ext cx="426720" cy="426720"/>
          </a:xfrm>
          <a:prstGeom prst="ellipse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12480" y="249936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9022080" y="2499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Deliverable, Not a Resource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8412480" y="3230880"/>
            <a:ext cx="292608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5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research ends up as a presentation filed on a shared drive. The data stops working for you.</a:t>
            </a:r>
            <a:endParaRPr lang="en-US" sz="1533" dirty="0"/>
          </a:p>
        </p:txBody>
      </p:sp>
      <p:sp>
        <p:nvSpPr>
          <p:cNvPr id="23" name="Text 21"/>
          <p:cNvSpPr/>
          <p:nvPr/>
        </p:nvSpPr>
        <p:spPr>
          <a:xfrm>
            <a:off x="731520" y="55473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Turas changes that. Let me show you.</a:t>
            </a:r>
            <a:endParaRPr lang="en-US" sz="2133" dirty="0"/>
          </a:p>
        </p:txBody>
      </p:sp>
      <p:sp>
        <p:nvSpPr>
          <p:cNvPr id="24" name="Shape 22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0" y="6376416"/>
            <a:ext cx="12192000" cy="2438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2438400" cy="341376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2438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LOOK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731520" y="103632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behind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120640" cy="1645920"/>
          </a:xfrm>
          <a:prstGeom prst="rect">
            <a:avLst/>
          </a:prstGeom>
          <a:solidFill>
            <a:srgbClr val="FAF8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60960" cy="16459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36320" y="2157984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1036320" y="2563340"/>
            <a:ext cx="4511040" cy="976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statistical environment used by national statistics offices, central banks, and universities. Every calculation is inspectable. There are no black boxes hiding the calculation mechanics from view.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39840" y="2011680"/>
            <a:ext cx="5120640" cy="1645920"/>
          </a:xfrm>
          <a:prstGeom prst="rect">
            <a:avLst/>
          </a:prstGeom>
          <a:solidFill>
            <a:srgbClr val="FAF8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39840" y="2011680"/>
            <a:ext cx="60960" cy="16459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44640" y="2157984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Fully Secure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644640" y="2554366"/>
            <a:ext cx="4511040" cy="1054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us the data. We handle all preparation, analysis and delivery on our own systems. Your data is not processed by a third-party analytical platform.. The delivered report is immutable.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962400"/>
            <a:ext cx="5120640" cy="1645920"/>
          </a:xfrm>
          <a:prstGeom prst="rect">
            <a:avLst/>
          </a:prstGeom>
          <a:solidFill>
            <a:srgbClr val="FAF8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31520" y="3962400"/>
            <a:ext cx="60960" cy="16459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36320" y="4108704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SAMRA Members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1036320" y="4547616"/>
            <a:ext cx="451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Duncan Brett is a SAMRA Accredited Researcher with 30+ years quantitative research experience and we're here for you from data preparation through to interpretation.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39840" y="3962400"/>
            <a:ext cx="5120640" cy="1645920"/>
          </a:xfrm>
          <a:prstGeom prst="rect">
            <a:avLst/>
          </a:prstGeom>
          <a:solidFill>
            <a:srgbClr val="FAF8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39840" y="3962400"/>
            <a:ext cx="60960" cy="16459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44640" y="4108704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Subscriptions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6644640" y="4547616"/>
            <a:ext cx="451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project. No software to learn, no licences, no installations. Send us a dataset and we deliver an interactive report. 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0" y="6376416"/>
            <a:ext cx="12192000" cy="2438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E082-4A23-3BB2-8312-44ACDAF2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4D6DFD-186B-9842-B079-BD89D0C361DD}"/>
              </a:ext>
            </a:extLst>
          </p:cNvPr>
          <p:cNvSpPr/>
          <p:nvPr/>
        </p:nvSpPr>
        <p:spPr>
          <a:xfrm>
            <a:off x="4914900" y="2184400"/>
            <a:ext cx="6413500" cy="2286000"/>
          </a:xfrm>
          <a:prstGeom prst="roundRect">
            <a:avLst/>
          </a:prstGeom>
          <a:solidFill>
            <a:srgbClr val="FDF6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F99FD8F-E8D9-B746-BB35-7E148A1D75CE}"/>
              </a:ext>
            </a:extLst>
          </p:cNvPr>
          <p:cNvSpPr/>
          <p:nvPr/>
        </p:nvSpPr>
        <p:spPr>
          <a:xfrm>
            <a:off x="914400" y="2184400"/>
            <a:ext cx="3924300" cy="2286000"/>
          </a:xfrm>
          <a:prstGeom prst="roundRect">
            <a:avLst/>
          </a:prstGeom>
          <a:solidFill>
            <a:srgbClr val="F0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365E8963-2D87-FCCF-0A82-4FE70351544A}"/>
              </a:ext>
            </a:extLst>
          </p:cNvPr>
          <p:cNvSpPr/>
          <p:nvPr/>
        </p:nvSpPr>
        <p:spPr>
          <a:xfrm>
            <a:off x="731520" y="426720"/>
            <a:ext cx="2438400" cy="341376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 kern="0" spc="400" dirty="0">
                <a:solidFill>
                  <a:srgbClr val="D4A843"/>
                </a:solidFill>
                <a:latin typeface="Calibri" pitchFamily="34" charset="0"/>
                <a:cs typeface="Calibri" pitchFamily="34" charset="-120"/>
              </a:rPr>
              <a:t>SEE IT IN ACTION</a:t>
            </a:r>
            <a:endParaRPr lang="en-US" sz="1067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6F26F8-3497-B340-BDB5-59D9388E6451}"/>
              </a:ext>
            </a:extLst>
          </p:cNvPr>
          <p:cNvSpPr txBox="1"/>
          <p:nvPr/>
        </p:nvSpPr>
        <p:spPr>
          <a:xfrm>
            <a:off x="731520" y="914400"/>
            <a:ext cx="1072896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3200" b="1" dirty="0">
                <a:solidFill>
                  <a:srgbClr val="1C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</a:p>
        </p:txBody>
      </p:sp>
      <p:sp>
        <p:nvSpPr>
          <p:cNvPr id="54" name="Circle 1"/>
          <p:cNvSpPr/>
          <p:nvPr/>
        </p:nvSpPr>
        <p:spPr>
          <a:xfrm>
            <a:off x="1231900" y="2667000"/>
            <a:ext cx="787400" cy="787400"/>
          </a:xfrm>
          <a:prstGeom prst="ellipse">
            <a:avLst/>
          </a:prstGeom>
          <a:solidFill>
            <a:srgbClr val="1C245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5" name="Circle 2"/>
          <p:cNvSpPr/>
          <p:nvPr/>
        </p:nvSpPr>
        <p:spPr>
          <a:xfrm>
            <a:off x="3263900" y="2667000"/>
            <a:ext cx="787400" cy="787400"/>
          </a:xfrm>
          <a:prstGeom prst="ellipse">
            <a:avLst/>
          </a:prstGeom>
          <a:solidFill>
            <a:srgbClr val="1C245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6" name="Circle 3"/>
          <p:cNvSpPr/>
          <p:nvPr/>
        </p:nvSpPr>
        <p:spPr>
          <a:xfrm>
            <a:off x="5702300" y="2667000"/>
            <a:ext cx="787400" cy="7874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7" name="Circle 4"/>
          <p:cNvSpPr/>
          <p:nvPr/>
        </p:nvSpPr>
        <p:spPr>
          <a:xfrm>
            <a:off x="8140700" y="2667000"/>
            <a:ext cx="787400" cy="7874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8" name="Circle 5"/>
          <p:cNvSpPr/>
          <p:nvPr/>
        </p:nvSpPr>
        <p:spPr>
          <a:xfrm>
            <a:off x="10172700" y="2667000"/>
            <a:ext cx="787400" cy="7874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2387600" y="28829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2000" dirty="0">
                <a:solidFill>
                  <a:srgbClr val="1C2456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4622800" y="28829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2000" dirty="0">
                <a:solidFill>
                  <a:srgbClr val="1C2456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7061200" y="28829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2000" dirty="0">
                <a:solidFill>
                  <a:srgbClr val="D4A843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9296400" y="28829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2000" dirty="0">
                <a:solidFill>
                  <a:srgbClr val="D4A843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863600" y="36322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 b="1" dirty="0">
                <a:solidFill>
                  <a:srgbClr val="1C2456"/>
                </a:solidFill>
                <a:latin typeface="Calibri" pitchFamily="34" charset="0"/>
              </a:rPr>
              <a:t>Receive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2895600" y="36322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 b="1" dirty="0">
                <a:solidFill>
                  <a:srgbClr val="1C2456"/>
                </a:solidFill>
                <a:latin typeface="Calibri" pitchFamily="34" charset="0"/>
              </a:rPr>
              <a:t>Create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5334000" y="36322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 b="1" dirty="0">
                <a:solidFill>
                  <a:srgbClr val="1C2456"/>
                </a:solidFill>
                <a:latin typeface="Calibri" pitchFamily="34" charset="0"/>
              </a:rPr>
              <a:t>Explore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7772400" y="36322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 b="1" dirty="0">
                <a:solidFill>
                  <a:srgbClr val="1C2456"/>
                </a:solidFill>
                <a:latin typeface="Calibri" pitchFamily="34" charset="0"/>
              </a:rPr>
              <a:t>Pin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9804400" y="36322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 b="1" dirty="0">
                <a:solidFill>
                  <a:srgbClr val="1C2456"/>
                </a:solidFill>
                <a:latin typeface="Calibri" pitchFamily="34" charset="0"/>
              </a:rPr>
              <a:t>Present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736600" y="4038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400" dirty="0">
                <a:solidFill>
                  <a:srgbClr val="3A3F55"/>
                </a:solidFill>
                <a:latin typeface="Calibri" pitchFamily="34" charset="0"/>
              </a:rPr>
              <a:t>Your data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2768600" y="4038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400" dirty="0">
                <a:solidFill>
                  <a:srgbClr val="3A3F55"/>
                </a:solidFill>
                <a:latin typeface="Calibri" pitchFamily="34" charset="0"/>
              </a:rPr>
              <a:t>Your report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5207000" y="4038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400" dirty="0">
                <a:solidFill>
                  <a:srgbClr val="3A3F55"/>
                </a:solidFill>
                <a:latin typeface="Calibri" pitchFamily="34" charset="0"/>
              </a:rPr>
              <a:t>Tables &amp; charts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7645400" y="4038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400" dirty="0">
                <a:solidFill>
                  <a:srgbClr val="3A3F55"/>
                </a:solidFill>
                <a:latin typeface="Calibri" pitchFamily="34" charset="0"/>
              </a:rPr>
              <a:t>Key findings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9677400" y="4038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400" dirty="0">
                <a:solidFill>
                  <a:srgbClr val="3A3F55"/>
                </a:solidFill>
                <a:latin typeface="Calibri" pitchFamily="34" charset="0"/>
              </a:rPr>
              <a:t>Your story</a:t>
            </a:r>
          </a:p>
        </p:txBody>
      </p:sp>
      <p:sp>
        <p:nvSpPr>
          <p:cNvPr id="73" name="Tagline"/>
          <p:cNvSpPr txBox="1"/>
          <p:nvPr/>
        </p:nvSpPr>
        <p:spPr>
          <a:xfrm>
            <a:off x="1219200" y="5397500"/>
            <a:ext cx="9753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 i="1" dirty="0">
                <a:solidFill>
                  <a:srgbClr val="B8922F"/>
                </a:solidFill>
                <a:latin typeface="Georgia" pitchFamily="34" charset="0"/>
              </a:rPr>
              <a:t>You send the data. We build the report. You explore the story.</a:t>
            </a:r>
          </a:p>
        </p:txBody>
      </p:sp>
      <p:sp>
        <p:nvSpPr>
          <p:cNvPr id="74" name="AccentLine"/>
          <p:cNvSpPr/>
          <p:nvPr/>
        </p:nvSpPr>
        <p:spPr>
          <a:xfrm>
            <a:off x="1104900" y="5080000"/>
            <a:ext cx="998220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B3A0E-25ED-AF43-9384-9F9531E903D9}"/>
              </a:ext>
            </a:extLst>
          </p:cNvPr>
          <p:cNvSpPr txBox="1"/>
          <p:nvPr/>
        </p:nvSpPr>
        <p:spPr>
          <a:xfrm>
            <a:off x="1016000" y="2222500"/>
            <a:ext cx="373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1C2456"/>
                </a:solidFill>
                <a:latin typeface="Calibri"/>
                <a:cs typeface="Calibri"/>
              </a:rPr>
              <a:t>WE 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2F7A7-6BFE-064D-A96B-BFF124C04F40}"/>
              </a:ext>
            </a:extLst>
          </p:cNvPr>
          <p:cNvSpPr txBox="1"/>
          <p:nvPr/>
        </p:nvSpPr>
        <p:spPr>
          <a:xfrm>
            <a:off x="4991100" y="22225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1C2456"/>
                </a:solidFill>
                <a:latin typeface="Calibri"/>
                <a:cs typeface="Calibri"/>
              </a:rPr>
              <a:t>YOU DO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EEB508C-908B-9B3C-B9C7-DA5823585E41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A107A50-3800-9656-A1FA-F9C9BB262D30}"/>
              </a:ext>
            </a:extLst>
          </p:cNvPr>
          <p:cNvSpPr/>
          <p:nvPr/>
        </p:nvSpPr>
        <p:spPr>
          <a:xfrm>
            <a:off x="0" y="6376416"/>
            <a:ext cx="12192000" cy="2438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9530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2194560" cy="341376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2194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C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Turas can analyse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731520" y="1414272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select and configure the right modules for your project and deliver them in a single interactive report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731520" y="1853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333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33" dirty="0"/>
          </a:p>
        </p:txBody>
      </p:sp>
      <p:sp>
        <p:nvSpPr>
          <p:cNvPr id="7" name="Shape 5"/>
          <p:cNvSpPr/>
          <p:nvPr/>
        </p:nvSpPr>
        <p:spPr>
          <a:xfrm>
            <a:off x="731520" y="2097024"/>
            <a:ext cx="2499360" cy="950976"/>
          </a:xfrm>
          <a:prstGeom prst="rect">
            <a:avLst/>
          </a:prstGeom>
          <a:solidFill>
            <a:srgbClr val="FAF8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2097024"/>
            <a:ext cx="2499360" cy="36576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77824" y="2182368"/>
            <a:ext cx="220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877824" y="2499360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crosstabs with</a:t>
            </a:r>
            <a:endParaRPr lang="en-US" sz="1133" dirty="0"/>
          </a:p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testing</a:t>
            </a:r>
            <a:endParaRPr lang="en-US" sz="1133" dirty="0"/>
          </a:p>
        </p:txBody>
      </p:sp>
      <p:sp>
        <p:nvSpPr>
          <p:cNvPr id="11" name="Shape 9"/>
          <p:cNvSpPr/>
          <p:nvPr/>
        </p:nvSpPr>
        <p:spPr>
          <a:xfrm>
            <a:off x="3413760" y="2097024"/>
            <a:ext cx="2499360" cy="950976"/>
          </a:xfrm>
          <a:prstGeom prst="rect">
            <a:avLst/>
          </a:prstGeom>
          <a:solidFill>
            <a:srgbClr val="FAF8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13760" y="2097024"/>
            <a:ext cx="2499360" cy="36576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0064" y="2182368"/>
            <a:ext cx="220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3560064" y="2499360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Multi-wave trend analysis</a:t>
            </a:r>
            <a:endParaRPr lang="en-US" sz="1133" dirty="0"/>
          </a:p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tracking waves</a:t>
            </a:r>
            <a:endParaRPr lang="en-US" sz="1133" dirty="0"/>
          </a:p>
        </p:txBody>
      </p:sp>
      <p:sp>
        <p:nvSpPr>
          <p:cNvPr id="15" name="Shape 13"/>
          <p:cNvSpPr/>
          <p:nvPr/>
        </p:nvSpPr>
        <p:spPr>
          <a:xfrm>
            <a:off x="6096000" y="2097024"/>
            <a:ext cx="2499360" cy="950976"/>
          </a:xfrm>
          <a:prstGeom prst="rect">
            <a:avLst/>
          </a:prstGeom>
          <a:solidFill>
            <a:srgbClr val="FAF8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096000" y="2097024"/>
            <a:ext cx="2499360" cy="36576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42304" y="2182368"/>
            <a:ext cx="220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6242304" y="2499360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133" dirty="0"/>
          </a:p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133" dirty="0"/>
          </a:p>
        </p:txBody>
      </p:sp>
      <p:sp>
        <p:nvSpPr>
          <p:cNvPr id="19" name="Shape 17"/>
          <p:cNvSpPr/>
          <p:nvPr/>
        </p:nvSpPr>
        <p:spPr>
          <a:xfrm>
            <a:off x="8778240" y="2097024"/>
            <a:ext cx="2499360" cy="950976"/>
          </a:xfrm>
          <a:prstGeom prst="rect">
            <a:avLst/>
          </a:prstGeom>
          <a:solidFill>
            <a:srgbClr val="FAF8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778240" y="2097024"/>
            <a:ext cx="2499360" cy="36576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924544" y="2182368"/>
            <a:ext cx="220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8924544" y="2499360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validity testing</a:t>
            </a:r>
            <a:endParaRPr lang="en-US" sz="1133" dirty="0"/>
          </a:p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plain-language callouts</a:t>
            </a:r>
            <a:endParaRPr lang="en-US" sz="1133" dirty="0"/>
          </a:p>
        </p:txBody>
      </p:sp>
      <p:sp>
        <p:nvSpPr>
          <p:cNvPr id="23" name="Text 21"/>
          <p:cNvSpPr/>
          <p:nvPr/>
        </p:nvSpPr>
        <p:spPr>
          <a:xfrm>
            <a:off x="731520" y="3243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333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33" dirty="0"/>
          </a:p>
        </p:txBody>
      </p:sp>
      <p:sp>
        <p:nvSpPr>
          <p:cNvPr id="24" name="Shape 22"/>
          <p:cNvSpPr/>
          <p:nvPr/>
        </p:nvSpPr>
        <p:spPr>
          <a:xfrm>
            <a:off x="731520" y="3486912"/>
            <a:ext cx="2499360" cy="950976"/>
          </a:xfrm>
          <a:prstGeom prst="rect">
            <a:avLst/>
          </a:prstGeom>
          <a:solidFill>
            <a:srgbClr val="1C245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31520" y="3486912"/>
            <a:ext cx="249936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77824" y="3572256"/>
            <a:ext cx="220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877824" y="3889248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factors driving</a:t>
            </a:r>
            <a:endParaRPr lang="en-US" sz="1133" dirty="0"/>
          </a:p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133" dirty="0"/>
          </a:p>
        </p:txBody>
      </p:sp>
      <p:sp>
        <p:nvSpPr>
          <p:cNvPr id="28" name="Shape 26"/>
          <p:cNvSpPr/>
          <p:nvPr/>
        </p:nvSpPr>
        <p:spPr>
          <a:xfrm>
            <a:off x="3413760" y="3486912"/>
            <a:ext cx="2499360" cy="950976"/>
          </a:xfrm>
          <a:prstGeom prst="rect">
            <a:avLst/>
          </a:prstGeom>
          <a:solidFill>
            <a:srgbClr val="1C245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413760" y="3486912"/>
            <a:ext cx="249936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560064" y="3572256"/>
            <a:ext cx="220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Key Driver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3560064" y="3889248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logistic regression</a:t>
            </a:r>
            <a:endParaRPr lang="en-US" sz="1133" dirty="0"/>
          </a:p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categorical outcomes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6096000" y="3486912"/>
            <a:ext cx="2499360" cy="950976"/>
          </a:xfrm>
          <a:prstGeom prst="rect">
            <a:avLst/>
          </a:prstGeom>
          <a:solidFill>
            <a:srgbClr val="1C245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096000" y="3486912"/>
            <a:ext cx="249936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42304" y="3572256"/>
            <a:ext cx="220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6242304" y="3889248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clustering</a:t>
            </a:r>
            <a:endParaRPr lang="en-US" sz="1133" dirty="0"/>
          </a:p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 groups</a:t>
            </a:r>
            <a:endParaRPr lang="en-US" sz="1133" dirty="0"/>
          </a:p>
        </p:txBody>
      </p:sp>
      <p:sp>
        <p:nvSpPr>
          <p:cNvPr id="36" name="Text 34"/>
          <p:cNvSpPr/>
          <p:nvPr/>
        </p:nvSpPr>
        <p:spPr>
          <a:xfrm>
            <a:off x="731520" y="4632960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333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&amp; PRICING</a:t>
            </a:r>
            <a:endParaRPr lang="en-US" sz="933" dirty="0"/>
          </a:p>
        </p:txBody>
      </p:sp>
      <p:sp>
        <p:nvSpPr>
          <p:cNvPr id="37" name="Shape 35"/>
          <p:cNvSpPr/>
          <p:nvPr/>
        </p:nvSpPr>
        <p:spPr>
          <a:xfrm>
            <a:off x="731520" y="4876800"/>
            <a:ext cx="2499360" cy="950976"/>
          </a:xfrm>
          <a:prstGeom prst="rect">
            <a:avLst/>
          </a:prstGeom>
          <a:solidFill>
            <a:srgbClr val="1C245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731520" y="4876800"/>
            <a:ext cx="249936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77824" y="4962144"/>
            <a:ext cx="220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Conjoint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877824" y="5279136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modelling with</a:t>
            </a:r>
            <a:endParaRPr lang="en-US" sz="1133" dirty="0"/>
          </a:p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market simulator</a:t>
            </a:r>
            <a:endParaRPr lang="en-US" sz="1133" dirty="0"/>
          </a:p>
        </p:txBody>
      </p:sp>
      <p:sp>
        <p:nvSpPr>
          <p:cNvPr id="41" name="Shape 39"/>
          <p:cNvSpPr/>
          <p:nvPr/>
        </p:nvSpPr>
        <p:spPr>
          <a:xfrm>
            <a:off x="3413760" y="4876800"/>
            <a:ext cx="2499360" cy="950976"/>
          </a:xfrm>
          <a:prstGeom prst="rect">
            <a:avLst/>
          </a:prstGeom>
          <a:solidFill>
            <a:srgbClr val="1C245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3413760" y="4876800"/>
            <a:ext cx="249936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3560064" y="4962144"/>
            <a:ext cx="220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MaxDiff</a:t>
            </a:r>
            <a:endParaRPr lang="en-US" sz="1467" dirty="0"/>
          </a:p>
        </p:txBody>
      </p:sp>
      <p:sp>
        <p:nvSpPr>
          <p:cNvPr id="44" name="Text 42"/>
          <p:cNvSpPr/>
          <p:nvPr/>
        </p:nvSpPr>
        <p:spPr>
          <a:xfrm>
            <a:off x="3560064" y="5279136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preference rankings</a:t>
            </a:r>
            <a:endParaRPr lang="en-US" sz="1133" dirty="0"/>
          </a:p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interactive simulator</a:t>
            </a:r>
            <a:endParaRPr lang="en-US" sz="1133" dirty="0"/>
          </a:p>
        </p:txBody>
      </p:sp>
      <p:sp>
        <p:nvSpPr>
          <p:cNvPr id="45" name="Shape 43"/>
          <p:cNvSpPr/>
          <p:nvPr/>
        </p:nvSpPr>
        <p:spPr>
          <a:xfrm>
            <a:off x="6096000" y="4876800"/>
            <a:ext cx="2499360" cy="950976"/>
          </a:xfrm>
          <a:prstGeom prst="rect">
            <a:avLst/>
          </a:prstGeom>
          <a:solidFill>
            <a:srgbClr val="1C245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6096000" y="4876800"/>
            <a:ext cx="249936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242304" y="4962144"/>
            <a:ext cx="2206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467" dirty="0"/>
          </a:p>
        </p:txBody>
      </p:sp>
      <p:sp>
        <p:nvSpPr>
          <p:cNvPr id="48" name="Text 46"/>
          <p:cNvSpPr/>
          <p:nvPr/>
        </p:nvSpPr>
        <p:spPr>
          <a:xfrm>
            <a:off x="6242304" y="5279136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Westendorp, Gabor-Granger</a:t>
            </a:r>
            <a:endParaRPr lang="en-US" sz="1133" dirty="0"/>
          </a:p>
          <a:p>
            <a:pPr>
              <a:lnSpc>
                <a:spcPct val="115000"/>
              </a:lnSpc>
            </a:pPr>
            <a:r>
              <a:rPr lang="en-US" sz="1133" dirty="0">
                <a:solidFill>
                  <a:srgbClr val="A8A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monadic price models</a:t>
            </a:r>
            <a:endParaRPr lang="en-US" sz="1133" dirty="0"/>
          </a:p>
        </p:txBody>
      </p:sp>
      <p:sp>
        <p:nvSpPr>
          <p:cNvPr id="49" name="Shape 47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0" y="6376416"/>
            <a:ext cx="12192000" cy="2438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2194560" cy="341376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2194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731520" y="103632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be most useful?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072640"/>
            <a:ext cx="3413760" cy="3169920"/>
          </a:xfrm>
          <a:prstGeom prst="rect">
            <a:avLst/>
          </a:prstGeom>
          <a:solidFill>
            <a:srgbClr val="FAF8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072640"/>
            <a:ext cx="3413760" cy="4876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75360" y="2377440"/>
            <a:ext cx="426720" cy="4267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75360" y="23774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4960" y="237744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Own Data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975360" y="31089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an existing dataset — even an old one — and we’ll run it through Turas so you can see your data in an interactive report. </a:t>
            </a: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*subject to data in a usable format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0080" y="2072640"/>
            <a:ext cx="3413760" cy="3169920"/>
          </a:xfrm>
          <a:prstGeom prst="rect">
            <a:avLst/>
          </a:prstGeom>
          <a:solidFill>
            <a:srgbClr val="FAF8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50080" y="2072640"/>
            <a:ext cx="3413760" cy="4876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693920" y="2377440"/>
            <a:ext cx="426720" cy="4267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93920" y="23774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237744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 Current Project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4693920" y="31089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a study in the pipeline, we can discuss how Turas fits the analytical plan and what the output would look like.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8168640" y="2072640"/>
            <a:ext cx="3413760" cy="3169920"/>
          </a:xfrm>
          <a:prstGeom prst="rect">
            <a:avLst/>
          </a:prstGeom>
          <a:solidFill>
            <a:srgbClr val="FAF8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68640" y="2072640"/>
            <a:ext cx="3413760" cy="4876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412480" y="2377440"/>
            <a:ext cx="426720" cy="4267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12480" y="23774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22080" y="237744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C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Your Team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8412480" y="31089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set up a broader session for colleagues who need to see it. 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731520" y="5608320"/>
            <a:ext cx="10728960" cy="548640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1520" y="5608320"/>
            <a:ext cx="1072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Duncan Brett</a:t>
            </a:r>
            <a:r>
              <a:rPr lang="en-US" sz="1467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duncan@researchlamppost.co.za  ·  The Research LampPost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C2456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0" y="6376416"/>
            <a:ext cx="12192000" cy="2438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1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2" name="Divider"/>
          <p:cNvSpPr/>
          <p:nvPr/>
        </p:nvSpPr>
        <p:spPr>
          <a:xfrm>
            <a:off x="4826000" y="2032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3" name="BrandName"/>
          <p:cNvSpPr/>
          <p:nvPr/>
        </p:nvSpPr>
        <p:spPr>
          <a:xfrm>
            <a:off x="1016000" y="2222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4800" b="1" dirty="0">
                <a:solidFill>
                  <a:srgbClr val="FFFFFF"/>
                </a:solidFill>
                <a:latin typeface="Raleway"/>
              </a:rPr>
              <a:t>Turas</a:t>
            </a:r>
          </a:p>
        </p:txBody>
      </p:sp>
      <p:sp>
        <p:nvSpPr>
          <p:cNvPr id="204" name="Tagline"/>
          <p:cNvSpPr/>
          <p:nvPr/>
        </p:nvSpPr>
        <p:spPr>
          <a:xfrm>
            <a:off x="1016000" y="32004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GB" sz="1800" i="1" dirty="0">
                <a:solidFill>
                  <a:srgbClr val="A0AEC0"/>
                </a:solidFill>
                <a:latin typeface="Source Sans Pro"/>
              </a:rPr>
              <a:t>Complete analytics. No strings attached</a:t>
            </a:r>
          </a:p>
        </p:txBody>
      </p:sp>
      <p:sp>
        <p:nvSpPr>
          <p:cNvPr id="205" name="Divider2"/>
          <p:cNvSpPr/>
          <p:nvPr/>
        </p:nvSpPr>
        <p:spPr>
          <a:xfrm>
            <a:off x="4826000" y="3810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6" name="Contact"/>
          <p:cNvSpPr/>
          <p:nvPr/>
        </p:nvSpPr>
        <p:spPr>
          <a:xfrm>
            <a:off x="1016000" y="4064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2800"/>
              </a:lnSpc>
            </a:pPr>
            <a:r>
              <a:rPr lang="en-GB" sz="1400" dirty="0">
                <a:solidFill>
                  <a:srgbClr val="CC9900"/>
                </a:solidFill>
                <a:latin typeface="Source Sans Pro"/>
              </a:rPr>
              <a:t>duncan@researchlamppost.co.za</a:t>
            </a:r>
            <a:endParaRPr lang="en-GB" sz="1400" dirty="0">
              <a:solidFill>
                <a:srgbClr val="A0AEC0"/>
              </a:solidFill>
              <a:latin typeface="Source Sans Pro"/>
            </a:endParaRPr>
          </a:p>
        </p:txBody>
      </p:sp>
      <p:sp>
        <p:nvSpPr>
          <p:cNvPr id="2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9" name="Diamond"/>
          <p:cNvSpPr/>
          <p:nvPr/>
        </p:nvSpPr>
        <p:spPr>
          <a:xfrm>
            <a:off x="5943600" y="1651000"/>
            <a:ext cx="304800" cy="304800"/>
          </a:xfrm>
          <a:prstGeom prst="diamond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pic>
        <p:nvPicPr>
          <p:cNvPr id="8" name="Picture 7" descr="A logo with a yellow and blue diamond&#10;&#10;AI-generated content may be incorrect.">
            <a:extLst>
              <a:ext uri="{FF2B5EF4-FFF2-40B4-BE49-F238E27FC236}">
                <a16:creationId xmlns:a16="http://schemas.microsoft.com/office/drawing/2014/main" id="{13F92F90-D33B-0689-B5C0-AF4DB9924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114" y="4595977"/>
            <a:ext cx="2365231" cy="166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5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074CAE-08C3-3B4F-8C27-CA6529B72A4E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22747</TotalTime>
  <Words>524</Words>
  <Application>Microsoft Macintosh PowerPoint</Application>
  <PresentationFormat>Widescreen</PresentationFormat>
  <Paragraphs>105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Georgia</vt:lpstr>
      <vt:lpstr>Raleway</vt:lpstr>
      <vt:lpstr>Source Sans Pro</vt:lpstr>
      <vt:lpstr>Office Theme</vt:lpstr>
      <vt:lpstr>Turas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Duncan Brett</dc:creator>
  <cp:keywords/>
  <dc:description/>
  <cp:lastModifiedBy>Duncan Brett</cp:lastModifiedBy>
  <cp:revision>50</cp:revision>
  <dcterms:created xsi:type="dcterms:W3CDTF">2026-02-19T04:31:59Z</dcterms:created>
  <dcterms:modified xsi:type="dcterms:W3CDTF">2026-03-24T20:46:53Z</dcterms:modified>
  <cp:category/>
</cp:coreProperties>
</file>