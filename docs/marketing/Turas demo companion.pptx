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358" r:id="rId2"/>
    <p:sldId id="257" r:id="rId3"/>
    <p:sldId id="258" r:id="rId4"/>
    <p:sldId id="412" r:id="rId5"/>
    <p:sldId id="397" r:id="rId6"/>
    <p:sldId id="260" r:id="rId7"/>
    <p:sldId id="378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888"/>
    <p:restoredTop sz="94680"/>
  </p:normalViewPr>
  <p:slideViewPr>
    <p:cSldViewPr snapToGrid="0">
      <p:cViewPr varScale="1">
        <p:scale>
          <a:sx n="102" d="100"/>
          <a:sy n="102" d="100"/>
        </p:scale>
        <p:origin x="216" y="20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B2293FD-1E42-1447-A1A4-389C6E1A364E}" type="datetimeFigureOut">
              <a:rPr lang="en-GB" smtClean="0"/>
              <a:t>24/03/2026</a:t>
            </a:fld>
            <a:endParaRPr lang="en-GB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6979EB0-E91F-CC45-B59B-1976BB608CC1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768805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A2E67B-B6FB-F4CB-209A-E9B20CAAFB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2FC7EFF-81A1-943C-2CC8-642E8811B6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5756DBC-BACE-C3CA-95EA-BD6B89A461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11E3D7-F29B-4345-D4B3-2A47BEC3D95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1808293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88224B-6EF3-FB65-642C-3649B80EC72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A71D155-AEA9-51F0-C000-DCCD756BEFF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BD2051-9DA1-F6DC-1476-0E21952F3F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83654-0045-5F4C-BD43-6C918E968447}" type="datetimeFigureOut">
              <a:rPr lang="en-GB" smtClean="0"/>
              <a:t>24/03/2026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3E3D9A-D843-4CEC-2410-07B1AED06E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24FB17-3E1F-8FF4-BBB8-E683249FFB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FBAB-DCF6-AB44-A865-ED35659D1154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575708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0F18C7-9E75-9D92-31F2-64EDD3BECE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398666-7F89-0798-7812-610A4F273D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D7C2C5-C454-2E44-38B1-E7F97A0776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83654-0045-5F4C-BD43-6C918E968447}" type="datetimeFigureOut">
              <a:rPr lang="en-GB" smtClean="0"/>
              <a:t>24/03/2026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9D9A58-720B-AE5D-9E1F-D8808B243A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F4908A-4C3E-704D-411B-F0CD4E0988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FBAB-DCF6-AB44-A865-ED35659D1154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154049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E4E906-C1C1-4EF6-7F2D-FFF9DF3B65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AF2797-315D-8EE6-C317-089F02FB40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FA4D23-4766-D947-8E13-D72E4400AA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83654-0045-5F4C-BD43-6C918E968447}" type="datetimeFigureOut">
              <a:rPr lang="en-GB" smtClean="0"/>
              <a:t>24/03/2026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59D983-C6D2-2775-BED1-AB2853F66F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A4EC42-0B0E-39A1-50DE-3B1AFCCC13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FBAB-DCF6-AB44-A865-ED35659D1154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572606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C7BCBA-3BEB-431C-17BD-19C9153D5B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998E8D-625D-EAC1-774F-462A9149EE3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A3ACD29-E934-5075-51FC-3CA037F35B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52F2AF-2519-7E5C-14CC-653BF642F7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83654-0045-5F4C-BD43-6C918E968447}" type="datetimeFigureOut">
              <a:rPr lang="en-GB" smtClean="0"/>
              <a:t>24/03/2026</a:t>
            </a:fld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28F2499-3386-BAA4-89FD-C5518E56AB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796CE1E-3792-37BE-9C0E-A1F30EF251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FBAB-DCF6-AB44-A865-ED35659D1154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644360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F7724B-AC52-4D87-E0F0-AC0E639B83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229756C-D8D1-FD84-9F82-A61C0D1D98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642A09C-AFD1-60C2-942E-087A141C057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44B2655-4B3E-3F34-5271-D2705E2F495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DDC732A-EC0E-C1B7-0D1B-6D77F502D23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37AD936-90F1-771D-269B-23346EE744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83654-0045-5F4C-BD43-6C918E968447}" type="datetimeFigureOut">
              <a:rPr lang="en-GB" smtClean="0"/>
              <a:t>24/03/2026</a:t>
            </a:fld>
            <a:endParaRPr lang="en-GB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DC1F7F5-A645-2EE6-B2C1-7B17D9D26D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F750C74-AB81-09A8-99FE-B028507D09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FBAB-DCF6-AB44-A865-ED35659D1154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495546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8997B8-D818-36E1-17E5-61AED59820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6617C6F-0965-4F12-1862-DA26B6ACCD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83654-0045-5F4C-BD43-6C918E968447}" type="datetimeFigureOut">
              <a:rPr lang="en-GB" smtClean="0"/>
              <a:t>24/03/2026</a:t>
            </a:fld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57010F1-22C2-E0E6-9B49-8F87FCE21A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FA713D6-E479-A889-8B1B-6000E684CF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FBAB-DCF6-AB44-A865-ED35659D1154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629505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D58E932-1BA6-3386-AEA3-A5AE7A3A91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83654-0045-5F4C-BD43-6C918E968447}" type="datetimeFigureOut">
              <a:rPr lang="en-GB" smtClean="0"/>
              <a:t>24/03/2026</a:t>
            </a:fld>
            <a:endParaRPr lang="en-GB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96769CC-B4A8-AA5D-8871-EB3A766B74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38A79D-8172-05C7-07D8-6E33DECA74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FBAB-DCF6-AB44-A865-ED35659D1154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9031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278ED1-37E4-AB65-D83A-642E064B77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BCA085-F7A4-CF30-6421-4A03397851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00500EE-C98B-2FAD-3FD5-6A1F895D9A4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BCB8969-B390-0B69-774D-4006439914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83654-0045-5F4C-BD43-6C918E968447}" type="datetimeFigureOut">
              <a:rPr lang="en-GB" smtClean="0"/>
              <a:t>24/03/2026</a:t>
            </a:fld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5968E3B-53BE-1306-5834-43582A164A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1B016D2-7099-9486-09F5-905198C94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FBAB-DCF6-AB44-A865-ED35659D1154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9882551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4C9AD3-736A-C5CE-C8C9-7194B4F6BC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E255B36-E0B0-3AE1-B7EB-06261E14402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AAEC956-F5BC-ABE1-82BE-7D6328C070C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477E8FC-FD61-682B-8415-F71F33E3EC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83654-0045-5F4C-BD43-6C918E968447}" type="datetimeFigureOut">
              <a:rPr lang="en-GB" smtClean="0"/>
              <a:t>24/03/2026</a:t>
            </a:fld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B0E4F1-9ABB-0B4A-DF54-0BB9816823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85E5837-52F4-5104-B068-1E6B5F0A06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FBAB-DCF6-AB44-A865-ED35659D1154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707097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FCF308-83E3-ABAD-FFDB-FA5F72A553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AFCCF83-895E-4A51-43F2-EDAC0065677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9A23F1-2C23-5FA5-E90F-175731A0FB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83654-0045-5F4C-BD43-6C918E968447}" type="datetimeFigureOut">
              <a:rPr lang="en-GB" smtClean="0"/>
              <a:t>24/03/2026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5112B3-D368-CCEB-A920-C84E30BA9F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079D1A-4434-E69D-87A5-2812CAE9D3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FBAB-DCF6-AB44-A865-ED35659D1154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576732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C0797A4-1152-2907-E754-BF746F86674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4B2B39-B627-ACFB-BBCC-1B76B931A5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9D7629-44A8-D468-332A-9B12B70C3F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83654-0045-5F4C-BD43-6C918E968447}" type="datetimeFigureOut">
              <a:rPr lang="en-GB" smtClean="0"/>
              <a:t>24/03/2026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B6E56C-8290-7B51-6B46-9AEC50986D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AAEA3E-52AE-207A-7EF6-C8E7F7FF99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FBAB-DCF6-AB44-A865-ED35659D1154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0113080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554274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95E75CF-E691-D86D-EE33-3FA33FB00C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8BC6B1-28E7-7B11-4C95-FE3A136522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F16F65-897A-0723-626B-C13FB4DC218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2883654-0045-5F4C-BD43-6C918E968447}" type="datetimeFigureOut">
              <a:rPr lang="en-GB" smtClean="0"/>
              <a:t>24/03/2026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1A5A3C-601B-7ED7-A730-692B2721BBA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37D9B1-3852-47E6-64E4-68AC332A58A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07AFBAB-DCF6-AB44-A865-ED35659D1154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469941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river running through a desert&#10;&#10;AI-generated content may be incorrect.">
            <a:extLst>
              <a:ext uri="{FF2B5EF4-FFF2-40B4-BE49-F238E27FC236}">
                <a16:creationId xmlns:a16="http://schemas.microsoft.com/office/drawing/2014/main" id="{42107E63-9AE6-455E-83EE-4B213E6CB27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t="25249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TopAccentBar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32" name="TextBackdrop"/>
          <p:cNvSpPr/>
          <p:nvPr/>
        </p:nvSpPr>
        <p:spPr>
          <a:xfrm>
            <a:off x="0" y="4300000"/>
            <a:ext cx="12192000" cy="2507200"/>
          </a:xfrm>
          <a:prstGeom prst="rect">
            <a:avLst/>
          </a:prstGeom>
          <a:solidFill>
            <a:srgbClr val="0A1628">
              <a:alpha val="80000"/>
            </a:srgbClr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D6C3F1A-6632-A2DB-45B5-73CE46A1B2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572000"/>
            <a:ext cx="10972800" cy="914400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/>
            <a:r>
              <a:rPr lang="en-US" sz="4000" b="1" dirty="0">
                <a:solidFill>
                  <a:srgbClr val="FFFFFF"/>
                </a:solidFill>
                <a:latin typeface="Calibri"/>
              </a:rPr>
              <a:t>Turas</a:t>
            </a:r>
          </a:p>
        </p:txBody>
      </p:sp>
      <p:sp>
        <p:nvSpPr>
          <p:cNvPr id="31" name="Subtitle"/>
          <p:cNvSpPr txBox="1"/>
          <p:nvPr/>
        </p:nvSpPr>
        <p:spPr>
          <a:xfrm>
            <a:off x="762000" y="5562600"/>
            <a:ext cx="10972800" cy="53340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/>
          <a:lstStyle/>
          <a:p>
            <a:pPr algn="l"/>
            <a:r>
              <a:rPr lang="en-US" sz="2000" dirty="0">
                <a:solidFill>
                  <a:srgbClr val="FFFFFF"/>
                </a:solidFill>
                <a:latin typeface="Calibri"/>
              </a:rPr>
              <a:t>The complete survey analytics system</a:t>
            </a:r>
          </a:p>
        </p:txBody>
      </p:sp>
      <p:pic>
        <p:nvPicPr>
          <p:cNvPr id="4" name="Picture 3" descr="A blue and yellow diamond with a star on it&#10;&#10;AI-generated content may be incorrect.">
            <a:extLst>
              <a:ext uri="{FF2B5EF4-FFF2-40B4-BE49-F238E27FC236}">
                <a16:creationId xmlns:a16="http://schemas.microsoft.com/office/drawing/2014/main" id="{7A0B7A84-EAF0-A86E-8F4A-2A0E437BA6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03099" y="193672"/>
            <a:ext cx="1792312" cy="1262643"/>
          </a:xfrm>
          <a:prstGeom prst="rect">
            <a:avLst/>
          </a:prstGeom>
        </p:spPr>
      </p:pic>
      <p:sp>
        <p:nvSpPr>
          <p:cNvPr id="30" name="BotAcc"/>
          <p:cNvSpPr/>
          <p:nvPr/>
        </p:nvSpPr>
        <p:spPr>
          <a:xfrm>
            <a:off x="0" y="680720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1271943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26720"/>
            <a:ext cx="1950720" cy="341376"/>
          </a:xfrm>
          <a:prstGeom prst="rect">
            <a:avLst/>
          </a:prstGeom>
          <a:solidFill>
            <a:srgbClr val="1C2456"/>
          </a:solidFill>
          <a:ln/>
        </p:spPr>
        <p:txBody>
          <a:bodyPr/>
          <a:lstStyle/>
          <a:p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731520" y="426720"/>
            <a:ext cx="195072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067" b="1" kern="0" spc="400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067" dirty="0"/>
          </a:p>
        </p:txBody>
      </p:sp>
      <p:sp>
        <p:nvSpPr>
          <p:cNvPr id="4" name="Text 2"/>
          <p:cNvSpPr/>
          <p:nvPr/>
        </p:nvSpPr>
        <p:spPr>
          <a:xfrm>
            <a:off x="731520" y="1036320"/>
            <a:ext cx="1072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 dirty="0">
                <a:solidFill>
                  <a:srgbClr val="1C245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Research that stops working the day it’s delivered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31520" y="2194560"/>
            <a:ext cx="3413760" cy="2926080"/>
          </a:xfrm>
          <a:prstGeom prst="rect">
            <a:avLst/>
          </a:prstGeom>
          <a:solidFill>
            <a:srgbClr val="FAF8F3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731520" y="2194560"/>
            <a:ext cx="3413760" cy="48768"/>
          </a:xfrm>
          <a:prstGeom prst="rect">
            <a:avLst/>
          </a:prstGeom>
          <a:solidFill>
            <a:srgbClr val="1C2456"/>
          </a:solidFill>
          <a:ln/>
        </p:spPr>
        <p:txBody>
          <a:bodyPr/>
          <a:lstStyle/>
          <a:p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975360" y="2499360"/>
            <a:ext cx="426720" cy="426720"/>
          </a:xfrm>
          <a:prstGeom prst="ellipse">
            <a:avLst/>
          </a:prstGeom>
          <a:solidFill>
            <a:srgbClr val="1C2456"/>
          </a:solidFill>
          <a:ln/>
        </p:spPr>
        <p:txBody>
          <a:bodyPr/>
          <a:lstStyle/>
          <a:p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75360" y="2499360"/>
            <a:ext cx="426720" cy="426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467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67" dirty="0"/>
          </a:p>
        </p:txBody>
      </p:sp>
      <p:sp>
        <p:nvSpPr>
          <p:cNvPr id="9" name="Text 7"/>
          <p:cNvSpPr/>
          <p:nvPr/>
        </p:nvSpPr>
        <p:spPr>
          <a:xfrm>
            <a:off x="1584960" y="2499360"/>
            <a:ext cx="231648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33" b="1" dirty="0">
                <a:solidFill>
                  <a:srgbClr val="1C24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Data, Limited Life</a:t>
            </a:r>
            <a:endParaRPr lang="en-US" sz="1733" dirty="0"/>
          </a:p>
        </p:txBody>
      </p:sp>
      <p:sp>
        <p:nvSpPr>
          <p:cNvPr id="10" name="Text 8"/>
          <p:cNvSpPr/>
          <p:nvPr/>
        </p:nvSpPr>
        <p:spPr>
          <a:xfrm>
            <a:off x="975360" y="3230880"/>
            <a:ext cx="2926080" cy="1584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ct val="130000"/>
              </a:lnSpc>
            </a:pPr>
            <a:r>
              <a:rPr lang="en-US" sz="1533" dirty="0">
                <a:solidFill>
                  <a:srgbClr val="5A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commission research and get a deck that answers the questions you asked at the time.</a:t>
            </a:r>
            <a:endParaRPr lang="en-US" sz="1533" dirty="0"/>
          </a:p>
        </p:txBody>
      </p:sp>
      <p:sp>
        <p:nvSpPr>
          <p:cNvPr id="11" name="Shape 9"/>
          <p:cNvSpPr/>
          <p:nvPr/>
        </p:nvSpPr>
        <p:spPr>
          <a:xfrm>
            <a:off x="4450080" y="2194560"/>
            <a:ext cx="3413760" cy="2926080"/>
          </a:xfrm>
          <a:prstGeom prst="rect">
            <a:avLst/>
          </a:prstGeom>
          <a:solidFill>
            <a:srgbClr val="FAF8F3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4450080" y="2194560"/>
            <a:ext cx="3413760" cy="48768"/>
          </a:xfrm>
          <a:prstGeom prst="rect">
            <a:avLst/>
          </a:prstGeom>
          <a:solidFill>
            <a:srgbClr val="1C2456"/>
          </a:solidFill>
          <a:ln/>
        </p:spPr>
        <p:txBody>
          <a:bodyPr/>
          <a:lstStyle/>
          <a:p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4693920" y="2499360"/>
            <a:ext cx="426720" cy="426720"/>
          </a:xfrm>
          <a:prstGeom prst="ellipse">
            <a:avLst/>
          </a:prstGeom>
          <a:solidFill>
            <a:srgbClr val="1C2456"/>
          </a:solidFill>
          <a:ln/>
        </p:spPr>
        <p:txBody>
          <a:bodyPr/>
          <a:lstStyle/>
          <a:p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4693920" y="2499360"/>
            <a:ext cx="426720" cy="426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467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67" dirty="0"/>
          </a:p>
        </p:txBody>
      </p:sp>
      <p:sp>
        <p:nvSpPr>
          <p:cNvPr id="15" name="Text 13"/>
          <p:cNvSpPr/>
          <p:nvPr/>
        </p:nvSpPr>
        <p:spPr>
          <a:xfrm>
            <a:off x="5303520" y="2499360"/>
            <a:ext cx="231648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33" b="1" dirty="0">
                <a:solidFill>
                  <a:srgbClr val="1C24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Questions, Old Process</a:t>
            </a:r>
            <a:endParaRPr lang="en-US" sz="1733" dirty="0"/>
          </a:p>
        </p:txBody>
      </p:sp>
      <p:sp>
        <p:nvSpPr>
          <p:cNvPr id="16" name="Text 14"/>
          <p:cNvSpPr/>
          <p:nvPr/>
        </p:nvSpPr>
        <p:spPr>
          <a:xfrm>
            <a:off x="4693920" y="3230880"/>
            <a:ext cx="2926080" cy="1584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ct val="130000"/>
              </a:lnSpc>
            </a:pPr>
            <a:r>
              <a:rPr lang="en-US" sz="1533" dirty="0">
                <a:solidFill>
                  <a:srgbClr val="5A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new question surfaces, someone has to reopen the dataset, rebuild the analysis. That takes time and money.</a:t>
            </a:r>
            <a:endParaRPr lang="en-US" sz="1533" dirty="0"/>
          </a:p>
        </p:txBody>
      </p:sp>
      <p:sp>
        <p:nvSpPr>
          <p:cNvPr id="17" name="Shape 15"/>
          <p:cNvSpPr/>
          <p:nvPr/>
        </p:nvSpPr>
        <p:spPr>
          <a:xfrm>
            <a:off x="8168640" y="2194560"/>
            <a:ext cx="3413760" cy="2926080"/>
          </a:xfrm>
          <a:prstGeom prst="rect">
            <a:avLst/>
          </a:prstGeom>
          <a:solidFill>
            <a:srgbClr val="FAF8F3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8168640" y="2194560"/>
            <a:ext cx="3413760" cy="48768"/>
          </a:xfrm>
          <a:prstGeom prst="rect">
            <a:avLst/>
          </a:prstGeom>
          <a:solidFill>
            <a:srgbClr val="1C2456"/>
          </a:solidFill>
          <a:ln/>
        </p:spPr>
        <p:txBody>
          <a:bodyPr/>
          <a:lstStyle/>
          <a:p>
            <a:endParaRPr lang="en-US" sz="2400" dirty="0"/>
          </a:p>
        </p:txBody>
      </p:sp>
      <p:sp>
        <p:nvSpPr>
          <p:cNvPr id="19" name="Shape 17"/>
          <p:cNvSpPr/>
          <p:nvPr/>
        </p:nvSpPr>
        <p:spPr>
          <a:xfrm>
            <a:off x="8412480" y="2499360"/>
            <a:ext cx="426720" cy="426720"/>
          </a:xfrm>
          <a:prstGeom prst="ellipse">
            <a:avLst/>
          </a:prstGeom>
          <a:solidFill>
            <a:srgbClr val="1C2456"/>
          </a:solidFill>
          <a:ln/>
        </p:spPr>
        <p:txBody>
          <a:bodyPr/>
          <a:lstStyle/>
          <a:p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8412480" y="2499360"/>
            <a:ext cx="426720" cy="426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467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67" dirty="0"/>
          </a:p>
        </p:txBody>
      </p:sp>
      <p:sp>
        <p:nvSpPr>
          <p:cNvPr id="21" name="Text 19"/>
          <p:cNvSpPr/>
          <p:nvPr/>
        </p:nvSpPr>
        <p:spPr>
          <a:xfrm>
            <a:off x="9022080" y="2499360"/>
            <a:ext cx="231648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33" b="1" dirty="0">
                <a:solidFill>
                  <a:srgbClr val="1C24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Deliverable, Not a Resource</a:t>
            </a:r>
            <a:endParaRPr lang="en-US" sz="1733" dirty="0"/>
          </a:p>
        </p:txBody>
      </p:sp>
      <p:sp>
        <p:nvSpPr>
          <p:cNvPr id="22" name="Text 20"/>
          <p:cNvSpPr/>
          <p:nvPr/>
        </p:nvSpPr>
        <p:spPr>
          <a:xfrm>
            <a:off x="8412480" y="3230880"/>
            <a:ext cx="2926080" cy="1584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ct val="130000"/>
              </a:lnSpc>
            </a:pPr>
            <a:r>
              <a:rPr lang="en-US" sz="1533" dirty="0">
                <a:solidFill>
                  <a:srgbClr val="5A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research ends up as a presentation filed on a shared drive. The data stops working for you.</a:t>
            </a:r>
            <a:endParaRPr lang="en-US" sz="1533" dirty="0"/>
          </a:p>
        </p:txBody>
      </p:sp>
      <p:sp>
        <p:nvSpPr>
          <p:cNvPr id="23" name="Text 21"/>
          <p:cNvSpPr/>
          <p:nvPr/>
        </p:nvSpPr>
        <p:spPr>
          <a:xfrm>
            <a:off x="731520" y="5547360"/>
            <a:ext cx="107289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133" i="1" dirty="0">
                <a:solidFill>
                  <a:srgbClr val="D4A8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Turas changes that. Let me show you.</a:t>
            </a:r>
            <a:endParaRPr lang="en-US" sz="2133" dirty="0"/>
          </a:p>
        </p:txBody>
      </p:sp>
      <p:sp>
        <p:nvSpPr>
          <p:cNvPr id="24" name="Shape 22"/>
          <p:cNvSpPr/>
          <p:nvPr/>
        </p:nvSpPr>
        <p:spPr>
          <a:xfrm>
            <a:off x="0" y="6400800"/>
            <a:ext cx="12192000" cy="457200"/>
          </a:xfrm>
          <a:prstGeom prst="rect">
            <a:avLst/>
          </a:prstGeom>
          <a:solidFill>
            <a:srgbClr val="1C2456"/>
          </a:solidFill>
          <a:ln/>
        </p:spPr>
        <p:txBody>
          <a:bodyPr/>
          <a:lstStyle/>
          <a:p>
            <a:endParaRPr lang="en-US" sz="2400" dirty="0"/>
          </a:p>
        </p:txBody>
      </p:sp>
      <p:sp>
        <p:nvSpPr>
          <p:cNvPr id="25" name="Shape 23"/>
          <p:cNvSpPr/>
          <p:nvPr/>
        </p:nvSpPr>
        <p:spPr>
          <a:xfrm>
            <a:off x="0" y="6376416"/>
            <a:ext cx="12192000" cy="24384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 sz="2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26720"/>
            <a:ext cx="2438400" cy="341376"/>
          </a:xfrm>
          <a:prstGeom prst="rect">
            <a:avLst/>
          </a:prstGeom>
          <a:solidFill>
            <a:srgbClr val="1C2456"/>
          </a:solidFill>
          <a:ln/>
        </p:spPr>
        <p:txBody>
          <a:bodyPr/>
          <a:lstStyle/>
          <a:p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731520" y="426720"/>
            <a:ext cx="243840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067" b="1" kern="0" spc="400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WE LOOK</a:t>
            </a:r>
            <a:endParaRPr lang="en-US" sz="1067" dirty="0"/>
          </a:p>
        </p:txBody>
      </p:sp>
      <p:sp>
        <p:nvSpPr>
          <p:cNvPr id="4" name="Text 2"/>
          <p:cNvSpPr/>
          <p:nvPr/>
        </p:nvSpPr>
        <p:spPr>
          <a:xfrm>
            <a:off x="731520" y="1036320"/>
            <a:ext cx="107289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 dirty="0">
                <a:solidFill>
                  <a:srgbClr val="1C245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What’s behind it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31520" y="2011680"/>
            <a:ext cx="5120640" cy="1645920"/>
          </a:xfrm>
          <a:prstGeom prst="rect">
            <a:avLst/>
          </a:prstGeom>
          <a:solidFill>
            <a:srgbClr val="FAF8F3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731520" y="2011680"/>
            <a:ext cx="60960" cy="1645920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036320" y="2157984"/>
            <a:ext cx="4511040" cy="390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33" b="1" dirty="0">
                <a:solidFill>
                  <a:srgbClr val="1C24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on R</a:t>
            </a:r>
            <a:endParaRPr lang="en-US" sz="1733" dirty="0"/>
          </a:p>
        </p:txBody>
      </p:sp>
      <p:sp>
        <p:nvSpPr>
          <p:cNvPr id="8" name="Text 6"/>
          <p:cNvSpPr/>
          <p:nvPr/>
        </p:nvSpPr>
        <p:spPr>
          <a:xfrm>
            <a:off x="1036320" y="2563340"/>
            <a:ext cx="4511040" cy="97681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ct val="125000"/>
              </a:lnSpc>
            </a:pPr>
            <a:r>
              <a:rPr lang="en-US" sz="1400" dirty="0">
                <a:solidFill>
                  <a:srgbClr val="5A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Open-source statistical environment used by national statistics offices, central banks, and universities. Every calculation is inspectable. There are no black boxes hiding the calculation mechanics from view.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339840" y="2011680"/>
            <a:ext cx="5120640" cy="1645920"/>
          </a:xfrm>
          <a:prstGeom prst="rect">
            <a:avLst/>
          </a:prstGeom>
          <a:solidFill>
            <a:srgbClr val="FAF8F3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6339840" y="2011680"/>
            <a:ext cx="60960" cy="1645920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6644640" y="2157984"/>
            <a:ext cx="4511040" cy="390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33" b="1" dirty="0">
                <a:solidFill>
                  <a:srgbClr val="1C24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Managed, Fully Secure</a:t>
            </a:r>
            <a:endParaRPr lang="en-US" sz="1733" dirty="0"/>
          </a:p>
        </p:txBody>
      </p:sp>
      <p:sp>
        <p:nvSpPr>
          <p:cNvPr id="12" name="Text 10"/>
          <p:cNvSpPr/>
          <p:nvPr/>
        </p:nvSpPr>
        <p:spPr>
          <a:xfrm>
            <a:off x="6644640" y="2596896"/>
            <a:ext cx="4511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ct val="125000"/>
              </a:lnSpc>
            </a:pPr>
            <a:r>
              <a:rPr lang="en-US" sz="1400" dirty="0">
                <a:solidFill>
                  <a:srgbClr val="5A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send us the data. We handle all preparation, analysis and delivery on our own systems. No third-party platform touches your data. The delivered report is immutable.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31520" y="3962400"/>
            <a:ext cx="5120640" cy="1645920"/>
          </a:xfrm>
          <a:prstGeom prst="rect">
            <a:avLst/>
          </a:prstGeom>
          <a:solidFill>
            <a:srgbClr val="FAF8F3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731520" y="3962400"/>
            <a:ext cx="60960" cy="1645920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1036320" y="4108704"/>
            <a:ext cx="4511040" cy="390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33" b="1" dirty="0">
                <a:solidFill>
                  <a:srgbClr val="1C24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SAMRA Members</a:t>
            </a:r>
            <a:endParaRPr lang="en-US" sz="1733" dirty="0"/>
          </a:p>
        </p:txBody>
      </p:sp>
      <p:sp>
        <p:nvSpPr>
          <p:cNvPr id="16" name="Text 14"/>
          <p:cNvSpPr/>
          <p:nvPr/>
        </p:nvSpPr>
        <p:spPr>
          <a:xfrm>
            <a:off x="1036320" y="4547616"/>
            <a:ext cx="4511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ct val="125000"/>
              </a:lnSpc>
            </a:pPr>
            <a:r>
              <a:rPr lang="en-US" sz="1400" dirty="0">
                <a:solidFill>
                  <a:srgbClr val="5A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Duncan Brett is a SAMRA Accredited Researcher with 30+ years quantitative research experience and we're here for you from data preparation through to interpretation.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339840" y="3962400"/>
            <a:ext cx="5120640" cy="1645920"/>
          </a:xfrm>
          <a:prstGeom prst="rect">
            <a:avLst/>
          </a:prstGeom>
          <a:solidFill>
            <a:srgbClr val="FAF8F3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6339840" y="3962400"/>
            <a:ext cx="60960" cy="1645920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6644640" y="4108704"/>
            <a:ext cx="4511040" cy="390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33" b="1" dirty="0">
                <a:solidFill>
                  <a:srgbClr val="1C24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Subscriptions</a:t>
            </a:r>
            <a:endParaRPr lang="en-US" sz="1733" dirty="0"/>
          </a:p>
        </p:txBody>
      </p:sp>
      <p:sp>
        <p:nvSpPr>
          <p:cNvPr id="20" name="Text 18"/>
          <p:cNvSpPr/>
          <p:nvPr/>
        </p:nvSpPr>
        <p:spPr>
          <a:xfrm>
            <a:off x="6644640" y="4547616"/>
            <a:ext cx="4511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ct val="125000"/>
              </a:lnSpc>
            </a:pPr>
            <a:r>
              <a:rPr lang="en-US" sz="1400" dirty="0">
                <a:solidFill>
                  <a:srgbClr val="5A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 per project. No software to learn, no licences, no installations. Send us a dataset and we deliver an interactive report. 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0" y="6400800"/>
            <a:ext cx="12192000" cy="457200"/>
          </a:xfrm>
          <a:prstGeom prst="rect">
            <a:avLst/>
          </a:prstGeom>
          <a:solidFill>
            <a:srgbClr val="1C2456"/>
          </a:solidFill>
          <a:ln/>
        </p:spPr>
        <p:txBody>
          <a:bodyPr/>
          <a:lstStyle/>
          <a:p>
            <a:endParaRPr lang="en-US" sz="2400" dirty="0"/>
          </a:p>
        </p:txBody>
      </p:sp>
      <p:sp>
        <p:nvSpPr>
          <p:cNvPr id="22" name="Shape 20"/>
          <p:cNvSpPr/>
          <p:nvPr/>
        </p:nvSpPr>
        <p:spPr>
          <a:xfrm>
            <a:off x="0" y="6376416"/>
            <a:ext cx="12192000" cy="24384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 sz="2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D5E082-4A23-3BB2-8312-44ACDAF2B8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8C4D6DFD-186B-9842-B079-BD89D0C361DD}"/>
              </a:ext>
            </a:extLst>
          </p:cNvPr>
          <p:cNvSpPr/>
          <p:nvPr/>
        </p:nvSpPr>
        <p:spPr>
          <a:xfrm>
            <a:off x="4914900" y="2184400"/>
            <a:ext cx="6413500" cy="2286000"/>
          </a:xfrm>
          <a:prstGeom prst="roundRect">
            <a:avLst/>
          </a:prstGeom>
          <a:solidFill>
            <a:srgbClr val="FDF6E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3F99FD8F-E8D9-B746-BB35-7E148A1D75CE}"/>
              </a:ext>
            </a:extLst>
          </p:cNvPr>
          <p:cNvSpPr/>
          <p:nvPr/>
        </p:nvSpPr>
        <p:spPr>
          <a:xfrm>
            <a:off x="914400" y="2184400"/>
            <a:ext cx="3924300" cy="2286000"/>
          </a:xfrm>
          <a:prstGeom prst="roundRect">
            <a:avLst/>
          </a:prstGeom>
          <a:solidFill>
            <a:srgbClr val="F0F1F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38" name="Text 1">
            <a:extLst>
              <a:ext uri="{FF2B5EF4-FFF2-40B4-BE49-F238E27FC236}">
                <a16:creationId xmlns:a16="http://schemas.microsoft.com/office/drawing/2014/main" id="{365E8963-2D87-FCCF-0A82-4FE70351544A}"/>
              </a:ext>
            </a:extLst>
          </p:cNvPr>
          <p:cNvSpPr/>
          <p:nvPr/>
        </p:nvSpPr>
        <p:spPr>
          <a:xfrm>
            <a:off x="731520" y="426720"/>
            <a:ext cx="2438400" cy="341376"/>
          </a:xfrm>
          <a:prstGeom prst="rect">
            <a:avLst/>
          </a:prstGeom>
          <a:solidFill>
            <a:srgbClr val="002060"/>
          </a:solidFill>
          <a:ln/>
        </p:spPr>
        <p:txBody>
          <a:bodyPr wrap="square" rtlCol="0" anchor="ctr"/>
          <a:lstStyle/>
          <a:p>
            <a:pPr algn="ctr"/>
            <a:r>
              <a:rPr lang="en-US" sz="1067" b="1" kern="0" spc="400" dirty="0">
                <a:solidFill>
                  <a:srgbClr val="D4A843"/>
                </a:solidFill>
                <a:latin typeface="Calibri" pitchFamily="34" charset="0"/>
                <a:cs typeface="Calibri" pitchFamily="34" charset="-120"/>
              </a:rPr>
              <a:t>SEE IT IN ACTION</a:t>
            </a:r>
            <a:endParaRPr lang="en-US" sz="1067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F6F26F8-3497-B340-BDB5-59D9388E6451}"/>
              </a:ext>
            </a:extLst>
          </p:cNvPr>
          <p:cNvSpPr txBox="1"/>
          <p:nvPr/>
        </p:nvSpPr>
        <p:spPr>
          <a:xfrm>
            <a:off x="731520" y="914400"/>
            <a:ext cx="10728960" cy="58477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r>
              <a:rPr lang="en-US" sz="3200" b="1" dirty="0">
                <a:solidFill>
                  <a:srgbClr val="1C245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it works</a:t>
            </a:r>
          </a:p>
        </p:txBody>
      </p:sp>
      <p:sp>
        <p:nvSpPr>
          <p:cNvPr id="54" name="Circle 1"/>
          <p:cNvSpPr/>
          <p:nvPr/>
        </p:nvSpPr>
        <p:spPr>
          <a:xfrm>
            <a:off x="1231900" y="2667000"/>
            <a:ext cx="787400" cy="787400"/>
          </a:xfrm>
          <a:prstGeom prst="ellipse">
            <a:avLst/>
          </a:prstGeom>
          <a:solidFill>
            <a:srgbClr val="1C2456"/>
          </a:solidFill>
          <a:ln>
            <a:noFill/>
          </a:ln>
        </p:spPr>
        <p:txBody>
          <a:bodyPr wrap="none" lIns="0" tIns="0" rIns="0" bIns="0" anchor="ctr" anchorCtr="1"/>
          <a:lstStyle/>
          <a:p>
            <a:pPr algn="ctr"/>
            <a:r>
              <a:rPr lang="en-US" sz="2400" b="1" dirty="0">
                <a:solidFill>
                  <a:srgbClr val="FFFFFF"/>
                </a:solidFill>
                <a:latin typeface="Calibri" pitchFamily="34" charset="0"/>
              </a:rPr>
              <a:t>1</a:t>
            </a:r>
          </a:p>
        </p:txBody>
      </p:sp>
      <p:sp>
        <p:nvSpPr>
          <p:cNvPr id="55" name="Circle 2"/>
          <p:cNvSpPr/>
          <p:nvPr/>
        </p:nvSpPr>
        <p:spPr>
          <a:xfrm>
            <a:off x="3263900" y="2667000"/>
            <a:ext cx="787400" cy="787400"/>
          </a:xfrm>
          <a:prstGeom prst="ellipse">
            <a:avLst/>
          </a:prstGeom>
          <a:solidFill>
            <a:srgbClr val="1C2456"/>
          </a:solidFill>
          <a:ln>
            <a:noFill/>
          </a:ln>
        </p:spPr>
        <p:txBody>
          <a:bodyPr wrap="none" lIns="0" tIns="0" rIns="0" bIns="0" anchor="ctr" anchorCtr="1"/>
          <a:lstStyle/>
          <a:p>
            <a:pPr algn="ctr"/>
            <a:r>
              <a:rPr lang="en-US" sz="2400" b="1" dirty="0">
                <a:solidFill>
                  <a:srgbClr val="FFFFFF"/>
                </a:solidFill>
                <a:latin typeface="Calibri" pitchFamily="34" charset="0"/>
              </a:rPr>
              <a:t>2</a:t>
            </a:r>
          </a:p>
        </p:txBody>
      </p:sp>
      <p:sp>
        <p:nvSpPr>
          <p:cNvPr id="56" name="Circle 3"/>
          <p:cNvSpPr/>
          <p:nvPr/>
        </p:nvSpPr>
        <p:spPr>
          <a:xfrm>
            <a:off x="5702300" y="2667000"/>
            <a:ext cx="787400" cy="787400"/>
          </a:xfrm>
          <a:prstGeom prst="ellipse">
            <a:avLst/>
          </a:prstGeom>
          <a:solidFill>
            <a:srgbClr val="D4A843"/>
          </a:solidFill>
          <a:ln>
            <a:noFill/>
          </a:ln>
        </p:spPr>
        <p:txBody>
          <a:bodyPr wrap="none" lIns="0" tIns="0" rIns="0" bIns="0" anchor="ctr" anchorCtr="1"/>
          <a:lstStyle/>
          <a:p>
            <a:pPr algn="ctr"/>
            <a:r>
              <a:rPr lang="en-US" sz="2400" b="1" dirty="0">
                <a:solidFill>
                  <a:srgbClr val="FFFFFF"/>
                </a:solidFill>
                <a:latin typeface="Calibri" pitchFamily="34" charset="0"/>
              </a:rPr>
              <a:t>3</a:t>
            </a:r>
          </a:p>
        </p:txBody>
      </p:sp>
      <p:sp>
        <p:nvSpPr>
          <p:cNvPr id="57" name="Circle 4"/>
          <p:cNvSpPr/>
          <p:nvPr/>
        </p:nvSpPr>
        <p:spPr>
          <a:xfrm>
            <a:off x="8140700" y="2667000"/>
            <a:ext cx="787400" cy="787400"/>
          </a:xfrm>
          <a:prstGeom prst="ellipse">
            <a:avLst/>
          </a:prstGeom>
          <a:solidFill>
            <a:srgbClr val="D4A843"/>
          </a:solidFill>
          <a:ln>
            <a:noFill/>
          </a:ln>
        </p:spPr>
        <p:txBody>
          <a:bodyPr wrap="none" lIns="0" tIns="0" rIns="0" bIns="0" anchor="ctr" anchorCtr="1"/>
          <a:lstStyle/>
          <a:p>
            <a:pPr algn="ctr"/>
            <a:r>
              <a:rPr lang="en-US" sz="2400" b="1" dirty="0">
                <a:solidFill>
                  <a:srgbClr val="FFFFFF"/>
                </a:solidFill>
                <a:latin typeface="Calibri" pitchFamily="34" charset="0"/>
              </a:rPr>
              <a:t>4</a:t>
            </a:r>
          </a:p>
        </p:txBody>
      </p:sp>
      <p:sp>
        <p:nvSpPr>
          <p:cNvPr id="58" name="Circle 5"/>
          <p:cNvSpPr/>
          <p:nvPr/>
        </p:nvSpPr>
        <p:spPr>
          <a:xfrm>
            <a:off x="10172700" y="2667000"/>
            <a:ext cx="787400" cy="787400"/>
          </a:xfrm>
          <a:prstGeom prst="ellipse">
            <a:avLst/>
          </a:prstGeom>
          <a:solidFill>
            <a:srgbClr val="D4A843"/>
          </a:solidFill>
          <a:ln>
            <a:noFill/>
          </a:ln>
        </p:spPr>
        <p:txBody>
          <a:bodyPr wrap="none" lIns="0" tIns="0" rIns="0" bIns="0" anchor="ctr" anchorCtr="1"/>
          <a:lstStyle/>
          <a:p>
            <a:pPr algn="ctr"/>
            <a:r>
              <a:rPr lang="en-US" sz="2400" b="1" dirty="0">
                <a:solidFill>
                  <a:srgbClr val="FFFFFF"/>
                </a:solidFill>
                <a:latin typeface="Calibri" pitchFamily="34" charset="0"/>
              </a:rPr>
              <a:t>5</a:t>
            </a:r>
          </a:p>
        </p:txBody>
      </p:sp>
      <p:sp>
        <p:nvSpPr>
          <p:cNvPr id="59" name="Text 59"/>
          <p:cNvSpPr txBox="1"/>
          <p:nvPr/>
        </p:nvSpPr>
        <p:spPr>
          <a:xfrm>
            <a:off x="2387600" y="2882900"/>
            <a:ext cx="5080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2000" dirty="0">
                <a:solidFill>
                  <a:srgbClr val="1C2456"/>
                </a:solidFill>
                <a:latin typeface="Arial" pitchFamily="34" charset="0"/>
              </a:rPr>
              <a:t>→</a:t>
            </a:r>
          </a:p>
        </p:txBody>
      </p:sp>
      <p:sp>
        <p:nvSpPr>
          <p:cNvPr id="60" name="Text 60"/>
          <p:cNvSpPr txBox="1"/>
          <p:nvPr/>
        </p:nvSpPr>
        <p:spPr>
          <a:xfrm>
            <a:off x="4622800" y="2882900"/>
            <a:ext cx="5080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2000" dirty="0">
                <a:solidFill>
                  <a:srgbClr val="1C2456"/>
                </a:solidFill>
                <a:latin typeface="Arial" pitchFamily="34" charset="0"/>
              </a:rPr>
              <a:t>→</a:t>
            </a:r>
          </a:p>
        </p:txBody>
      </p:sp>
      <p:sp>
        <p:nvSpPr>
          <p:cNvPr id="61" name="Text 61"/>
          <p:cNvSpPr txBox="1"/>
          <p:nvPr/>
        </p:nvSpPr>
        <p:spPr>
          <a:xfrm>
            <a:off x="7061200" y="2882900"/>
            <a:ext cx="5080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2000" dirty="0">
                <a:solidFill>
                  <a:srgbClr val="D4A843"/>
                </a:solidFill>
                <a:latin typeface="Arial" pitchFamily="34" charset="0"/>
              </a:rPr>
              <a:t>→</a:t>
            </a:r>
          </a:p>
        </p:txBody>
      </p:sp>
      <p:sp>
        <p:nvSpPr>
          <p:cNvPr id="62" name="Text 62"/>
          <p:cNvSpPr txBox="1"/>
          <p:nvPr/>
        </p:nvSpPr>
        <p:spPr>
          <a:xfrm>
            <a:off x="9296400" y="2882900"/>
            <a:ext cx="5080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2000" dirty="0">
                <a:solidFill>
                  <a:srgbClr val="D4A843"/>
                </a:solidFill>
                <a:latin typeface="Arial" pitchFamily="34" charset="0"/>
              </a:rPr>
              <a:t>→</a:t>
            </a:r>
          </a:p>
        </p:txBody>
      </p:sp>
      <p:sp>
        <p:nvSpPr>
          <p:cNvPr id="63" name="Text 63"/>
          <p:cNvSpPr txBox="1"/>
          <p:nvPr/>
        </p:nvSpPr>
        <p:spPr>
          <a:xfrm>
            <a:off x="863600" y="3632200"/>
            <a:ext cx="15240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1800" b="1" dirty="0">
                <a:solidFill>
                  <a:srgbClr val="1C2456"/>
                </a:solidFill>
                <a:latin typeface="Calibri" pitchFamily="34" charset="0"/>
              </a:rPr>
              <a:t>Send</a:t>
            </a:r>
          </a:p>
        </p:txBody>
      </p:sp>
      <p:sp>
        <p:nvSpPr>
          <p:cNvPr id="64" name="Text 64"/>
          <p:cNvSpPr txBox="1"/>
          <p:nvPr/>
        </p:nvSpPr>
        <p:spPr>
          <a:xfrm>
            <a:off x="2895600" y="3632200"/>
            <a:ext cx="15240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1800" b="1" dirty="0">
                <a:solidFill>
                  <a:srgbClr val="1C2456"/>
                </a:solidFill>
                <a:latin typeface="Calibri" pitchFamily="34" charset="0"/>
              </a:rPr>
              <a:t>Create</a:t>
            </a:r>
          </a:p>
        </p:txBody>
      </p:sp>
      <p:sp>
        <p:nvSpPr>
          <p:cNvPr id="65" name="Text 65"/>
          <p:cNvSpPr txBox="1"/>
          <p:nvPr/>
        </p:nvSpPr>
        <p:spPr>
          <a:xfrm>
            <a:off x="5334000" y="3632200"/>
            <a:ext cx="15240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1800" b="1" dirty="0">
                <a:solidFill>
                  <a:srgbClr val="1C2456"/>
                </a:solidFill>
                <a:latin typeface="Calibri" pitchFamily="34" charset="0"/>
              </a:rPr>
              <a:t>Explore</a:t>
            </a:r>
          </a:p>
        </p:txBody>
      </p:sp>
      <p:sp>
        <p:nvSpPr>
          <p:cNvPr id="66" name="Text 66"/>
          <p:cNvSpPr txBox="1"/>
          <p:nvPr/>
        </p:nvSpPr>
        <p:spPr>
          <a:xfrm>
            <a:off x="7772400" y="3632200"/>
            <a:ext cx="15240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1800" b="1" dirty="0">
                <a:solidFill>
                  <a:srgbClr val="1C2456"/>
                </a:solidFill>
                <a:latin typeface="Calibri" pitchFamily="34" charset="0"/>
              </a:rPr>
              <a:t>Pin</a:t>
            </a:r>
          </a:p>
        </p:txBody>
      </p:sp>
      <p:sp>
        <p:nvSpPr>
          <p:cNvPr id="67" name="Text 67"/>
          <p:cNvSpPr txBox="1"/>
          <p:nvPr/>
        </p:nvSpPr>
        <p:spPr>
          <a:xfrm>
            <a:off x="9804400" y="3632200"/>
            <a:ext cx="15240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1800" b="1" dirty="0">
                <a:solidFill>
                  <a:srgbClr val="1C2456"/>
                </a:solidFill>
                <a:latin typeface="Calibri" pitchFamily="34" charset="0"/>
              </a:rPr>
              <a:t>Present</a:t>
            </a:r>
          </a:p>
        </p:txBody>
      </p:sp>
      <p:sp>
        <p:nvSpPr>
          <p:cNvPr id="68" name="Text 68"/>
          <p:cNvSpPr txBox="1"/>
          <p:nvPr/>
        </p:nvSpPr>
        <p:spPr>
          <a:xfrm>
            <a:off x="736600" y="4038600"/>
            <a:ext cx="1778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1400" dirty="0">
                <a:solidFill>
                  <a:srgbClr val="3A3F55"/>
                </a:solidFill>
                <a:latin typeface="Calibri" pitchFamily="34" charset="0"/>
              </a:rPr>
              <a:t>Your data</a:t>
            </a:r>
          </a:p>
        </p:txBody>
      </p:sp>
      <p:sp>
        <p:nvSpPr>
          <p:cNvPr id="69" name="Text 69"/>
          <p:cNvSpPr txBox="1"/>
          <p:nvPr/>
        </p:nvSpPr>
        <p:spPr>
          <a:xfrm>
            <a:off x="2768600" y="4038600"/>
            <a:ext cx="1778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1400" dirty="0">
                <a:solidFill>
                  <a:srgbClr val="3A3F55"/>
                </a:solidFill>
                <a:latin typeface="Calibri" pitchFamily="34" charset="0"/>
              </a:rPr>
              <a:t>Your report</a:t>
            </a:r>
          </a:p>
        </p:txBody>
      </p:sp>
      <p:sp>
        <p:nvSpPr>
          <p:cNvPr id="70" name="Text 70"/>
          <p:cNvSpPr txBox="1"/>
          <p:nvPr/>
        </p:nvSpPr>
        <p:spPr>
          <a:xfrm>
            <a:off x="5207000" y="4038600"/>
            <a:ext cx="1778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1400" dirty="0">
                <a:solidFill>
                  <a:srgbClr val="3A3F55"/>
                </a:solidFill>
                <a:latin typeface="Calibri" pitchFamily="34" charset="0"/>
              </a:rPr>
              <a:t>Tables &amp; charts</a:t>
            </a:r>
          </a:p>
        </p:txBody>
      </p:sp>
      <p:sp>
        <p:nvSpPr>
          <p:cNvPr id="71" name="Text 71"/>
          <p:cNvSpPr txBox="1"/>
          <p:nvPr/>
        </p:nvSpPr>
        <p:spPr>
          <a:xfrm>
            <a:off x="7645400" y="4038600"/>
            <a:ext cx="1778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1400" dirty="0">
                <a:solidFill>
                  <a:srgbClr val="3A3F55"/>
                </a:solidFill>
                <a:latin typeface="Calibri" pitchFamily="34" charset="0"/>
              </a:rPr>
              <a:t>Key findings</a:t>
            </a:r>
          </a:p>
        </p:txBody>
      </p:sp>
      <p:sp>
        <p:nvSpPr>
          <p:cNvPr id="72" name="Text 72"/>
          <p:cNvSpPr txBox="1"/>
          <p:nvPr/>
        </p:nvSpPr>
        <p:spPr>
          <a:xfrm>
            <a:off x="9677400" y="4038600"/>
            <a:ext cx="1778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1400" dirty="0">
                <a:solidFill>
                  <a:srgbClr val="3A3F55"/>
                </a:solidFill>
                <a:latin typeface="Calibri" pitchFamily="34" charset="0"/>
              </a:rPr>
              <a:t>Your story</a:t>
            </a:r>
          </a:p>
        </p:txBody>
      </p:sp>
      <p:sp>
        <p:nvSpPr>
          <p:cNvPr id="73" name="Tagline"/>
          <p:cNvSpPr txBox="1"/>
          <p:nvPr/>
        </p:nvSpPr>
        <p:spPr>
          <a:xfrm>
            <a:off x="1219200" y="5397500"/>
            <a:ext cx="9753600" cy="609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1800" i="1" dirty="0">
                <a:solidFill>
                  <a:srgbClr val="B8922F"/>
                </a:solidFill>
                <a:latin typeface="Georgia" pitchFamily="34" charset="0"/>
              </a:rPr>
              <a:t>You send the data. We build the report. You explore the story.</a:t>
            </a:r>
          </a:p>
        </p:txBody>
      </p:sp>
      <p:sp>
        <p:nvSpPr>
          <p:cNvPr id="74" name="AccentLine"/>
          <p:cNvSpPr/>
          <p:nvPr/>
        </p:nvSpPr>
        <p:spPr>
          <a:xfrm>
            <a:off x="1104900" y="5080000"/>
            <a:ext cx="9982200" cy="1905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1BB3A0E-25ED-AF43-9384-9F9531E903D9}"/>
              </a:ext>
            </a:extLst>
          </p:cNvPr>
          <p:cNvSpPr txBox="1"/>
          <p:nvPr/>
        </p:nvSpPr>
        <p:spPr>
          <a:xfrm>
            <a:off x="1016000" y="2222500"/>
            <a:ext cx="37338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b="1" dirty="0">
                <a:solidFill>
                  <a:srgbClr val="1C2456"/>
                </a:solidFill>
                <a:latin typeface="Calibri"/>
                <a:cs typeface="Calibri"/>
              </a:rPr>
              <a:t>WE DO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5B2F7A7-6BFE-064D-A96B-BFF124C04F40}"/>
              </a:ext>
            </a:extLst>
          </p:cNvPr>
          <p:cNvSpPr txBox="1"/>
          <p:nvPr/>
        </p:nvSpPr>
        <p:spPr>
          <a:xfrm>
            <a:off x="4991100" y="2222500"/>
            <a:ext cx="62738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b="1" dirty="0">
                <a:solidFill>
                  <a:srgbClr val="1C2456"/>
                </a:solidFill>
                <a:latin typeface="Calibri"/>
                <a:cs typeface="Calibri"/>
              </a:rPr>
              <a:t>YOU DO</a:t>
            </a:r>
          </a:p>
        </p:txBody>
      </p:sp>
      <p:sp>
        <p:nvSpPr>
          <p:cNvPr id="21" name="Shape 19">
            <a:extLst>
              <a:ext uri="{FF2B5EF4-FFF2-40B4-BE49-F238E27FC236}">
                <a16:creationId xmlns:a16="http://schemas.microsoft.com/office/drawing/2014/main" id="{EEEB508C-908B-9B3C-B9C7-DA5823585E41}"/>
              </a:ext>
            </a:extLst>
          </p:cNvPr>
          <p:cNvSpPr/>
          <p:nvPr/>
        </p:nvSpPr>
        <p:spPr>
          <a:xfrm>
            <a:off x="0" y="6400800"/>
            <a:ext cx="12192000" cy="457200"/>
          </a:xfrm>
          <a:prstGeom prst="rect">
            <a:avLst/>
          </a:prstGeom>
          <a:solidFill>
            <a:srgbClr val="1C2456"/>
          </a:solidFill>
          <a:ln/>
        </p:spPr>
        <p:txBody>
          <a:bodyPr/>
          <a:lstStyle/>
          <a:p>
            <a:endParaRPr lang="en-US" sz="2400" dirty="0"/>
          </a:p>
        </p:txBody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DA107A50-3800-9656-A1FA-F9C9BB262D30}"/>
              </a:ext>
            </a:extLst>
          </p:cNvPr>
          <p:cNvSpPr/>
          <p:nvPr/>
        </p:nvSpPr>
        <p:spPr>
          <a:xfrm>
            <a:off x="0" y="6376416"/>
            <a:ext cx="12192000" cy="24384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3795301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26720"/>
            <a:ext cx="2194560" cy="341376"/>
          </a:xfrm>
          <a:prstGeom prst="rect">
            <a:avLst/>
          </a:prstGeom>
          <a:solidFill>
            <a:srgbClr val="1C2456"/>
          </a:solidFill>
          <a:ln/>
        </p:spPr>
        <p:txBody>
          <a:bodyPr/>
          <a:lstStyle/>
          <a:p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731520" y="426720"/>
            <a:ext cx="21945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067" b="1" kern="0" spc="400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</a:t>
            </a:r>
            <a:endParaRPr lang="en-US" sz="1067" dirty="0"/>
          </a:p>
        </p:txBody>
      </p:sp>
      <p:sp>
        <p:nvSpPr>
          <p:cNvPr id="4" name="Text 2"/>
          <p:cNvSpPr/>
          <p:nvPr/>
        </p:nvSpPr>
        <p:spPr>
          <a:xfrm>
            <a:off x="731520" y="950976"/>
            <a:ext cx="7315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933" b="1" dirty="0">
                <a:solidFill>
                  <a:srgbClr val="1C245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Turas can analyse</a:t>
            </a:r>
            <a:endParaRPr lang="en-US" sz="2933" dirty="0"/>
          </a:p>
        </p:txBody>
      </p:sp>
      <p:sp>
        <p:nvSpPr>
          <p:cNvPr id="5" name="Text 3"/>
          <p:cNvSpPr/>
          <p:nvPr/>
        </p:nvSpPr>
        <p:spPr>
          <a:xfrm>
            <a:off x="731520" y="1414272"/>
            <a:ext cx="1072896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33" i="1" dirty="0">
                <a:solidFill>
                  <a:srgbClr val="5A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select and configure the right modules for your project and deliver them in a single interactive report</a:t>
            </a:r>
            <a:endParaRPr lang="en-US" sz="1333" dirty="0"/>
          </a:p>
        </p:txBody>
      </p:sp>
      <p:sp>
        <p:nvSpPr>
          <p:cNvPr id="6" name="Text 4"/>
          <p:cNvSpPr/>
          <p:nvPr/>
        </p:nvSpPr>
        <p:spPr>
          <a:xfrm>
            <a:off x="731520" y="1853184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33" b="1" kern="0" spc="333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</a:t>
            </a:r>
            <a:endParaRPr lang="en-US" sz="933" dirty="0"/>
          </a:p>
        </p:txBody>
      </p:sp>
      <p:sp>
        <p:nvSpPr>
          <p:cNvPr id="7" name="Shape 5"/>
          <p:cNvSpPr/>
          <p:nvPr/>
        </p:nvSpPr>
        <p:spPr>
          <a:xfrm>
            <a:off x="731520" y="2097024"/>
            <a:ext cx="2499360" cy="950976"/>
          </a:xfrm>
          <a:prstGeom prst="rect">
            <a:avLst/>
          </a:prstGeom>
          <a:solidFill>
            <a:srgbClr val="FAF8F3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731520" y="2097024"/>
            <a:ext cx="2499360" cy="36576"/>
          </a:xfrm>
          <a:prstGeom prst="rect">
            <a:avLst/>
          </a:prstGeom>
          <a:solidFill>
            <a:srgbClr val="1C2456"/>
          </a:solidFill>
          <a:ln/>
        </p:spPr>
        <p:txBody>
          <a:bodyPr/>
          <a:lstStyle/>
          <a:p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877824" y="2182368"/>
            <a:ext cx="22067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b="1" dirty="0">
                <a:solidFill>
                  <a:srgbClr val="1C24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Tabs</a:t>
            </a:r>
            <a:endParaRPr lang="en-US" sz="1467" dirty="0"/>
          </a:p>
        </p:txBody>
      </p:sp>
      <p:sp>
        <p:nvSpPr>
          <p:cNvPr id="10" name="Text 8"/>
          <p:cNvSpPr/>
          <p:nvPr/>
        </p:nvSpPr>
        <p:spPr>
          <a:xfrm>
            <a:off x="877824" y="2499360"/>
            <a:ext cx="220675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5000"/>
              </a:lnSpc>
            </a:pPr>
            <a:r>
              <a:rPr lang="en-US" sz="1133" dirty="0">
                <a:solidFill>
                  <a:srgbClr val="5A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crosstabs with</a:t>
            </a:r>
            <a:endParaRPr lang="en-US" sz="1133" dirty="0"/>
          </a:p>
          <a:p>
            <a:pPr>
              <a:lnSpc>
                <a:spcPct val="115000"/>
              </a:lnSpc>
            </a:pPr>
            <a:r>
              <a:rPr lang="en-US" sz="1133" dirty="0">
                <a:solidFill>
                  <a:srgbClr val="5A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significance testing</a:t>
            </a:r>
            <a:endParaRPr lang="en-US" sz="1133" dirty="0"/>
          </a:p>
        </p:txBody>
      </p:sp>
      <p:sp>
        <p:nvSpPr>
          <p:cNvPr id="11" name="Shape 9"/>
          <p:cNvSpPr/>
          <p:nvPr/>
        </p:nvSpPr>
        <p:spPr>
          <a:xfrm>
            <a:off x="3413760" y="2097024"/>
            <a:ext cx="2499360" cy="950976"/>
          </a:xfrm>
          <a:prstGeom prst="rect">
            <a:avLst/>
          </a:prstGeom>
          <a:solidFill>
            <a:srgbClr val="FAF8F3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3413760" y="2097024"/>
            <a:ext cx="2499360" cy="36576"/>
          </a:xfrm>
          <a:prstGeom prst="rect">
            <a:avLst/>
          </a:prstGeom>
          <a:solidFill>
            <a:srgbClr val="1C2456"/>
          </a:solidFill>
          <a:ln/>
        </p:spPr>
        <p:txBody>
          <a:bodyPr/>
          <a:lstStyle/>
          <a:p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3560064" y="2182368"/>
            <a:ext cx="22067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b="1" dirty="0">
                <a:solidFill>
                  <a:srgbClr val="1C24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Tracker</a:t>
            </a:r>
            <a:endParaRPr lang="en-US" sz="1467" dirty="0"/>
          </a:p>
        </p:txBody>
      </p:sp>
      <p:sp>
        <p:nvSpPr>
          <p:cNvPr id="14" name="Text 12"/>
          <p:cNvSpPr/>
          <p:nvPr/>
        </p:nvSpPr>
        <p:spPr>
          <a:xfrm>
            <a:off x="3560064" y="2499360"/>
            <a:ext cx="220675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5000"/>
              </a:lnSpc>
            </a:pPr>
            <a:r>
              <a:rPr lang="en-US" sz="1133" dirty="0">
                <a:solidFill>
                  <a:srgbClr val="5A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Multi-wave trend analysis</a:t>
            </a:r>
            <a:endParaRPr lang="en-US" sz="1133" dirty="0"/>
          </a:p>
          <a:p>
            <a:pPr>
              <a:lnSpc>
                <a:spcPct val="115000"/>
              </a:lnSpc>
            </a:pPr>
            <a:r>
              <a:rPr lang="en-US" sz="1133" dirty="0">
                <a:solidFill>
                  <a:srgbClr val="5A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tracking waves</a:t>
            </a:r>
            <a:endParaRPr lang="en-US" sz="1133" dirty="0"/>
          </a:p>
        </p:txBody>
      </p:sp>
      <p:sp>
        <p:nvSpPr>
          <p:cNvPr id="15" name="Shape 13"/>
          <p:cNvSpPr/>
          <p:nvPr/>
        </p:nvSpPr>
        <p:spPr>
          <a:xfrm>
            <a:off x="6096000" y="2097024"/>
            <a:ext cx="2499360" cy="950976"/>
          </a:xfrm>
          <a:prstGeom prst="rect">
            <a:avLst/>
          </a:prstGeom>
          <a:solidFill>
            <a:srgbClr val="FAF8F3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6096000" y="2097024"/>
            <a:ext cx="2499360" cy="36576"/>
          </a:xfrm>
          <a:prstGeom prst="rect">
            <a:avLst/>
          </a:prstGeom>
          <a:solidFill>
            <a:srgbClr val="1C2456"/>
          </a:solidFill>
          <a:ln/>
        </p:spPr>
        <p:txBody>
          <a:bodyPr/>
          <a:lstStyle/>
          <a:p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6242304" y="2182368"/>
            <a:ext cx="22067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b="1" dirty="0">
                <a:solidFill>
                  <a:srgbClr val="1C24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Weighting</a:t>
            </a:r>
            <a:endParaRPr lang="en-US" sz="1467" dirty="0"/>
          </a:p>
        </p:txBody>
      </p:sp>
      <p:sp>
        <p:nvSpPr>
          <p:cNvPr id="18" name="Text 16"/>
          <p:cNvSpPr/>
          <p:nvPr/>
        </p:nvSpPr>
        <p:spPr>
          <a:xfrm>
            <a:off x="6242304" y="2499360"/>
            <a:ext cx="220675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5000"/>
              </a:lnSpc>
            </a:pPr>
            <a:r>
              <a:rPr lang="en-US" sz="1133" dirty="0">
                <a:solidFill>
                  <a:srgbClr val="5A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population</a:t>
            </a:r>
            <a:endParaRPr lang="en-US" sz="1133" dirty="0"/>
          </a:p>
          <a:p>
            <a:pPr>
              <a:lnSpc>
                <a:spcPct val="115000"/>
              </a:lnSpc>
            </a:pPr>
            <a:r>
              <a:rPr lang="en-US" sz="1133" dirty="0">
                <a:solidFill>
                  <a:srgbClr val="5A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representation</a:t>
            </a:r>
            <a:endParaRPr lang="en-US" sz="1133" dirty="0"/>
          </a:p>
        </p:txBody>
      </p:sp>
      <p:sp>
        <p:nvSpPr>
          <p:cNvPr id="19" name="Shape 17"/>
          <p:cNvSpPr/>
          <p:nvPr/>
        </p:nvSpPr>
        <p:spPr>
          <a:xfrm>
            <a:off x="8778240" y="2097024"/>
            <a:ext cx="2499360" cy="950976"/>
          </a:xfrm>
          <a:prstGeom prst="rect">
            <a:avLst/>
          </a:prstGeom>
          <a:solidFill>
            <a:srgbClr val="FAF8F3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sz="2400" dirty="0"/>
          </a:p>
        </p:txBody>
      </p:sp>
      <p:sp>
        <p:nvSpPr>
          <p:cNvPr id="20" name="Shape 18"/>
          <p:cNvSpPr/>
          <p:nvPr/>
        </p:nvSpPr>
        <p:spPr>
          <a:xfrm>
            <a:off x="8778240" y="2097024"/>
            <a:ext cx="2499360" cy="36576"/>
          </a:xfrm>
          <a:prstGeom prst="rect">
            <a:avLst/>
          </a:prstGeom>
          <a:solidFill>
            <a:srgbClr val="1C2456"/>
          </a:solidFill>
          <a:ln/>
        </p:spPr>
        <p:txBody>
          <a:bodyPr/>
          <a:lstStyle/>
          <a:p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8924544" y="2182368"/>
            <a:ext cx="22067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b="1" dirty="0">
                <a:solidFill>
                  <a:srgbClr val="1C24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</a:t>
            </a:r>
            <a:endParaRPr lang="en-US" sz="1467" dirty="0"/>
          </a:p>
        </p:txBody>
      </p:sp>
      <p:sp>
        <p:nvSpPr>
          <p:cNvPr id="22" name="Text 20"/>
          <p:cNvSpPr/>
          <p:nvPr/>
        </p:nvSpPr>
        <p:spPr>
          <a:xfrm>
            <a:off x="8924544" y="2499360"/>
            <a:ext cx="220675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5000"/>
              </a:lnSpc>
            </a:pPr>
            <a:r>
              <a:rPr lang="en-US" sz="1133" dirty="0">
                <a:solidFill>
                  <a:srgbClr val="5A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Rigorous validity testing</a:t>
            </a:r>
            <a:endParaRPr lang="en-US" sz="1133" dirty="0"/>
          </a:p>
          <a:p>
            <a:pPr>
              <a:lnSpc>
                <a:spcPct val="115000"/>
              </a:lnSpc>
            </a:pPr>
            <a:r>
              <a:rPr lang="en-US" sz="1133" dirty="0">
                <a:solidFill>
                  <a:srgbClr val="5A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plain-language callouts</a:t>
            </a:r>
            <a:endParaRPr lang="en-US" sz="1133" dirty="0"/>
          </a:p>
        </p:txBody>
      </p:sp>
      <p:sp>
        <p:nvSpPr>
          <p:cNvPr id="23" name="Text 21"/>
          <p:cNvSpPr/>
          <p:nvPr/>
        </p:nvSpPr>
        <p:spPr>
          <a:xfrm>
            <a:off x="731520" y="3243072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33" b="1" kern="0" spc="333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</a:t>
            </a:r>
            <a:endParaRPr lang="en-US" sz="933" dirty="0"/>
          </a:p>
        </p:txBody>
      </p:sp>
      <p:sp>
        <p:nvSpPr>
          <p:cNvPr id="24" name="Shape 22"/>
          <p:cNvSpPr/>
          <p:nvPr/>
        </p:nvSpPr>
        <p:spPr>
          <a:xfrm>
            <a:off x="731520" y="3486912"/>
            <a:ext cx="2499360" cy="950976"/>
          </a:xfrm>
          <a:prstGeom prst="rect">
            <a:avLst/>
          </a:prstGeom>
          <a:solidFill>
            <a:srgbClr val="1C2456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sz="2400" dirty="0"/>
          </a:p>
        </p:txBody>
      </p:sp>
      <p:sp>
        <p:nvSpPr>
          <p:cNvPr id="25" name="Shape 23"/>
          <p:cNvSpPr/>
          <p:nvPr/>
        </p:nvSpPr>
        <p:spPr>
          <a:xfrm>
            <a:off x="731520" y="3486912"/>
            <a:ext cx="2499360" cy="36576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 sz="2400" dirty="0"/>
          </a:p>
        </p:txBody>
      </p:sp>
      <p:sp>
        <p:nvSpPr>
          <p:cNvPr id="26" name="Text 24"/>
          <p:cNvSpPr/>
          <p:nvPr/>
        </p:nvSpPr>
        <p:spPr>
          <a:xfrm>
            <a:off x="877824" y="3572256"/>
            <a:ext cx="22067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Driver</a:t>
            </a:r>
            <a:endParaRPr lang="en-US" sz="1467" dirty="0"/>
          </a:p>
        </p:txBody>
      </p:sp>
      <p:sp>
        <p:nvSpPr>
          <p:cNvPr id="27" name="Text 25"/>
          <p:cNvSpPr/>
          <p:nvPr/>
        </p:nvSpPr>
        <p:spPr>
          <a:xfrm>
            <a:off x="877824" y="3889248"/>
            <a:ext cx="220675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5000"/>
              </a:lnSpc>
            </a:pPr>
            <a:r>
              <a:rPr lang="en-US" sz="1133" dirty="0">
                <a:solidFill>
                  <a:srgbClr val="A8AE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Strongest factors driving</a:t>
            </a:r>
            <a:endParaRPr lang="en-US" sz="1133" dirty="0"/>
          </a:p>
          <a:p>
            <a:pPr>
              <a:lnSpc>
                <a:spcPct val="115000"/>
              </a:lnSpc>
            </a:pPr>
            <a:r>
              <a:rPr lang="en-US" sz="1133" dirty="0">
                <a:solidFill>
                  <a:srgbClr val="A8AE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outcomes</a:t>
            </a:r>
            <a:endParaRPr lang="en-US" sz="1133" dirty="0"/>
          </a:p>
        </p:txBody>
      </p:sp>
      <p:sp>
        <p:nvSpPr>
          <p:cNvPr id="28" name="Shape 26"/>
          <p:cNvSpPr/>
          <p:nvPr/>
        </p:nvSpPr>
        <p:spPr>
          <a:xfrm>
            <a:off x="3413760" y="3486912"/>
            <a:ext cx="2499360" cy="950976"/>
          </a:xfrm>
          <a:prstGeom prst="rect">
            <a:avLst/>
          </a:prstGeom>
          <a:solidFill>
            <a:srgbClr val="1C2456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sz="2400" dirty="0"/>
          </a:p>
        </p:txBody>
      </p:sp>
      <p:sp>
        <p:nvSpPr>
          <p:cNvPr id="29" name="Shape 27"/>
          <p:cNvSpPr/>
          <p:nvPr/>
        </p:nvSpPr>
        <p:spPr>
          <a:xfrm>
            <a:off x="3413760" y="3486912"/>
            <a:ext cx="2499360" cy="36576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 sz="2400" dirty="0"/>
          </a:p>
        </p:txBody>
      </p:sp>
      <p:sp>
        <p:nvSpPr>
          <p:cNvPr id="30" name="Text 28"/>
          <p:cNvSpPr/>
          <p:nvPr/>
        </p:nvSpPr>
        <p:spPr>
          <a:xfrm>
            <a:off x="3560064" y="3572256"/>
            <a:ext cx="22067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Categorical Key Driver</a:t>
            </a:r>
            <a:endParaRPr lang="en-US" sz="1467" dirty="0"/>
          </a:p>
        </p:txBody>
      </p:sp>
      <p:sp>
        <p:nvSpPr>
          <p:cNvPr id="31" name="Text 29"/>
          <p:cNvSpPr/>
          <p:nvPr/>
        </p:nvSpPr>
        <p:spPr>
          <a:xfrm>
            <a:off x="3560064" y="3889248"/>
            <a:ext cx="220675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5000"/>
              </a:lnSpc>
            </a:pPr>
            <a:r>
              <a:rPr lang="en-US" sz="1133" dirty="0">
                <a:solidFill>
                  <a:srgbClr val="A8AE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Ordinal logistic regression</a:t>
            </a:r>
            <a:endParaRPr lang="en-US" sz="1133" dirty="0"/>
          </a:p>
          <a:p>
            <a:pPr>
              <a:lnSpc>
                <a:spcPct val="115000"/>
              </a:lnSpc>
            </a:pPr>
            <a:r>
              <a:rPr lang="en-US" sz="1133" dirty="0">
                <a:solidFill>
                  <a:srgbClr val="A8AE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categorical outcomes</a:t>
            </a:r>
            <a:endParaRPr lang="en-US" sz="1133" dirty="0"/>
          </a:p>
        </p:txBody>
      </p:sp>
      <p:sp>
        <p:nvSpPr>
          <p:cNvPr id="32" name="Shape 30"/>
          <p:cNvSpPr/>
          <p:nvPr/>
        </p:nvSpPr>
        <p:spPr>
          <a:xfrm>
            <a:off x="6096000" y="3486912"/>
            <a:ext cx="2499360" cy="950976"/>
          </a:xfrm>
          <a:prstGeom prst="rect">
            <a:avLst/>
          </a:prstGeom>
          <a:solidFill>
            <a:srgbClr val="1C2456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sz="2400" dirty="0"/>
          </a:p>
        </p:txBody>
      </p:sp>
      <p:sp>
        <p:nvSpPr>
          <p:cNvPr id="33" name="Shape 31"/>
          <p:cNvSpPr/>
          <p:nvPr/>
        </p:nvSpPr>
        <p:spPr>
          <a:xfrm>
            <a:off x="6096000" y="3486912"/>
            <a:ext cx="2499360" cy="36576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 sz="2400" dirty="0"/>
          </a:p>
        </p:txBody>
      </p:sp>
      <p:sp>
        <p:nvSpPr>
          <p:cNvPr id="34" name="Text 32"/>
          <p:cNvSpPr/>
          <p:nvPr/>
        </p:nvSpPr>
        <p:spPr>
          <a:xfrm>
            <a:off x="6242304" y="3572256"/>
            <a:ext cx="22067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Segmentation</a:t>
            </a:r>
            <a:endParaRPr lang="en-US" sz="1467" dirty="0"/>
          </a:p>
        </p:txBody>
      </p:sp>
      <p:sp>
        <p:nvSpPr>
          <p:cNvPr id="35" name="Text 33"/>
          <p:cNvSpPr/>
          <p:nvPr/>
        </p:nvSpPr>
        <p:spPr>
          <a:xfrm>
            <a:off x="6242304" y="3889248"/>
            <a:ext cx="220675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5000"/>
              </a:lnSpc>
            </a:pPr>
            <a:r>
              <a:rPr lang="en-US" sz="1133" dirty="0">
                <a:solidFill>
                  <a:srgbClr val="A8AE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Statistical clustering</a:t>
            </a:r>
            <a:endParaRPr lang="en-US" sz="1133" dirty="0"/>
          </a:p>
          <a:p>
            <a:pPr>
              <a:lnSpc>
                <a:spcPct val="115000"/>
              </a:lnSpc>
            </a:pPr>
            <a:r>
              <a:rPr lang="en-US" sz="1133" dirty="0">
                <a:solidFill>
                  <a:srgbClr val="A8AE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customer groups</a:t>
            </a:r>
            <a:endParaRPr lang="en-US" sz="1133" dirty="0"/>
          </a:p>
        </p:txBody>
      </p:sp>
      <p:sp>
        <p:nvSpPr>
          <p:cNvPr id="36" name="Text 34"/>
          <p:cNvSpPr/>
          <p:nvPr/>
        </p:nvSpPr>
        <p:spPr>
          <a:xfrm>
            <a:off x="731520" y="4632960"/>
            <a:ext cx="304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33" b="1" kern="0" spc="333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CHOICE &amp; PRICING</a:t>
            </a:r>
            <a:endParaRPr lang="en-US" sz="933" dirty="0"/>
          </a:p>
        </p:txBody>
      </p:sp>
      <p:sp>
        <p:nvSpPr>
          <p:cNvPr id="37" name="Shape 35"/>
          <p:cNvSpPr/>
          <p:nvPr/>
        </p:nvSpPr>
        <p:spPr>
          <a:xfrm>
            <a:off x="731520" y="4876800"/>
            <a:ext cx="2499360" cy="950976"/>
          </a:xfrm>
          <a:prstGeom prst="rect">
            <a:avLst/>
          </a:prstGeom>
          <a:solidFill>
            <a:srgbClr val="1C2456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sz="2400" dirty="0"/>
          </a:p>
        </p:txBody>
      </p:sp>
      <p:sp>
        <p:nvSpPr>
          <p:cNvPr id="38" name="Shape 36"/>
          <p:cNvSpPr/>
          <p:nvPr/>
        </p:nvSpPr>
        <p:spPr>
          <a:xfrm>
            <a:off x="731520" y="4876800"/>
            <a:ext cx="2499360" cy="36576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 sz="2400" dirty="0"/>
          </a:p>
        </p:txBody>
      </p:sp>
      <p:sp>
        <p:nvSpPr>
          <p:cNvPr id="39" name="Text 37"/>
          <p:cNvSpPr/>
          <p:nvPr/>
        </p:nvSpPr>
        <p:spPr>
          <a:xfrm>
            <a:off x="877824" y="4962144"/>
            <a:ext cx="22067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Conjoint</a:t>
            </a:r>
            <a:endParaRPr lang="en-US" sz="1467" dirty="0"/>
          </a:p>
        </p:txBody>
      </p:sp>
      <p:sp>
        <p:nvSpPr>
          <p:cNvPr id="40" name="Text 38"/>
          <p:cNvSpPr/>
          <p:nvPr/>
        </p:nvSpPr>
        <p:spPr>
          <a:xfrm>
            <a:off x="877824" y="5279136"/>
            <a:ext cx="220675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5000"/>
              </a:lnSpc>
            </a:pPr>
            <a:r>
              <a:rPr lang="en-US" sz="1133" dirty="0">
                <a:solidFill>
                  <a:srgbClr val="A8AE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Choice modelling with</a:t>
            </a:r>
            <a:endParaRPr lang="en-US" sz="1133" dirty="0"/>
          </a:p>
          <a:p>
            <a:pPr>
              <a:lnSpc>
                <a:spcPct val="115000"/>
              </a:lnSpc>
            </a:pPr>
            <a:r>
              <a:rPr lang="en-US" sz="1133" dirty="0">
                <a:solidFill>
                  <a:srgbClr val="A8AE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market simulator</a:t>
            </a:r>
            <a:endParaRPr lang="en-US" sz="1133" dirty="0"/>
          </a:p>
        </p:txBody>
      </p:sp>
      <p:sp>
        <p:nvSpPr>
          <p:cNvPr id="41" name="Shape 39"/>
          <p:cNvSpPr/>
          <p:nvPr/>
        </p:nvSpPr>
        <p:spPr>
          <a:xfrm>
            <a:off x="3413760" y="4876800"/>
            <a:ext cx="2499360" cy="950976"/>
          </a:xfrm>
          <a:prstGeom prst="rect">
            <a:avLst/>
          </a:prstGeom>
          <a:solidFill>
            <a:srgbClr val="1C2456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sz="2400" dirty="0"/>
          </a:p>
        </p:txBody>
      </p:sp>
      <p:sp>
        <p:nvSpPr>
          <p:cNvPr id="42" name="Shape 40"/>
          <p:cNvSpPr/>
          <p:nvPr/>
        </p:nvSpPr>
        <p:spPr>
          <a:xfrm>
            <a:off x="3413760" y="4876800"/>
            <a:ext cx="2499360" cy="36576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 sz="2400" dirty="0"/>
          </a:p>
        </p:txBody>
      </p:sp>
      <p:sp>
        <p:nvSpPr>
          <p:cNvPr id="43" name="Text 41"/>
          <p:cNvSpPr/>
          <p:nvPr/>
        </p:nvSpPr>
        <p:spPr>
          <a:xfrm>
            <a:off x="3560064" y="4962144"/>
            <a:ext cx="22067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MaxDiff</a:t>
            </a:r>
            <a:endParaRPr lang="en-US" sz="1467" dirty="0"/>
          </a:p>
        </p:txBody>
      </p:sp>
      <p:sp>
        <p:nvSpPr>
          <p:cNvPr id="44" name="Text 42"/>
          <p:cNvSpPr/>
          <p:nvPr/>
        </p:nvSpPr>
        <p:spPr>
          <a:xfrm>
            <a:off x="3560064" y="5279136"/>
            <a:ext cx="220675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5000"/>
              </a:lnSpc>
            </a:pPr>
            <a:r>
              <a:rPr lang="en-US" sz="1133" dirty="0">
                <a:solidFill>
                  <a:srgbClr val="A8AE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Precise preference rankings</a:t>
            </a:r>
            <a:endParaRPr lang="en-US" sz="1133" dirty="0"/>
          </a:p>
          <a:p>
            <a:pPr>
              <a:lnSpc>
                <a:spcPct val="115000"/>
              </a:lnSpc>
            </a:pPr>
            <a:r>
              <a:rPr lang="en-US" sz="1133" dirty="0">
                <a:solidFill>
                  <a:srgbClr val="A8AE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interactive simulator</a:t>
            </a:r>
            <a:endParaRPr lang="en-US" sz="1133" dirty="0"/>
          </a:p>
        </p:txBody>
      </p:sp>
      <p:sp>
        <p:nvSpPr>
          <p:cNvPr id="45" name="Shape 43"/>
          <p:cNvSpPr/>
          <p:nvPr/>
        </p:nvSpPr>
        <p:spPr>
          <a:xfrm>
            <a:off x="6096000" y="4876800"/>
            <a:ext cx="2499360" cy="950976"/>
          </a:xfrm>
          <a:prstGeom prst="rect">
            <a:avLst/>
          </a:prstGeom>
          <a:solidFill>
            <a:srgbClr val="1C2456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sz="2400" dirty="0"/>
          </a:p>
        </p:txBody>
      </p:sp>
      <p:sp>
        <p:nvSpPr>
          <p:cNvPr id="46" name="Shape 44"/>
          <p:cNvSpPr/>
          <p:nvPr/>
        </p:nvSpPr>
        <p:spPr>
          <a:xfrm>
            <a:off x="6096000" y="4876800"/>
            <a:ext cx="2499360" cy="36576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 sz="2400" dirty="0"/>
          </a:p>
        </p:txBody>
      </p:sp>
      <p:sp>
        <p:nvSpPr>
          <p:cNvPr id="47" name="Text 45"/>
          <p:cNvSpPr/>
          <p:nvPr/>
        </p:nvSpPr>
        <p:spPr>
          <a:xfrm>
            <a:off x="6242304" y="4962144"/>
            <a:ext cx="22067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Pricing</a:t>
            </a:r>
            <a:endParaRPr lang="en-US" sz="1467" dirty="0"/>
          </a:p>
        </p:txBody>
      </p:sp>
      <p:sp>
        <p:nvSpPr>
          <p:cNvPr id="48" name="Text 46"/>
          <p:cNvSpPr/>
          <p:nvPr/>
        </p:nvSpPr>
        <p:spPr>
          <a:xfrm>
            <a:off x="6242304" y="5279136"/>
            <a:ext cx="220675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5000"/>
              </a:lnSpc>
            </a:pPr>
            <a:r>
              <a:rPr lang="en-US" sz="1133" dirty="0">
                <a:solidFill>
                  <a:srgbClr val="A8AE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 Westendorp, Gabor-Granger</a:t>
            </a:r>
            <a:endParaRPr lang="en-US" sz="1133" dirty="0"/>
          </a:p>
          <a:p>
            <a:pPr>
              <a:lnSpc>
                <a:spcPct val="115000"/>
              </a:lnSpc>
            </a:pPr>
            <a:r>
              <a:rPr lang="en-US" sz="1133" dirty="0">
                <a:solidFill>
                  <a:srgbClr val="A8AE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monadic price models</a:t>
            </a:r>
            <a:endParaRPr lang="en-US" sz="1133" dirty="0"/>
          </a:p>
        </p:txBody>
      </p:sp>
      <p:sp>
        <p:nvSpPr>
          <p:cNvPr id="49" name="Shape 47"/>
          <p:cNvSpPr/>
          <p:nvPr/>
        </p:nvSpPr>
        <p:spPr>
          <a:xfrm>
            <a:off x="0" y="6400800"/>
            <a:ext cx="12192000" cy="457200"/>
          </a:xfrm>
          <a:prstGeom prst="rect">
            <a:avLst/>
          </a:prstGeom>
          <a:solidFill>
            <a:srgbClr val="1C2456"/>
          </a:solidFill>
          <a:ln/>
        </p:spPr>
        <p:txBody>
          <a:bodyPr/>
          <a:lstStyle/>
          <a:p>
            <a:endParaRPr lang="en-US" sz="2400" dirty="0"/>
          </a:p>
        </p:txBody>
      </p:sp>
      <p:sp>
        <p:nvSpPr>
          <p:cNvPr id="50" name="Shape 48"/>
          <p:cNvSpPr/>
          <p:nvPr/>
        </p:nvSpPr>
        <p:spPr>
          <a:xfrm>
            <a:off x="0" y="6376416"/>
            <a:ext cx="12192000" cy="24384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26720"/>
            <a:ext cx="2194560" cy="341376"/>
          </a:xfrm>
          <a:prstGeom prst="rect">
            <a:avLst/>
          </a:prstGeom>
          <a:solidFill>
            <a:srgbClr val="1C2456"/>
          </a:solidFill>
          <a:ln/>
        </p:spPr>
        <p:txBody>
          <a:bodyPr/>
          <a:lstStyle/>
          <a:p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731520" y="426720"/>
            <a:ext cx="21945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067" b="1" kern="0" spc="400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067" dirty="0"/>
          </a:p>
        </p:txBody>
      </p:sp>
      <p:sp>
        <p:nvSpPr>
          <p:cNvPr id="4" name="Text 2"/>
          <p:cNvSpPr/>
          <p:nvPr/>
        </p:nvSpPr>
        <p:spPr>
          <a:xfrm>
            <a:off x="731520" y="1036320"/>
            <a:ext cx="107289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 dirty="0">
                <a:solidFill>
                  <a:srgbClr val="1C245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would be most useful?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31520" y="2072640"/>
            <a:ext cx="3413760" cy="3169920"/>
          </a:xfrm>
          <a:prstGeom prst="rect">
            <a:avLst/>
          </a:prstGeom>
          <a:solidFill>
            <a:srgbClr val="FAF8F3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731520" y="2072640"/>
            <a:ext cx="3413760" cy="48768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975360" y="2377440"/>
            <a:ext cx="426720" cy="426720"/>
          </a:xfrm>
          <a:prstGeom prst="ellipse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75360" y="2377440"/>
            <a:ext cx="426720" cy="426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600" b="1" dirty="0">
                <a:solidFill>
                  <a:srgbClr val="1C24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584960" y="2377440"/>
            <a:ext cx="231648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33" b="1" dirty="0">
                <a:solidFill>
                  <a:srgbClr val="1C24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Your Own Data</a:t>
            </a:r>
            <a:endParaRPr lang="en-US" sz="1733" dirty="0"/>
          </a:p>
        </p:txBody>
      </p:sp>
      <p:sp>
        <p:nvSpPr>
          <p:cNvPr id="10" name="Text 8"/>
          <p:cNvSpPr/>
          <p:nvPr/>
        </p:nvSpPr>
        <p:spPr>
          <a:xfrm>
            <a:off x="975360" y="3108960"/>
            <a:ext cx="29260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ct val="130000"/>
              </a:lnSpc>
            </a:pPr>
            <a:r>
              <a:rPr lang="en-US" sz="1467" dirty="0">
                <a:solidFill>
                  <a:srgbClr val="5A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us an existing dataset — even an old one — and we’ll run it through Turas so you can see your data in an interactive report. </a:t>
            </a:r>
          </a:p>
          <a:p>
            <a:pPr>
              <a:lnSpc>
                <a:spcPct val="130000"/>
              </a:lnSpc>
            </a:pPr>
            <a:r>
              <a:rPr lang="en-US" sz="1100" dirty="0">
                <a:solidFill>
                  <a:srgbClr val="5A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*subject to data in a usable format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450080" y="2072640"/>
            <a:ext cx="3413760" cy="3169920"/>
          </a:xfrm>
          <a:prstGeom prst="rect">
            <a:avLst/>
          </a:prstGeom>
          <a:solidFill>
            <a:srgbClr val="FAF8F3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4450080" y="2072640"/>
            <a:ext cx="3413760" cy="48768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4693920" y="2377440"/>
            <a:ext cx="426720" cy="426720"/>
          </a:xfrm>
          <a:prstGeom prst="ellipse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4693920" y="2377440"/>
            <a:ext cx="426720" cy="426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600" b="1" dirty="0">
                <a:solidFill>
                  <a:srgbClr val="1C24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303520" y="2377440"/>
            <a:ext cx="231648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33" b="1" dirty="0">
                <a:solidFill>
                  <a:srgbClr val="1C24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a Current Project</a:t>
            </a:r>
            <a:endParaRPr lang="en-US" sz="1733" dirty="0"/>
          </a:p>
        </p:txBody>
      </p:sp>
      <p:sp>
        <p:nvSpPr>
          <p:cNvPr id="16" name="Text 14"/>
          <p:cNvSpPr/>
          <p:nvPr/>
        </p:nvSpPr>
        <p:spPr>
          <a:xfrm>
            <a:off x="4693920" y="3108960"/>
            <a:ext cx="29260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ct val="130000"/>
              </a:lnSpc>
            </a:pPr>
            <a:r>
              <a:rPr lang="en-US" sz="1467" dirty="0">
                <a:solidFill>
                  <a:srgbClr val="5A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have a study in the pipeline, we can discuss how Turas fits the analytical plan and what the output would look like.</a:t>
            </a:r>
            <a:endParaRPr lang="en-US" sz="1467" dirty="0"/>
          </a:p>
        </p:txBody>
      </p:sp>
      <p:sp>
        <p:nvSpPr>
          <p:cNvPr id="17" name="Shape 15"/>
          <p:cNvSpPr/>
          <p:nvPr/>
        </p:nvSpPr>
        <p:spPr>
          <a:xfrm>
            <a:off x="8168640" y="2072640"/>
            <a:ext cx="3413760" cy="3169920"/>
          </a:xfrm>
          <a:prstGeom prst="rect">
            <a:avLst/>
          </a:prstGeom>
          <a:solidFill>
            <a:srgbClr val="FAF8F3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8168640" y="2072640"/>
            <a:ext cx="3413760" cy="48768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 sz="2400" dirty="0"/>
          </a:p>
        </p:txBody>
      </p:sp>
      <p:sp>
        <p:nvSpPr>
          <p:cNvPr id="19" name="Shape 17"/>
          <p:cNvSpPr/>
          <p:nvPr/>
        </p:nvSpPr>
        <p:spPr>
          <a:xfrm>
            <a:off x="8412480" y="2377440"/>
            <a:ext cx="426720" cy="426720"/>
          </a:xfrm>
          <a:prstGeom prst="ellipse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8412480" y="2377440"/>
            <a:ext cx="426720" cy="426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600" b="1" dirty="0">
                <a:solidFill>
                  <a:srgbClr val="1C24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9022080" y="2377440"/>
            <a:ext cx="231648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33" b="1" dirty="0">
                <a:solidFill>
                  <a:srgbClr val="1C24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With Your Team</a:t>
            </a:r>
            <a:endParaRPr lang="en-US" sz="1733" dirty="0"/>
          </a:p>
        </p:txBody>
      </p:sp>
      <p:sp>
        <p:nvSpPr>
          <p:cNvPr id="22" name="Text 20"/>
          <p:cNvSpPr/>
          <p:nvPr/>
        </p:nvSpPr>
        <p:spPr>
          <a:xfrm>
            <a:off x="8412480" y="3108960"/>
            <a:ext cx="29260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ct val="130000"/>
              </a:lnSpc>
            </a:pPr>
            <a:r>
              <a:rPr lang="en-US" sz="1467" dirty="0">
                <a:solidFill>
                  <a:srgbClr val="5A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can set up a broader session for colleagues who need to see it. </a:t>
            </a:r>
            <a:endParaRPr lang="en-US" sz="1467" dirty="0"/>
          </a:p>
        </p:txBody>
      </p:sp>
      <p:sp>
        <p:nvSpPr>
          <p:cNvPr id="23" name="Shape 21"/>
          <p:cNvSpPr/>
          <p:nvPr/>
        </p:nvSpPr>
        <p:spPr>
          <a:xfrm>
            <a:off x="731520" y="5608320"/>
            <a:ext cx="10728960" cy="548640"/>
          </a:xfrm>
          <a:prstGeom prst="rect">
            <a:avLst/>
          </a:prstGeom>
          <a:solidFill>
            <a:srgbClr val="1C2456"/>
          </a:solidFill>
          <a:ln/>
        </p:spPr>
        <p:txBody>
          <a:bodyPr/>
          <a:lstStyle/>
          <a:p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731520" y="5608320"/>
            <a:ext cx="10728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4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Duncan Brett</a:t>
            </a:r>
            <a:r>
              <a:rPr lang="en-US" sz="1467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duncan@researchlamppost.co.za  ·  The Research LampPost</a:t>
            </a:r>
            <a:endParaRPr lang="en-US" sz="1467" dirty="0"/>
          </a:p>
        </p:txBody>
      </p:sp>
      <p:sp>
        <p:nvSpPr>
          <p:cNvPr id="25" name="Shape 23"/>
          <p:cNvSpPr/>
          <p:nvPr/>
        </p:nvSpPr>
        <p:spPr>
          <a:xfrm>
            <a:off x="0" y="6400800"/>
            <a:ext cx="12192000" cy="457200"/>
          </a:xfrm>
          <a:prstGeom prst="rect">
            <a:avLst/>
          </a:prstGeom>
          <a:solidFill>
            <a:srgbClr val="1C2456"/>
          </a:solidFill>
          <a:ln/>
        </p:spPr>
        <p:txBody>
          <a:bodyPr/>
          <a:lstStyle/>
          <a:p>
            <a:endParaRPr lang="en-US" sz="2400" dirty="0"/>
          </a:p>
        </p:txBody>
      </p:sp>
      <p:sp>
        <p:nvSpPr>
          <p:cNvPr id="26" name="Shape 24"/>
          <p:cNvSpPr/>
          <p:nvPr/>
        </p:nvSpPr>
        <p:spPr>
          <a:xfrm>
            <a:off x="0" y="6376416"/>
            <a:ext cx="12192000" cy="24384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 sz="2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323367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201" name="TopAcc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202" name="Divider"/>
          <p:cNvSpPr/>
          <p:nvPr/>
        </p:nvSpPr>
        <p:spPr>
          <a:xfrm>
            <a:off x="4826000" y="2032000"/>
            <a:ext cx="2540000" cy="381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203" name="BrandName"/>
          <p:cNvSpPr/>
          <p:nvPr/>
        </p:nvSpPr>
        <p:spPr>
          <a:xfrm>
            <a:off x="1016000" y="2222500"/>
            <a:ext cx="10160000" cy="88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GB" sz="4800" b="1" dirty="0">
                <a:solidFill>
                  <a:srgbClr val="FFFFFF"/>
                </a:solidFill>
                <a:latin typeface="Raleway"/>
              </a:rPr>
              <a:t>Turas</a:t>
            </a:r>
          </a:p>
        </p:txBody>
      </p:sp>
      <p:sp>
        <p:nvSpPr>
          <p:cNvPr id="204" name="Tagline"/>
          <p:cNvSpPr/>
          <p:nvPr/>
        </p:nvSpPr>
        <p:spPr>
          <a:xfrm>
            <a:off x="1016000" y="3200400"/>
            <a:ext cx="1016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GB" sz="1800" i="1" dirty="0">
                <a:solidFill>
                  <a:srgbClr val="A0AEC0"/>
                </a:solidFill>
                <a:latin typeface="Source Sans Pro"/>
              </a:rPr>
              <a:t>Complete analytics. No strings attached</a:t>
            </a:r>
          </a:p>
        </p:txBody>
      </p:sp>
      <p:sp>
        <p:nvSpPr>
          <p:cNvPr id="205" name="Divider2"/>
          <p:cNvSpPr/>
          <p:nvPr/>
        </p:nvSpPr>
        <p:spPr>
          <a:xfrm>
            <a:off x="4826000" y="3810000"/>
            <a:ext cx="2540000" cy="381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206" name="Contact"/>
          <p:cNvSpPr/>
          <p:nvPr/>
        </p:nvSpPr>
        <p:spPr>
          <a:xfrm>
            <a:off x="1016000" y="4064000"/>
            <a:ext cx="101600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lnSpc>
                <a:spcPts val="2800"/>
              </a:lnSpc>
            </a:pPr>
            <a:r>
              <a:rPr lang="en-GB" sz="1400" dirty="0">
                <a:solidFill>
                  <a:srgbClr val="CC9900"/>
                </a:solidFill>
                <a:latin typeface="Source Sans Pro"/>
              </a:rPr>
              <a:t>duncan@researchlamppost.co.za</a:t>
            </a:r>
            <a:endParaRPr lang="en-GB" sz="1400" dirty="0">
              <a:solidFill>
                <a:srgbClr val="A0AEC0"/>
              </a:solidFill>
              <a:latin typeface="Source Sans Pro"/>
            </a:endParaRPr>
          </a:p>
        </p:txBody>
      </p:sp>
      <p:sp>
        <p:nvSpPr>
          <p:cNvPr id="208" name="BotAcc"/>
          <p:cNvSpPr/>
          <p:nvPr/>
        </p:nvSpPr>
        <p:spPr>
          <a:xfrm>
            <a:off x="0" y="680720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209" name="Diamond"/>
          <p:cNvSpPr/>
          <p:nvPr/>
        </p:nvSpPr>
        <p:spPr>
          <a:xfrm>
            <a:off x="5943600" y="1651000"/>
            <a:ext cx="304800" cy="304800"/>
          </a:xfrm>
          <a:prstGeom prst="diamond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pic>
        <p:nvPicPr>
          <p:cNvPr id="8" name="Picture 7" descr="A logo with a yellow and blue diamond&#10;&#10;AI-generated content may be incorrect.">
            <a:extLst>
              <a:ext uri="{FF2B5EF4-FFF2-40B4-BE49-F238E27FC236}">
                <a16:creationId xmlns:a16="http://schemas.microsoft.com/office/drawing/2014/main" id="{13F92F90-D33B-0689-B5C0-AF4DB99244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41114" y="4595977"/>
            <a:ext cx="2365231" cy="16651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28579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65074CAE-08C3-3B4F-8C27-CA6529B72A4E}">
  <we:reference id="wa200010001" version="1.0.0.0" store="en-US" storeType="OMEX"/>
  <we:alternateReferences>
    <we:reference id="wa200010001" version="1.0.0.0" store="en-US" storeType="OMEX"/>
  </we:alternateReferences>
  <we:properties>
    <we:property name="Office.AutoShowTaskpaneWithDocument" value="true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22439</TotalTime>
  <Words>520</Words>
  <Application>Microsoft Macintosh PowerPoint</Application>
  <PresentationFormat>Widescreen</PresentationFormat>
  <Paragraphs>105</Paragraphs>
  <Slides>7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Aptos</vt:lpstr>
      <vt:lpstr>Aptos Display</vt:lpstr>
      <vt:lpstr>Arial</vt:lpstr>
      <vt:lpstr>Calibri</vt:lpstr>
      <vt:lpstr>Georgia</vt:lpstr>
      <vt:lpstr>Raleway</vt:lpstr>
      <vt:lpstr>Source Sans Pro</vt:lpstr>
      <vt:lpstr>Office Theme</vt:lpstr>
      <vt:lpstr>Turas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Duncan Brett</dc:creator>
  <cp:keywords/>
  <dc:description/>
  <cp:lastModifiedBy>Duncan Brett</cp:lastModifiedBy>
  <cp:revision>48</cp:revision>
  <dcterms:created xsi:type="dcterms:W3CDTF">2026-02-19T04:31:59Z</dcterms:created>
  <dcterms:modified xsi:type="dcterms:W3CDTF">2026-03-24T14:25:53Z</dcterms:modified>
  <cp:category/>
</cp:coreProperties>
</file>