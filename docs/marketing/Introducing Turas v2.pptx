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6"/>
  </p:notesMasterIdLst>
  <p:sldIdLst>
    <p:sldId id="296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272" r:id="rId15"/>
    <p:sldId id="320" r:id="rId16"/>
    <p:sldId id="256" r:id="rId17"/>
    <p:sldId id="259" r:id="rId18"/>
    <p:sldId id="265" r:id="rId19"/>
    <p:sldId id="266" r:id="rId20"/>
    <p:sldId id="267" r:id="rId21"/>
    <p:sldId id="268" r:id="rId22"/>
    <p:sldId id="269" r:id="rId23"/>
    <p:sldId id="271" r:id="rId24"/>
    <p:sldId id="2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/>
    <p:restoredTop sz="94694"/>
  </p:normalViewPr>
  <p:slideViewPr>
    <p:cSldViewPr snapToGrid="0">
      <p:cViewPr varScale="1">
        <p:scale>
          <a:sx n="100" d="100"/>
          <a:sy n="100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79EB0-E91F-CC45-B59B-1976BB608CC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0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 Analytics Engine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9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WHAT IS TURAS?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Research Should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Work Harder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01</a:t>
            </a:r>
          </a:p>
        </p:txBody>
      </p:sp>
      <p:sp>
        <p:nvSpPr>
          <p:cNvPr id="106" name="MidAcc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BG"/>
          <p:cNvSpPr/>
          <p:nvPr/>
        </p:nvSpPr>
        <p:spPr>
          <a:xfrm>
            <a:off x="762000" y="1968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0Acc"/>
          <p:cNvSpPr/>
          <p:nvPr/>
        </p:nvSpPr>
        <p:spPr>
          <a:xfrm>
            <a:off x="762000" y="1968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0Txt"/>
          <p:cNvSpPr/>
          <p:nvPr/>
        </p:nvSpPr>
        <p:spPr>
          <a:xfrm>
            <a:off x="1041400" y="2120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Good Data, Limited Life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commission research and get a deck that answers the questions you asked at the time.</a:t>
            </a:r>
          </a:p>
        </p:txBody>
      </p:sp>
      <p:sp>
        <p:nvSpPr>
          <p:cNvPr id="113" name="C1BG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C1Acc"/>
          <p:cNvSpPr/>
          <p:nvPr/>
        </p:nvSpPr>
        <p:spPr>
          <a:xfrm>
            <a:off x="762000" y="34290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C1Txt"/>
          <p:cNvSpPr/>
          <p:nvPr/>
        </p:nvSpPr>
        <p:spPr>
          <a:xfrm>
            <a:off x="1041400" y="35814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New Questions, Old Process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new question surfaces, someone has to reopen the dataset and rebuild the analysis. That takes time and money.</a:t>
            </a:r>
          </a:p>
        </p:txBody>
      </p:sp>
      <p:sp>
        <p:nvSpPr>
          <p:cNvPr id="116" name="C2BG"/>
          <p:cNvSpPr/>
          <p:nvPr/>
        </p:nvSpPr>
        <p:spPr>
          <a:xfrm>
            <a:off x="762000" y="4889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C2Acc"/>
          <p:cNvSpPr/>
          <p:nvPr/>
        </p:nvSpPr>
        <p:spPr>
          <a:xfrm>
            <a:off x="762000" y="4889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C2Txt"/>
          <p:cNvSpPr/>
          <p:nvPr/>
        </p:nvSpPr>
        <p:spPr>
          <a:xfrm>
            <a:off x="1041400" y="5041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There Is a Better Way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Most research ends up as a presentation rather than a resource. Turas changes that.</a:t>
            </a:r>
          </a:p>
        </p:txBody>
      </p:sp>
      <p:sp>
        <p:nvSpPr>
          <p:cNvPr id="1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65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YOU CAN TRUST IT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Turas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Delivers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02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0"/>
          <p:cNvSpPr/>
          <p:nvPr/>
        </p:nvSpPr>
        <p:spPr>
          <a:xfrm>
            <a:off x="762000" y="1905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0"/>
          <p:cNvSpPr/>
          <p:nvPr/>
        </p:nvSpPr>
        <p:spPr>
          <a:xfrm>
            <a:off x="914400" y="1905000"/>
            <a:ext cx="635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0"/>
          <p:cNvSpPr/>
          <p:nvPr/>
        </p:nvSpPr>
        <p:spPr>
          <a:xfrm>
            <a:off x="952500" y="2095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Interactive Analytics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An interactive resource your team can explore, share, and return to</a:t>
            </a:r>
          </a:p>
        </p:txBody>
      </p:sp>
      <p:sp>
        <p:nvSpPr>
          <p:cNvPr id="113" name="F1"/>
          <p:cNvSpPr/>
          <p:nvPr/>
        </p:nvSpPr>
        <p:spPr>
          <a:xfrm>
            <a:off x="6350000" y="1905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1"/>
          <p:cNvSpPr/>
          <p:nvPr/>
        </p:nvSpPr>
        <p:spPr>
          <a:xfrm>
            <a:off x="6502400" y="1905000"/>
            <a:ext cx="635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1"/>
          <p:cNvSpPr/>
          <p:nvPr/>
        </p:nvSpPr>
        <p:spPr>
          <a:xfrm>
            <a:off x="6540500" y="2095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Rigorous Statistics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Statistical analysis run directly from your data with full transparency</a:t>
            </a:r>
          </a:p>
        </p:txBody>
      </p:sp>
      <p:sp>
        <p:nvSpPr>
          <p:cNvPr id="116" name="F2"/>
          <p:cNvSpPr/>
          <p:nvPr/>
        </p:nvSpPr>
        <p:spPr>
          <a:xfrm>
            <a:off x="762000" y="3429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2"/>
          <p:cNvSpPr/>
          <p:nvPr/>
        </p:nvSpPr>
        <p:spPr>
          <a:xfrm>
            <a:off x="914400" y="3429000"/>
            <a:ext cx="635000" cy="381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2"/>
          <p:cNvSpPr/>
          <p:nvPr/>
        </p:nvSpPr>
        <p:spPr>
          <a:xfrm>
            <a:off x="952500" y="3619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Permanent Record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One dataset. One report. Useful for as long as the data is relevant</a:t>
            </a:r>
          </a:p>
        </p:txBody>
      </p:sp>
      <p:sp>
        <p:nvSpPr>
          <p:cNvPr id="119" name="F3"/>
          <p:cNvSpPr/>
          <p:nvPr/>
        </p:nvSpPr>
        <p:spPr>
          <a:xfrm>
            <a:off x="6350000" y="3429000"/>
            <a:ext cx="5334000" cy="1333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0" name="FA3"/>
          <p:cNvSpPr/>
          <p:nvPr/>
        </p:nvSpPr>
        <p:spPr>
          <a:xfrm>
            <a:off x="6502400" y="3429000"/>
            <a:ext cx="635000" cy="381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" name="FT3"/>
          <p:cNvSpPr/>
          <p:nvPr/>
        </p:nvSpPr>
        <p:spPr>
          <a:xfrm>
            <a:off x="6540500" y="36195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Pay Per Project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No subscription fees. No licence costs. You pay per project</a:t>
            </a:r>
          </a:p>
        </p:txBody>
      </p:sp>
      <p:sp>
        <p:nvSpPr>
          <p:cNvPr id="140" name="Quote"/>
          <p:cNvSpPr/>
          <p:nvPr/>
        </p:nvSpPr>
        <p:spPr>
          <a:xfrm>
            <a:off x="762000" y="5207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00D4AA"/>
                </a:solidFill>
                <a:latin typeface="Source Sans Pro"/>
              </a:rPr>
              <a:t>One dataset. One report. Useful for as long as the data is relevant.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83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Serious Statistical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Foundations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03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"/>
          <p:cNvSpPr/>
          <p:nvPr/>
        </p:nvSpPr>
        <p:spPr>
          <a:xfrm>
            <a:off x="7620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T0"/>
          <p:cNvSpPr/>
          <p:nvPr/>
        </p:nvSpPr>
        <p:spPr>
          <a:xfrm>
            <a:off x="9525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Built on R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open-source statistical environment used by national statistics offices, central banks, and universities worldwide.</a:t>
            </a:r>
          </a:p>
        </p:txBody>
      </p:sp>
      <p:sp>
        <p:nvSpPr>
          <p:cNvPr id="112" name="C1"/>
          <p:cNvSpPr/>
          <p:nvPr/>
        </p:nvSpPr>
        <p:spPr>
          <a:xfrm>
            <a:off x="44958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CT1"/>
          <p:cNvSpPr/>
          <p:nvPr/>
        </p:nvSpPr>
        <p:spPr>
          <a:xfrm>
            <a:off x="46863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00D4AA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Fully Transparent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calculation is inspectable. Methods can be examined and verified. Results trace back to underlying tables.</a:t>
            </a:r>
          </a:p>
        </p:txBody>
      </p:sp>
      <p:sp>
        <p:nvSpPr>
          <p:cNvPr id="114" name="C2"/>
          <p:cNvSpPr/>
          <p:nvPr/>
        </p:nvSpPr>
        <p:spPr>
          <a:xfrm>
            <a:off x="8229600" y="1968500"/>
            <a:ext cx="32004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CT2"/>
          <p:cNvSpPr/>
          <p:nvPr/>
        </p:nvSpPr>
        <p:spPr>
          <a:xfrm>
            <a:off x="8420100" y="2032000"/>
            <a:ext cx="28194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No Black Boxes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finding is challenged, you have a clean, traceable analytical record to stand behind.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00D4AA"/>
                </a:solidFill>
                <a:latin typeface="Source Sans Pro"/>
              </a:rPr>
              <a:t>Every result traces directly back to the underlying tables.</a:t>
            </a:r>
          </a:p>
          <a:p>
            <a:pPr algn="ctr"/>
            <a:r>
              <a:rPr lang="en-GB" sz="1400" dirty="0">
                <a:solidFill>
                  <a:srgbClr val="B8C9DB"/>
                </a:solidFill>
                <a:latin typeface="Source Sans Pro"/>
              </a:rPr>
              <a:t>Open, transparent, and fully auditable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Professional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Oversight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04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KeyStat"/>
          <p:cNvSpPr/>
          <p:nvPr/>
        </p:nvSpPr>
        <p:spPr>
          <a:xfrm>
            <a:off x="762000" y="1879600"/>
            <a:ext cx="1066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800" i="1" dirty="0">
                <a:solidFill>
                  <a:srgbClr val="0B1929"/>
                </a:solidFill>
                <a:latin typeface="Source Sans Pro"/>
              </a:rPr>
              <a:t>Turas is not a self-service tool.</a:t>
            </a:r>
          </a:p>
        </p:txBody>
      </p:sp>
      <p:sp>
        <p:nvSpPr>
          <p:cNvPr id="110" name="PC0"/>
          <p:cNvSpPr/>
          <p:nvPr/>
        </p:nvSpPr>
        <p:spPr>
          <a:xfrm>
            <a:off x="762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0"/>
          <p:cNvSpPr/>
          <p:nvPr/>
        </p:nvSpPr>
        <p:spPr>
          <a:xfrm>
            <a:off x="952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SAMRA Accredited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Research LampPost is a member of the Southern African Marketing Research Association. Duncan Brett is SAMRA-accredited with 30+ years in quantitative market research.</a:t>
            </a:r>
          </a:p>
        </p:txBody>
      </p:sp>
      <p:sp>
        <p:nvSpPr>
          <p:cNvPr id="112" name="PC1"/>
          <p:cNvSpPr/>
          <p:nvPr/>
        </p:nvSpPr>
        <p:spPr>
          <a:xfrm>
            <a:off x="6350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1"/>
          <p:cNvSpPr/>
          <p:nvPr/>
        </p:nvSpPr>
        <p:spPr>
          <a:xfrm>
            <a:off x="6540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Guided End-to-End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project is guided from data preparation through to final output. The right methods are applied, data is structured correctly, and results are interpreted responsibly.</a:t>
            </a:r>
          </a:p>
        </p:txBody>
      </p:sp>
      <p:sp>
        <p:nvSpPr>
          <p:cNvPr id="140" name="Stat"/>
          <p:cNvSpPr/>
          <p:nvPr/>
        </p:nvSpPr>
        <p:spPr>
          <a:xfrm>
            <a:off x="762000" y="52705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2800" b="1" dirty="0">
                <a:solidFill>
                  <a:srgbClr val="00D4AA"/>
                </a:solidFill>
                <a:latin typeface="Raleway"/>
              </a:rPr>
              <a:t>30+</a:t>
            </a:r>
            <a:r>
              <a:rPr lang="en-GB" sz="1600" dirty="0">
                <a:solidFill>
                  <a:srgbClr val="FFFFFF"/>
                </a:solidFill>
                <a:latin typeface="Source Sans Pro"/>
              </a:rPr>
              <a:t>  years of quantitative market research expertise behind every project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54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Stays With You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05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0"/>
          <p:cNvSpPr/>
          <p:nvPr/>
        </p:nvSpPr>
        <p:spPr>
          <a:xfrm>
            <a:off x="7620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T0"/>
          <p:cNvSpPr/>
          <p:nvPr/>
        </p:nvSpPr>
        <p:spPr>
          <a:xfrm>
            <a:off x="9525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3E3E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No Cloud Upload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Your dataset is never uploaded to a cloud platform or shared with a third party</a:t>
            </a:r>
          </a:p>
        </p:txBody>
      </p:sp>
      <p:sp>
        <p:nvSpPr>
          <p:cNvPr id="112" name="S1"/>
          <p:cNvSpPr/>
          <p:nvPr/>
        </p:nvSpPr>
        <p:spPr>
          <a:xfrm>
            <a:off x="44958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ST1"/>
          <p:cNvSpPr/>
          <p:nvPr/>
        </p:nvSpPr>
        <p:spPr>
          <a:xfrm>
            <a:off x="46863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00D4AA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Controlled Environment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All analysis runs on our own hardware in a secure, controlled environment</a:t>
            </a:r>
          </a:p>
        </p:txBody>
      </p:sp>
      <p:sp>
        <p:nvSpPr>
          <p:cNvPr id="114" name="S2"/>
          <p:cNvSpPr/>
          <p:nvPr/>
        </p:nvSpPr>
        <p:spPr>
          <a:xfrm>
            <a:off x="82296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ST2"/>
          <p:cNvSpPr/>
          <p:nvPr/>
        </p:nvSpPr>
        <p:spPr>
          <a:xfrm>
            <a:off x="8420100" y="2032000"/>
            <a:ext cx="30988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Immutable Record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delivered report is finalised and self-contained — it cannot be altered after the fact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00D4AA"/>
                </a:solidFill>
                <a:latin typeface="Source Sans Pro"/>
              </a:rPr>
              <a:t>A stable record of exactly what the data showed at the time of analysis.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36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Fast, Consistent,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Dependable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06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ast"/>
          <p:cNvSpPr/>
          <p:nvPr/>
        </p:nvSpPr>
        <p:spPr>
          <a:xfrm>
            <a:off x="762000" y="1905000"/>
            <a:ext cx="5334000" cy="15240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00D4AA"/>
            </a:solidFill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200"/>
              </a:spcAft>
            </a:pPr>
            <a:r>
              <a:rPr lang="en-GB" sz="4000" b="1" dirty="0">
                <a:solidFill>
                  <a:srgbClr val="00D4AA"/>
                </a:solidFill>
                <a:latin typeface="Raleway"/>
              </a:rPr>
              <a:t>1 Day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Preliminary output after fieldwork closes</a:t>
            </a:r>
          </a:p>
        </p:txBody>
      </p:sp>
      <p:sp>
        <p:nvSpPr>
          <p:cNvPr id="111" name="Slow"/>
          <p:cNvSpPr/>
          <p:nvPr/>
        </p:nvSpPr>
        <p:spPr>
          <a:xfrm>
            <a:off x="6350000" y="1905000"/>
            <a:ext cx="5080000" cy="1524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53E3E"/>
            </a:solidFill>
          </a:ln>
        </p:spPr>
        <p:txBody>
          <a:bodyPr wrap="square" lIns="137160" tIns="45720" rIns="137160" bIns="45720" anchor="ctr"/>
          <a:lstStyle/>
          <a:p>
            <a:pPr algn="ctr">
              <a:spcAft>
                <a:spcPts val="200"/>
              </a:spcAft>
            </a:pPr>
            <a:r>
              <a:rPr lang="en-GB" sz="4000" b="1" dirty="0">
                <a:solidFill>
                  <a:srgbClr val="E53E3E"/>
                </a:solidFill>
                <a:latin typeface="Raleway"/>
              </a:rPr>
              <a:t>Weeks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Traditional analysis timeline</a:t>
            </a:r>
          </a:p>
        </p:txBody>
      </p:sp>
      <p:sp>
        <p:nvSpPr>
          <p:cNvPr id="120" name="Cons"/>
          <p:cNvSpPr/>
          <p:nvPr/>
        </p:nvSpPr>
        <p:spPr>
          <a:xfrm>
            <a:off x="762000" y="3746500"/>
            <a:ext cx="10668000" cy="127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1" name="CAcc"/>
          <p:cNvSpPr/>
          <p:nvPr/>
        </p:nvSpPr>
        <p:spPr>
          <a:xfrm>
            <a:off x="762000" y="3746500"/>
            <a:ext cx="63500" cy="12700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" name="CTxt"/>
          <p:cNvSpPr/>
          <p:nvPr/>
        </p:nvSpPr>
        <p:spPr>
          <a:xfrm>
            <a:off x="1041400" y="3873500"/>
            <a:ext cx="1016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Built-in Consistency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Same methods, every time. For tracking studies, results stay comparable across waves.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00D4AA"/>
                </a:solidFill>
                <a:latin typeface="Source Sans Pro"/>
              </a:rPr>
              <a:t>Controlled computational environment. Reproducible results. Every time.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13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Interactive Report,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Not Static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FC0"/>
          <p:cNvSpPr/>
          <p:nvPr/>
        </p:nvSpPr>
        <p:spPr>
          <a:xfrm>
            <a:off x="762000" y="190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0"/>
          <p:cNvSpPr/>
          <p:nvPr/>
        </p:nvSpPr>
        <p:spPr>
          <a:xfrm>
            <a:off x="762000" y="190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0"/>
          <p:cNvSpPr/>
          <p:nvPr/>
        </p:nvSpPr>
        <p:spPr>
          <a:xfrm>
            <a:off x="1041400" y="200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Browser-Based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Runs in any modern browser. Nothing to install, no subscription, no licence to manage.</a:t>
            </a:r>
          </a:p>
        </p:txBody>
      </p:sp>
      <p:sp>
        <p:nvSpPr>
          <p:cNvPr id="113" name="FC1"/>
          <p:cNvSpPr/>
          <p:nvPr/>
        </p:nvSpPr>
        <p:spPr>
          <a:xfrm>
            <a:off x="762000" y="317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1"/>
          <p:cNvSpPr/>
          <p:nvPr/>
        </p:nvSpPr>
        <p:spPr>
          <a:xfrm>
            <a:off x="762000" y="317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1"/>
          <p:cNvSpPr/>
          <p:nvPr/>
        </p:nvSpPr>
        <p:spPr>
          <a:xfrm>
            <a:off x="1041400" y="327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Single Source of Truth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Browse all tables, switch between table and chart views, cut by any segment — without waiting for the analyst.</a:t>
            </a:r>
          </a:p>
        </p:txBody>
      </p:sp>
      <p:sp>
        <p:nvSpPr>
          <p:cNvPr id="116" name="FC2"/>
          <p:cNvSpPr/>
          <p:nvPr/>
        </p:nvSpPr>
        <p:spPr>
          <a:xfrm>
            <a:off x="762000" y="4445000"/>
            <a:ext cx="10668000" cy="10795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2"/>
          <p:cNvSpPr/>
          <p:nvPr/>
        </p:nvSpPr>
        <p:spPr>
          <a:xfrm>
            <a:off x="762000" y="4445000"/>
            <a:ext cx="63500" cy="10795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2"/>
          <p:cNvSpPr/>
          <p:nvPr/>
        </p:nvSpPr>
        <p:spPr>
          <a:xfrm>
            <a:off x="1041400" y="4546600"/>
            <a:ext cx="1016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Excel Export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Tables can be exported to Excel at any point, fitting into existing workflows.</a:t>
            </a:r>
          </a:p>
        </p:txBody>
      </p:sp>
      <p:sp>
        <p:nvSpPr>
          <p:cNvPr id="140" name="Tag2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GB" sz="1400" dirty="0">
                <a:solidFill>
                  <a:srgbClr val="00D4AA"/>
                </a:solidFill>
                <a:latin typeface="Source Sans Pro"/>
              </a:rPr>
              <a:t>Zero installation  |  Zero subscriptions  |  Zero licence management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75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From Exploration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to Presentation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08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tep0"/>
          <p:cNvSpPr/>
          <p:nvPr/>
        </p:nvSpPr>
        <p:spPr>
          <a:xfrm>
            <a:off x="7620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N0"/>
          <p:cNvSpPr/>
          <p:nvPr/>
        </p:nvSpPr>
        <p:spPr>
          <a:xfrm>
            <a:off x="2222500" y="2159000"/>
            <a:ext cx="558800" cy="5588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12" name="STxt0"/>
          <p:cNvSpPr/>
          <p:nvPr/>
        </p:nvSpPr>
        <p:spPr>
          <a:xfrm>
            <a:off x="9525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Explore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Browse tables, switch views, cut by any segment in the interactive report</a:t>
            </a:r>
          </a:p>
        </p:txBody>
      </p:sp>
      <p:sp>
        <p:nvSpPr>
          <p:cNvPr id="140" name="Arr0"/>
          <p:cNvSpPr/>
          <p:nvPr/>
        </p:nvSpPr>
        <p:spPr>
          <a:xfrm>
            <a:off x="4241800" y="3048000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000" dirty="0">
                <a:solidFill>
                  <a:srgbClr val="00D4AA"/>
                </a:solidFill>
                <a:latin typeface="Raleway"/>
              </a:rPr>
              <a:t>→</a:t>
            </a:r>
          </a:p>
        </p:txBody>
      </p:sp>
      <p:sp>
        <p:nvSpPr>
          <p:cNvPr id="113" name="Step1"/>
          <p:cNvSpPr/>
          <p:nvPr/>
        </p:nvSpPr>
        <p:spPr>
          <a:xfrm>
            <a:off x="44958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SN1"/>
          <p:cNvSpPr/>
          <p:nvPr/>
        </p:nvSpPr>
        <p:spPr>
          <a:xfrm>
            <a:off x="5956300" y="2159000"/>
            <a:ext cx="558800" cy="5588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115" name="STxt1"/>
          <p:cNvSpPr/>
          <p:nvPr/>
        </p:nvSpPr>
        <p:spPr>
          <a:xfrm>
            <a:off x="46863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Pin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Capture key findings with charts, commentary and images using pinned views</a:t>
            </a:r>
          </a:p>
        </p:txBody>
      </p:sp>
      <p:sp>
        <p:nvSpPr>
          <p:cNvPr id="141" name="Arr1"/>
          <p:cNvSpPr/>
          <p:nvPr/>
        </p:nvSpPr>
        <p:spPr>
          <a:xfrm>
            <a:off x="7975600" y="3048000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000" dirty="0">
                <a:solidFill>
                  <a:srgbClr val="00D4AA"/>
                </a:solidFill>
                <a:latin typeface="Raleway"/>
              </a:rPr>
              <a:t>→</a:t>
            </a:r>
          </a:p>
        </p:txBody>
      </p:sp>
      <p:sp>
        <p:nvSpPr>
          <p:cNvPr id="116" name="Step2"/>
          <p:cNvSpPr/>
          <p:nvPr/>
        </p:nvSpPr>
        <p:spPr>
          <a:xfrm>
            <a:off x="8229600" y="1968500"/>
            <a:ext cx="34798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SN2"/>
          <p:cNvSpPr/>
          <p:nvPr/>
        </p:nvSpPr>
        <p:spPr>
          <a:xfrm>
            <a:off x="9690100" y="2159000"/>
            <a:ext cx="558800" cy="5588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2200" b="1" dirty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118" name="STxt2"/>
          <p:cNvSpPr/>
          <p:nvPr/>
        </p:nvSpPr>
        <p:spPr>
          <a:xfrm>
            <a:off x="8420100" y="2857500"/>
            <a:ext cx="30988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en-GB" sz="2200" b="1" dirty="0">
                <a:solidFill>
                  <a:srgbClr val="1A2744"/>
                </a:solidFill>
                <a:latin typeface="Raleway"/>
              </a:rPr>
              <a:t>Present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Export pinned views to PowerPoint or PDF for stakeholder presentation</a:t>
            </a:r>
          </a:p>
        </p:txBody>
      </p:sp>
      <p:sp>
        <p:nvSpPr>
          <p:cNvPr id="145" name="Call"/>
          <p:cNvSpPr/>
          <p:nvPr/>
        </p:nvSpPr>
        <p:spPr>
          <a:xfrm>
            <a:off x="762000" y="50165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00D4AA"/>
                </a:solidFill>
                <a:latin typeface="Source Sans Pro"/>
              </a:rPr>
              <a:t>One environment for both exploration and presentation — no tool-switching required.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5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190500"/>
            <a:ext cx="3556000" cy="2540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Raleway"/>
              </a:rPr>
              <a:t>What Turas Can </a:t>
            </a:r>
            <a:r>
              <a:rPr lang="en-GB" sz="2600" b="1" dirty="0">
                <a:solidFill>
                  <a:srgbClr val="00D4AA"/>
                </a:solidFill>
                <a:latin typeface="Raleway"/>
              </a:rPr>
              <a:t>Analyse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016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60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09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Sub"/>
          <p:cNvSpPr/>
          <p:nvPr/>
        </p:nvSpPr>
        <p:spPr>
          <a:xfrm>
            <a:off x="762000" y="152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Specialist analytical modules, all delivered within the same interactive report.</a:t>
            </a:r>
          </a:p>
        </p:txBody>
      </p:sp>
      <p:sp>
        <p:nvSpPr>
          <p:cNvPr id="200" name="M0"/>
          <p:cNvSpPr/>
          <p:nvPr/>
        </p:nvSpPr>
        <p:spPr>
          <a:xfrm>
            <a:off x="7620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1" name="MT0"/>
          <p:cNvSpPr/>
          <p:nvPr/>
        </p:nvSpPr>
        <p:spPr>
          <a:xfrm>
            <a:off x="8890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00D4AA"/>
                </a:solidFill>
                <a:latin typeface="Raleway"/>
              </a:rPr>
              <a:t>Tabs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Automated crosstabs with significance testing</a:t>
            </a:r>
          </a:p>
        </p:txBody>
      </p:sp>
      <p:sp>
        <p:nvSpPr>
          <p:cNvPr id="202" name="M1"/>
          <p:cNvSpPr/>
          <p:nvPr/>
        </p:nvSpPr>
        <p:spPr>
          <a:xfrm>
            <a:off x="34671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3" name="MT1"/>
          <p:cNvSpPr/>
          <p:nvPr/>
        </p:nvSpPr>
        <p:spPr>
          <a:xfrm>
            <a:off x="35941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Tracker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Multi-wave trend analysis across waves</a:t>
            </a:r>
          </a:p>
        </p:txBody>
      </p:sp>
      <p:sp>
        <p:nvSpPr>
          <p:cNvPr id="204" name="M2"/>
          <p:cNvSpPr/>
          <p:nvPr/>
        </p:nvSpPr>
        <p:spPr>
          <a:xfrm>
            <a:off x="61722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5" name="MT2"/>
          <p:cNvSpPr/>
          <p:nvPr/>
        </p:nvSpPr>
        <p:spPr>
          <a:xfrm>
            <a:off x="62992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Key Driver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Strongest factors driving business outcomes</a:t>
            </a:r>
          </a:p>
        </p:txBody>
      </p:sp>
      <p:sp>
        <p:nvSpPr>
          <p:cNvPr id="206" name="M3"/>
          <p:cNvSpPr/>
          <p:nvPr/>
        </p:nvSpPr>
        <p:spPr>
          <a:xfrm>
            <a:off x="88773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7" name="MT3"/>
          <p:cNvSpPr/>
          <p:nvPr/>
        </p:nvSpPr>
        <p:spPr>
          <a:xfrm>
            <a:off x="90043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Key Driver (Cat.)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Regression for categorical outcomes</a:t>
            </a:r>
          </a:p>
        </p:txBody>
      </p:sp>
      <p:sp>
        <p:nvSpPr>
          <p:cNvPr id="208" name="M4"/>
          <p:cNvSpPr/>
          <p:nvPr/>
        </p:nvSpPr>
        <p:spPr>
          <a:xfrm>
            <a:off x="7620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9" name="MT4"/>
          <p:cNvSpPr/>
          <p:nvPr/>
        </p:nvSpPr>
        <p:spPr>
          <a:xfrm>
            <a:off x="8890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Segment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Statistical clustering for customer groups</a:t>
            </a:r>
          </a:p>
        </p:txBody>
      </p:sp>
      <p:sp>
        <p:nvSpPr>
          <p:cNvPr id="210" name="M5"/>
          <p:cNvSpPr/>
          <p:nvPr/>
        </p:nvSpPr>
        <p:spPr>
          <a:xfrm>
            <a:off x="34671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1" name="MT5"/>
          <p:cNvSpPr/>
          <p:nvPr/>
        </p:nvSpPr>
        <p:spPr>
          <a:xfrm>
            <a:off x="35941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00D4AA"/>
                </a:solidFill>
                <a:latin typeface="Raleway"/>
              </a:rPr>
              <a:t>Conjoint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Choice modelling with market simulator</a:t>
            </a:r>
          </a:p>
        </p:txBody>
      </p:sp>
      <p:sp>
        <p:nvSpPr>
          <p:cNvPr id="212" name="M6"/>
          <p:cNvSpPr/>
          <p:nvPr/>
        </p:nvSpPr>
        <p:spPr>
          <a:xfrm>
            <a:off x="61722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3" name="MT6"/>
          <p:cNvSpPr/>
          <p:nvPr/>
        </p:nvSpPr>
        <p:spPr>
          <a:xfrm>
            <a:off x="62992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MaxDiff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Precise preference rankings</a:t>
            </a:r>
          </a:p>
        </p:txBody>
      </p:sp>
      <p:sp>
        <p:nvSpPr>
          <p:cNvPr id="214" name="M7"/>
          <p:cNvSpPr/>
          <p:nvPr/>
        </p:nvSpPr>
        <p:spPr>
          <a:xfrm>
            <a:off x="88773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5" name="MT7"/>
          <p:cNvSpPr/>
          <p:nvPr/>
        </p:nvSpPr>
        <p:spPr>
          <a:xfrm>
            <a:off x="90043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Pricing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Van Westendorp and Gabor-Granger models</a:t>
            </a:r>
          </a:p>
        </p:txBody>
      </p:sp>
      <p:sp>
        <p:nvSpPr>
          <p:cNvPr id="216" name="M8"/>
          <p:cNvSpPr/>
          <p:nvPr/>
        </p:nvSpPr>
        <p:spPr>
          <a:xfrm>
            <a:off x="7620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7" name="MT8"/>
          <p:cNvSpPr/>
          <p:nvPr/>
        </p:nvSpPr>
        <p:spPr>
          <a:xfrm>
            <a:off x="8890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Weighting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Target population representation</a:t>
            </a:r>
          </a:p>
        </p:txBody>
      </p:sp>
      <p:sp>
        <p:nvSpPr>
          <p:cNvPr id="218" name="M9"/>
          <p:cNvSpPr/>
          <p:nvPr/>
        </p:nvSpPr>
        <p:spPr>
          <a:xfrm>
            <a:off x="34671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9" name="MT9"/>
          <p:cNvSpPr/>
          <p:nvPr/>
        </p:nvSpPr>
        <p:spPr>
          <a:xfrm>
            <a:off x="35941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Confidence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Rigorous validity testing</a:t>
            </a:r>
          </a:p>
        </p:txBody>
      </p:sp>
      <p:sp>
        <p:nvSpPr>
          <p:cNvPr id="240" name="Call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22860" rIns="182880" bIns="22860" anchor="ctr"/>
          <a:lstStyle/>
          <a:p>
            <a:pPr algn="ctr"/>
            <a:r>
              <a:rPr lang="en-GB" sz="1400" i="1" dirty="0">
                <a:solidFill>
                  <a:srgbClr val="00D4AA"/>
                </a:solidFill>
                <a:latin typeface="Source Sans Pro"/>
              </a:rPr>
              <a:t>Multiple modules can be combined into a single report.</a:t>
            </a:r>
          </a:p>
        </p:txBody>
      </p:sp>
      <p:sp>
        <p:nvSpPr>
          <p:cNvPr id="2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133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We Can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Help With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10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P0"/>
          <p:cNvSpPr/>
          <p:nvPr/>
        </p:nvSpPr>
        <p:spPr>
          <a:xfrm>
            <a:off x="7620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x0"/>
          <p:cNvSpPr/>
          <p:nvPr/>
        </p:nvSpPr>
        <p:spPr>
          <a:xfrm>
            <a:off x="9144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00D4AA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Questionnaire Design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Structuring questions to produce clean, analysable data</a:t>
            </a:r>
          </a:p>
        </p:txBody>
      </p:sp>
      <p:sp>
        <p:nvSpPr>
          <p:cNvPr id="112" name="P1"/>
          <p:cNvSpPr/>
          <p:nvPr/>
        </p:nvSpPr>
        <p:spPr>
          <a:xfrm>
            <a:off x="35814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x1"/>
          <p:cNvSpPr/>
          <p:nvPr/>
        </p:nvSpPr>
        <p:spPr>
          <a:xfrm>
            <a:off x="37338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Analytical Planning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Choosing the right methods and structuring the approach</a:t>
            </a:r>
          </a:p>
        </p:txBody>
      </p:sp>
      <p:sp>
        <p:nvSpPr>
          <p:cNvPr id="114" name="P2"/>
          <p:cNvSpPr/>
          <p:nvPr/>
        </p:nvSpPr>
        <p:spPr>
          <a:xfrm>
            <a:off x="64008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PTx2"/>
          <p:cNvSpPr/>
          <p:nvPr/>
        </p:nvSpPr>
        <p:spPr>
          <a:xfrm>
            <a:off x="65532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Data Preparation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Cleaning, coding, and preparing data for rigorous analysis</a:t>
            </a:r>
          </a:p>
        </p:txBody>
      </p:sp>
      <p:sp>
        <p:nvSpPr>
          <p:cNvPr id="116" name="P3"/>
          <p:cNvSpPr/>
          <p:nvPr/>
        </p:nvSpPr>
        <p:spPr>
          <a:xfrm>
            <a:off x="9220200" y="1968500"/>
            <a:ext cx="25908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PTx3"/>
          <p:cNvSpPr/>
          <p:nvPr/>
        </p:nvSpPr>
        <p:spPr>
          <a:xfrm>
            <a:off x="9372600" y="2032000"/>
            <a:ext cx="2286000" cy="2349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FFB02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Interpretation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Making sense of results and building a clear narrative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0B1929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00D4AA"/>
                </a:solidFill>
                <a:latin typeface="Source Sans Pro"/>
              </a:rPr>
              <a:t>For most projects we also prepare an initial set of pinned views, giving your team a ready-made starting point.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041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>
            <a:solidFill>
              <a:srgbClr val="00D4AA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00D4AA"/>
                </a:solidFill>
                <a:latin typeface="Source Sans Pro"/>
              </a:rPr>
              <a:t>WHY HTML REPORTS ARE THE FUTURE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It </a:t>
            </a:r>
            <a:r>
              <a:rPr lang="en-GB" sz="2800" b="1" dirty="0">
                <a:solidFill>
                  <a:srgbClr val="00D4AA"/>
                </a:solidFill>
                <a:latin typeface="Raleway"/>
              </a:rPr>
              <a:t>In Action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11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TA"/>
          <p:cNvSpPr/>
          <p:nvPr/>
        </p:nvSpPr>
        <p:spPr>
          <a:xfrm>
            <a:off x="1524000" y="2286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00D4AA"/>
            </a:solidFill>
          </a:ln>
        </p:spPr>
        <p:txBody>
          <a:bodyPr wrap="square" lIns="228600" tIns="137160" rIns="228600" bIns="137160" anchor="ctr"/>
          <a:lstStyle/>
          <a:p>
            <a:pPr algn="ctr">
              <a:spcAft>
                <a:spcPts val="800"/>
              </a:spcAft>
            </a:pPr>
            <a:r>
              <a:rPr lang="en-GB" sz="2400" b="1" dirty="0">
                <a:solidFill>
                  <a:srgbClr val="1A2744"/>
                </a:solidFill>
                <a:latin typeface="Raleway"/>
              </a:rPr>
              <a:t>The most effective way to understand Turas is a live demonstration.</a:t>
            </a:r>
          </a:p>
          <a:p>
            <a:pPr algn="ctr"/>
            <a:r>
              <a:rPr lang="en-GB" sz="1600" dirty="0">
                <a:solidFill>
                  <a:srgbClr val="4A5568"/>
                </a:solidFill>
                <a:latin typeface="Source Sans Pro"/>
              </a:rPr>
              <a:t>We can walk through a real dataset and show how survey data becomes a working analytical resource — from raw data to interactive report.</a:t>
            </a:r>
          </a:p>
        </p:txBody>
      </p:sp>
      <p:sp>
        <p:nvSpPr>
          <p:cNvPr id="120" name="Btn"/>
          <p:cNvSpPr/>
          <p:nvPr/>
        </p:nvSpPr>
        <p:spPr>
          <a:xfrm>
            <a:off x="4318000" y="52705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Request a Demo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69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A97DD-B5E4-2A0C-253F-9BBB7CA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5343-D4B9-47CD-B4D0-DA7C788B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0" dirty="0">
                <a:solidFill>
                  <a:srgbClr val="FFFFFF"/>
                </a:solidFill>
                <a:latin typeface="Calibri Light"/>
              </a:rPr>
              <a:t>Sample Slides from </a:t>
            </a:r>
            <a:r>
              <a:rPr lang="en-US" sz="4000" b="1" dirty="0">
                <a:solidFill>
                  <a:srgbClr val="FFFFFF"/>
                </a:solidFill>
                <a:latin typeface="Calibri"/>
              </a:rPr>
              <a:t>Turas</a:t>
            </a:r>
          </a:p>
          <a:p>
            <a:pPr algn="l"/>
            <a:r>
              <a:rPr lang="en-US" sz="1800" dirty="0">
                <a:solidFill>
                  <a:srgbClr val="D0E0F0"/>
                </a:solidFill>
                <a:latin typeface="Calibri"/>
              </a:rPr>
              <a:t>Demonstrating report pin outputs</a:t>
            </a:r>
          </a:p>
        </p:txBody>
      </p:sp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D1EB3FB4-A12A-F2EB-87F1-428F12031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612" y="1825625"/>
            <a:ext cx="5776776" cy="4351338"/>
          </a:xfrm>
          <a:prstGeom prst="rect">
            <a:avLst/>
          </a:prstGeom>
        </p:spPr>
      </p:pic>
      <p:sp>
        <p:nvSpPr>
          <p:cNvPr id="20" name="TopAccentBar">
            <a:extLst>
              <a:ext uri="{FF2B5EF4-FFF2-40B4-BE49-F238E27FC236}">
                <a16:creationId xmlns:a16="http://schemas.microsoft.com/office/drawing/2014/main" id="{91C5457B-C152-C130-B252-4E30BA02FBD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81FCE29-48B5-17C9-E5B3-5F6FDCC1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915" y="133349"/>
            <a:ext cx="1956220" cy="137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9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5CBD-07DA-742D-328B-CEED8D0C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724F6-5C74-12AF-C4D6-7A5F656C2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342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E6D82E08-FF4C-D5A3-CEB8-5781647B2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794" y="2116261"/>
            <a:ext cx="4080412" cy="28631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296E3F-A97A-41DB-0D9F-5C641836B883}"/>
              </a:ext>
            </a:extLst>
          </p:cNvPr>
          <p:cNvSpPr/>
          <p:nvPr/>
        </p:nvSpPr>
        <p:spPr>
          <a:xfrm>
            <a:off x="2997926" y="400594"/>
            <a:ext cx="269966" cy="269966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6B4E86-3ECB-3CB2-6620-11C99A5DEB0A}"/>
              </a:ext>
            </a:extLst>
          </p:cNvPr>
          <p:cNvSpPr/>
          <p:nvPr/>
        </p:nvSpPr>
        <p:spPr>
          <a:xfrm>
            <a:off x="3354978" y="400594"/>
            <a:ext cx="269966" cy="269966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3C8577-1E38-3DBC-FAC1-B5BACF623B19}"/>
              </a:ext>
            </a:extLst>
          </p:cNvPr>
          <p:cNvSpPr/>
          <p:nvPr/>
        </p:nvSpPr>
        <p:spPr>
          <a:xfrm>
            <a:off x="3712030" y="400594"/>
            <a:ext cx="269966" cy="269966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B93DB-664E-2A04-88A0-15C807670681}"/>
              </a:ext>
            </a:extLst>
          </p:cNvPr>
          <p:cNvSpPr/>
          <p:nvPr/>
        </p:nvSpPr>
        <p:spPr>
          <a:xfrm>
            <a:off x="4069082" y="400594"/>
            <a:ext cx="269966" cy="269966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59606-30A5-4F5B-D299-376C39AD9CEB}"/>
              </a:ext>
            </a:extLst>
          </p:cNvPr>
          <p:cNvSpPr txBox="1"/>
          <p:nvPr/>
        </p:nvSpPr>
        <p:spPr>
          <a:xfrm>
            <a:off x="2612360" y="644433"/>
            <a:ext cx="2984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</a:t>
            </a:r>
          </a:p>
          <a:p>
            <a:r>
              <a:rPr lang="en-US" sz="1400" b="1" dirty="0"/>
              <a:t>G</a:t>
            </a:r>
          </a:p>
          <a:p>
            <a:r>
              <a:rPr lang="en-US" sz="1400" b="1" dirty="0"/>
              <a:t>B</a:t>
            </a:r>
            <a:endParaRPr lang="en-ZA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8EC2C5-4B86-24EE-746C-35E4D55CEF20}"/>
              </a:ext>
            </a:extLst>
          </p:cNvPr>
          <p:cNvSpPr txBox="1"/>
          <p:nvPr/>
        </p:nvSpPr>
        <p:spPr>
          <a:xfrm>
            <a:off x="2980683" y="677704"/>
            <a:ext cx="263214" cy="691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3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3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3</a:t>
            </a:r>
            <a:endParaRPr lang="en-ZA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6CC6BD-8107-25D8-3675-634F22D26727}"/>
              </a:ext>
            </a:extLst>
          </p:cNvPr>
          <p:cNvSpPr txBox="1"/>
          <p:nvPr/>
        </p:nvSpPr>
        <p:spPr>
          <a:xfrm>
            <a:off x="3267893" y="684848"/>
            <a:ext cx="420308" cy="89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50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51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103</a:t>
            </a:r>
          </a:p>
          <a:p>
            <a:pPr>
              <a:lnSpc>
                <a:spcPct val="110000"/>
              </a:lnSpc>
            </a:pPr>
            <a:endParaRPr lang="en-ZA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687CB8-335B-D770-029F-1D6C10D18BC4}"/>
              </a:ext>
            </a:extLst>
          </p:cNvPr>
          <p:cNvSpPr txBox="1"/>
          <p:nvPr/>
        </p:nvSpPr>
        <p:spPr>
          <a:xfrm>
            <a:off x="3610302" y="691992"/>
            <a:ext cx="420308" cy="691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204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153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0</a:t>
            </a:r>
            <a:endParaRPr lang="en-ZA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A3AC5-F247-97E6-ACA7-7141D88D4855}"/>
              </a:ext>
            </a:extLst>
          </p:cNvPr>
          <p:cNvSpPr txBox="1"/>
          <p:nvPr/>
        </p:nvSpPr>
        <p:spPr>
          <a:xfrm>
            <a:off x="3981998" y="699136"/>
            <a:ext cx="420308" cy="691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229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107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51</a:t>
            </a:r>
            <a:endParaRPr lang="en-ZA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18672-616B-8C11-FB32-BC03380052D1}"/>
              </a:ext>
            </a:extLst>
          </p:cNvPr>
          <p:cNvSpPr/>
          <p:nvPr/>
        </p:nvSpPr>
        <p:spPr>
          <a:xfrm>
            <a:off x="5292635" y="1805201"/>
            <a:ext cx="269966" cy="2052696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F1D8BA-2202-F8C9-EA10-4C76E5E96BA3}"/>
              </a:ext>
            </a:extLst>
          </p:cNvPr>
          <p:cNvSpPr/>
          <p:nvPr/>
        </p:nvSpPr>
        <p:spPr>
          <a:xfrm>
            <a:off x="5727444" y="1805202"/>
            <a:ext cx="269966" cy="1347301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ED66A4-53E8-5F12-ECC1-6C5767301DDD}"/>
              </a:ext>
            </a:extLst>
          </p:cNvPr>
          <p:cNvSpPr/>
          <p:nvPr/>
        </p:nvSpPr>
        <p:spPr>
          <a:xfrm>
            <a:off x="6006739" y="1805201"/>
            <a:ext cx="269966" cy="73770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E5EBF-1B08-8021-480C-47BB0AD35D01}"/>
              </a:ext>
            </a:extLst>
          </p:cNvPr>
          <p:cNvSpPr/>
          <p:nvPr/>
        </p:nvSpPr>
        <p:spPr>
          <a:xfrm>
            <a:off x="6309469" y="3021873"/>
            <a:ext cx="1826737" cy="261257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085681-658C-3C97-CB52-F06C273BE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712" y="5047428"/>
            <a:ext cx="4078577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5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C8233D8-7CE6-3040-A583-B424DEA90C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FC6D8A-FA2C-B54F-B35B-8DFC9810C9AC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43C047-B410-634B-9AD0-0B17B73EDCD0}"/>
              </a:ext>
            </a:extLst>
          </p:cNvPr>
          <p:cNvSpPr txBox="1"/>
          <p:nvPr/>
        </p:nvSpPr>
        <p:spPr>
          <a:xfrm>
            <a:off x="762000" y="190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What Turas Can 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E8EE64-A87D-4745-9389-EC091DB2CB05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  <a:latin typeface="Calibri"/>
                <a:cs typeface="Calibri"/>
              </a:rPr>
              <a:t>Analysis Modules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57FF6B-F539-1846-B74D-8D1A234B0100}"/>
              </a:ext>
            </a:extLst>
          </p:cNvPr>
          <p:cNvSpPr/>
          <p:nvPr/>
        </p:nvSpPr>
        <p:spPr>
          <a:xfrm>
            <a:off x="762000" y="14224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070BF6-DB99-F543-899E-E29C4E3D1578}"/>
              </a:ext>
            </a:extLst>
          </p:cNvPr>
          <p:cNvSpPr/>
          <p:nvPr/>
        </p:nvSpPr>
        <p:spPr>
          <a:xfrm>
            <a:off x="7620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3190C93-7907-B641-B8DD-EA779F0A213C}"/>
              </a:ext>
            </a:extLst>
          </p:cNvPr>
          <p:cNvSpPr/>
          <p:nvPr/>
        </p:nvSpPr>
        <p:spPr>
          <a:xfrm>
            <a:off x="35179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781D9EC-CFF0-3844-8E6C-D5412B0A3192}"/>
              </a:ext>
            </a:extLst>
          </p:cNvPr>
          <p:cNvSpPr/>
          <p:nvPr/>
        </p:nvSpPr>
        <p:spPr>
          <a:xfrm>
            <a:off x="62738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F64443-D3D6-A849-881D-F8A1A1BCD391}"/>
              </a:ext>
            </a:extLst>
          </p:cNvPr>
          <p:cNvSpPr/>
          <p:nvPr/>
        </p:nvSpPr>
        <p:spPr>
          <a:xfrm>
            <a:off x="90297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F58FC37-F053-2640-991A-B2F6CCE174BC}"/>
              </a:ext>
            </a:extLst>
          </p:cNvPr>
          <p:cNvSpPr/>
          <p:nvPr/>
        </p:nvSpPr>
        <p:spPr>
          <a:xfrm>
            <a:off x="7620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A7D42BE-E159-534A-95C2-3E080884706A}"/>
              </a:ext>
            </a:extLst>
          </p:cNvPr>
          <p:cNvSpPr/>
          <p:nvPr/>
        </p:nvSpPr>
        <p:spPr>
          <a:xfrm>
            <a:off x="35179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D49E127-BDD0-1B43-86D8-FD5A40893B80}"/>
              </a:ext>
            </a:extLst>
          </p:cNvPr>
          <p:cNvSpPr/>
          <p:nvPr/>
        </p:nvSpPr>
        <p:spPr>
          <a:xfrm>
            <a:off x="62738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9912827-55B8-954D-BAA4-4F76826FFD98}"/>
              </a:ext>
            </a:extLst>
          </p:cNvPr>
          <p:cNvSpPr/>
          <p:nvPr/>
        </p:nvSpPr>
        <p:spPr>
          <a:xfrm>
            <a:off x="90297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790DA2-E312-4C41-9213-1619638B3E3E}"/>
              </a:ext>
            </a:extLst>
          </p:cNvPr>
          <p:cNvSpPr txBox="1"/>
          <p:nvPr/>
        </p:nvSpPr>
        <p:spPr>
          <a:xfrm>
            <a:off x="8890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Tabs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B6FA97-7E01-EB4C-A664-8D16277891A2}"/>
              </a:ext>
            </a:extLst>
          </p:cNvPr>
          <p:cNvSpPr txBox="1"/>
          <p:nvPr/>
        </p:nvSpPr>
        <p:spPr>
          <a:xfrm>
            <a:off x="8890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Automated crosstabs with frequency, column %, row %, significance testing &amp; weighting.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03FE3-9A4B-1743-983E-31C587F473B1}"/>
              </a:ext>
            </a:extLst>
          </p:cNvPr>
          <p:cNvSpPr txBox="1"/>
          <p:nvPr/>
        </p:nvSpPr>
        <p:spPr>
          <a:xfrm>
            <a:off x="36449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Tracker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47FCD7-5CCC-C441-81B9-3168ECCF30F0}"/>
              </a:ext>
            </a:extLst>
          </p:cNvPr>
          <p:cNvSpPr txBox="1"/>
          <p:nvPr/>
        </p:nvSpPr>
        <p:spPr>
          <a:xfrm>
            <a:off x="36449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Multi-wave trend analysis with significance testing and question mapping across waves.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51E0F9-85D5-BB46-96C2-0DBAA6E95C85}"/>
              </a:ext>
            </a:extLst>
          </p:cNvPr>
          <p:cNvSpPr txBox="1"/>
          <p:nvPr/>
        </p:nvSpPr>
        <p:spPr>
          <a:xfrm>
            <a:off x="64008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Key Driver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21EAE8-B1A8-AD42-B659-03CF9BBDB478}"/>
              </a:ext>
            </a:extLst>
          </p:cNvPr>
          <p:cNvSpPr txBox="1"/>
          <p:nvPr/>
        </p:nvSpPr>
        <p:spPr>
          <a:xfrm>
            <a:off x="64008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Identifies factors with the strongest statistical relationship to key business outcomes.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9AE69A-C069-AB49-BFFE-90A9D60AC8A7}"/>
              </a:ext>
            </a:extLst>
          </p:cNvPr>
          <p:cNvSpPr txBox="1"/>
          <p:nvPr/>
        </p:nvSpPr>
        <p:spPr>
          <a:xfrm>
            <a:off x="91567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Key Driver (Cat.)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989C79-1E27-CB4D-8E36-D438D3355670}"/>
              </a:ext>
            </a:extLst>
          </p:cNvPr>
          <p:cNvSpPr txBox="1"/>
          <p:nvPr/>
        </p:nvSpPr>
        <p:spPr>
          <a:xfrm>
            <a:off x="91567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Regression methods for categorical outcomes — purchase decisions, segments, or tiers.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AE5A11-65E8-4047-A2B8-2B13CA66730C}"/>
              </a:ext>
            </a:extLst>
          </p:cNvPr>
          <p:cNvSpPr txBox="1"/>
          <p:nvPr/>
        </p:nvSpPr>
        <p:spPr>
          <a:xfrm>
            <a:off x="8890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Segment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41FE5B-4D9E-B945-8BCA-A1DDD336A85F}"/>
              </a:ext>
            </a:extLst>
          </p:cNvPr>
          <p:cNvSpPr txBox="1"/>
          <p:nvPr/>
        </p:nvSpPr>
        <p:spPr>
          <a:xfrm>
            <a:off x="8890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Statistical clustering to discover natural customer groups beyond broad averages.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82F090-30CF-AF4D-9458-44D4ECDAC31A}"/>
              </a:ext>
            </a:extLst>
          </p:cNvPr>
          <p:cNvSpPr txBox="1"/>
          <p:nvPr/>
        </p:nvSpPr>
        <p:spPr>
          <a:xfrm>
            <a:off x="36449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Conjoint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1BEF0A-1593-2743-AF66-78215481E6C2}"/>
              </a:ext>
            </a:extLst>
          </p:cNvPr>
          <p:cNvSpPr txBox="1"/>
          <p:nvPr/>
        </p:nvSpPr>
        <p:spPr>
          <a:xfrm>
            <a:off x="36449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Discrete choice modelling with an Excel-based interactive market simulator.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9C3EF0-82D5-004D-9A17-2AFF25A97564}"/>
              </a:ext>
            </a:extLst>
          </p:cNvPr>
          <p:cNvSpPr txBox="1"/>
          <p:nvPr/>
        </p:nvSpPr>
        <p:spPr>
          <a:xfrm>
            <a:off x="64008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MaxDiff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CBB32C-2E22-8A47-83E4-79C1EA177110}"/>
              </a:ext>
            </a:extLst>
          </p:cNvPr>
          <p:cNvSpPr txBox="1"/>
          <p:nvPr/>
        </p:nvSpPr>
        <p:spPr>
          <a:xfrm>
            <a:off x="64008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Precise preference rankings from balanced best/worst item sets.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EAE9E5-6F0C-8246-8FCF-09E439AB5914}"/>
              </a:ext>
            </a:extLst>
          </p:cNvPr>
          <p:cNvSpPr txBox="1"/>
          <p:nvPr/>
        </p:nvSpPr>
        <p:spPr>
          <a:xfrm>
            <a:off x="91567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Pricing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D06395-3496-7343-A2ED-871DF34814A3}"/>
              </a:ext>
            </a:extLst>
          </p:cNvPr>
          <p:cNvSpPr txBox="1"/>
          <p:nvPr/>
        </p:nvSpPr>
        <p:spPr>
          <a:xfrm>
            <a:off x="91567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Price sensitivity analysis using Van Westendorp &amp; Gabor-Granger models.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C3CA275-5B10-E84F-BA78-7C50005E6DBC}"/>
              </a:ext>
            </a:extLst>
          </p:cNvPr>
          <p:cNvSpPr/>
          <p:nvPr/>
        </p:nvSpPr>
        <p:spPr>
          <a:xfrm>
            <a:off x="762000" y="4318000"/>
            <a:ext cx="10668000" cy="698500"/>
          </a:xfrm>
          <a:prstGeom prst="round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5ADAF3-61C3-C541-9DDB-D07F886F79FE}"/>
              </a:ext>
            </a:extLst>
          </p:cNvPr>
          <p:cNvSpPr txBox="1"/>
          <p:nvPr/>
        </p:nvSpPr>
        <p:spPr>
          <a:xfrm>
            <a:off x="9525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7AB5E8"/>
                </a:solidFill>
                <a:latin typeface="Calibri"/>
                <a:cs typeface="Calibri"/>
              </a:rPr>
              <a:t>Supporting Modules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28D3C2-0AEF-9F43-A3A9-3276BF9C851D}"/>
              </a:ext>
            </a:extLst>
          </p:cNvPr>
          <p:cNvSpPr txBox="1"/>
          <p:nvPr/>
        </p:nvSpPr>
        <p:spPr>
          <a:xfrm>
            <a:off x="952500" y="4648200"/>
            <a:ext cx="1028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dirty="0">
                <a:solidFill>
                  <a:srgbClr val="CCCCCC"/>
                </a:solidFill>
                <a:latin typeface="Calibri"/>
                <a:cs typeface="Calibri"/>
              </a:rPr>
              <a:t>Weighting — ensures data represents your target population  |  Confidence — rigorous validity testing beyond standard significance flags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B49658-CD81-4F4A-BEE8-82A4157F8438}"/>
              </a:ext>
            </a:extLst>
          </p:cNvPr>
          <p:cNvSpPr txBox="1"/>
          <p:nvPr/>
        </p:nvSpPr>
        <p:spPr>
          <a:xfrm>
            <a:off x="762000" y="3969108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GB" sz="1200" i="1" dirty="0">
                <a:solidFill>
                  <a:srgbClr val="999999"/>
                </a:solidFill>
                <a:latin typeface="Calibri"/>
                <a:cs typeface="Calibri"/>
              </a:rPr>
              <a:t>Current operational modules (with more in development)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69B0F3-4AA1-444C-9A47-8B57023619BB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A58C9D-15F4-854C-B25E-D94CE378247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3627-5B54-92CC-23C0-1719AE2C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Overall satisfaction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823819-EFD8-54A8-CBEE-F41AD6A89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536" y="1825625"/>
            <a:ext cx="7778928" cy="4351338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76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0344-D7B7-E3E4-2063-A2FF0943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Age by region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05FF194-763A-3264-0F85-7F293E0C6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5218" y="1825625"/>
            <a:ext cx="9981563" cy="4351338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61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8476-1AE8-31CE-0D75-A7574802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What is driving satisfaction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D2BCE-A4A7-9E32-3529-2E4133AC8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321B-5570-74FC-E35A-129FF3F4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pPr algn="l"/>
            <a:r>
              <a:rPr lang="en-GB" sz="2400" b="1" dirty="0">
                <a:solidFill>
                  <a:srgbClr val="1B2A3D"/>
                </a:solidFill>
                <a:latin typeface="Calibri"/>
              </a:rPr>
              <a:t>The older you are the higher the chances of satisfaction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75E0A76-F89C-BD26-F9F5-14BB0431B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26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1D50-A656-AA12-BCE4-0B63EA6B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Cross wave comparison</a:t>
            </a:r>
          </a:p>
        </p:txBody>
      </p:sp>
      <p:pic>
        <p:nvPicPr>
          <p:cNvPr id="9" name="Content Placeholder 8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1212E547-028A-E5FD-29F3-491EAAA13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612" y="1825625"/>
            <a:ext cx="6588776" cy="4351338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61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B6B47-D3CA-316F-5961-3925B345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D936-2845-D175-D7B8-E9FA08B9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Importance performance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46C3-54A6-0527-7D93-8176FBE5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20" name="AccentLine">
            <a:extLst>
              <a:ext uri="{FF2B5EF4-FFF2-40B4-BE49-F238E27FC236}">
                <a16:creationId xmlns:a16="http://schemas.microsoft.com/office/drawing/2014/main" id="{C0A8309F-8240-07B6-4CE8-7EF79987B872}"/>
              </a:ext>
            </a:extLst>
          </p:cNvPr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>
            <a:extLst>
              <a:ext uri="{FF2B5EF4-FFF2-40B4-BE49-F238E27FC236}">
                <a16:creationId xmlns:a16="http://schemas.microsoft.com/office/drawing/2014/main" id="{AF5923D6-6734-ADFE-534F-12412D068CC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607900-133F-A11C-EA44-AFA3A125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73" y="1021760"/>
            <a:ext cx="10157255" cy="571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58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B73C2-984A-1002-FE45-A7C025C5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7B31-E80B-CFB2-3348-A12A4FF7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A55FEB41-169C-DFC5-EB93-338C6BA9F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612" y="1825625"/>
            <a:ext cx="5776776" cy="4351338"/>
          </a:xfrm>
          <a:prstGeom prst="rect">
            <a:avLst/>
          </a:prstGeom>
        </p:spPr>
      </p:pic>
      <p:sp>
        <p:nvSpPr>
          <p:cNvPr id="20" name="TopAccentBar">
            <a:extLst>
              <a:ext uri="{FF2B5EF4-FFF2-40B4-BE49-F238E27FC236}">
                <a16:creationId xmlns:a16="http://schemas.microsoft.com/office/drawing/2014/main" id="{F6F75ACC-389C-4142-A542-20537875AC3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4E43171-CBB9-5BD6-00E5-1F8096AB6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29F7A2-D2DD-22B2-51D0-CB66BC8ABA07}"/>
              </a:ext>
            </a:extLst>
          </p:cNvPr>
          <p:cNvSpPr txBox="1"/>
          <p:nvPr/>
        </p:nvSpPr>
        <p:spPr>
          <a:xfrm>
            <a:off x="714500" y="5261427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dirty="0">
                <a:solidFill>
                  <a:srgbClr val="7AB5E8"/>
                </a:solidFill>
                <a:latin typeface="Calibri"/>
                <a:cs typeface="Calibri"/>
              </a:rPr>
              <a:t>Reproducible research analysis, delivered.</a:t>
            </a:r>
          </a:p>
        </p:txBody>
      </p:sp>
    </p:spTree>
    <p:extLst>
      <p:ext uri="{BB962C8B-B14F-4D97-AF65-F5344CB8AC3E}">
        <p14:creationId xmlns:p14="http://schemas.microsoft.com/office/powerpoint/2010/main" val="370307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0F4F8"/>
      </a:dk1>
      <a:lt1>
        <a:srgbClr val="0B1929"/>
      </a:lt1>
      <a:dk2>
        <a:srgbClr val="B8C9DB"/>
      </a:dk2>
      <a:lt2>
        <a:srgbClr val="132B45"/>
      </a:lt2>
      <a:accent1>
        <a:srgbClr val="00D4AA"/>
      </a:accent1>
      <a:accent2>
        <a:srgbClr val="4A90D9"/>
      </a:accent2>
      <a:accent3>
        <a:srgbClr val="7C5CFC"/>
      </a:accent3>
      <a:accent4>
        <a:srgbClr val="FF6B6B"/>
      </a:accent4>
      <a:accent5>
        <a:srgbClr val="FFD93D"/>
      </a:accent5>
      <a:accent6>
        <a:srgbClr val="4ECDC4"/>
      </a:accent6>
      <a:hlink>
        <a:srgbClr val="467886"/>
      </a:hlink>
      <a:folHlink>
        <a:srgbClr val="96607D"/>
      </a:folHlink>
    </a:clrScheme>
    <a:fontScheme name="Office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20267</TotalTime>
  <Words>1062</Words>
  <Application>Microsoft Macintosh PowerPoint</Application>
  <PresentationFormat>Widescreen</PresentationFormat>
  <Paragraphs>201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Calibri Light</vt:lpstr>
      <vt:lpstr>Raleway</vt:lpstr>
      <vt:lpstr>Source Sans Pro</vt:lpstr>
      <vt:lpstr>Office Theme</vt:lpstr>
      <vt:lpstr>Office Theme</vt:lpstr>
      <vt:lpstr>Turas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Slides from Turas Demonstrating report pin outputs</vt:lpstr>
      <vt:lpstr>PowerPoint Presentation</vt:lpstr>
      <vt:lpstr>PowerPoint Presentation</vt:lpstr>
      <vt:lpstr>PowerPoint Presentation</vt:lpstr>
      <vt:lpstr>Overall satisfaction</vt:lpstr>
      <vt:lpstr>Age by region</vt:lpstr>
      <vt:lpstr>What is driving satisfaction</vt:lpstr>
      <vt:lpstr>The older you are the higher the chances of satisfaction</vt:lpstr>
      <vt:lpstr>Cross wave comparison</vt:lpstr>
      <vt:lpstr>Importance performance maps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16</cp:revision>
  <dcterms:created xsi:type="dcterms:W3CDTF">2026-02-19T04:31:59Z</dcterms:created>
  <dcterms:modified xsi:type="dcterms:W3CDTF">2026-03-16T13:33:43Z</dcterms:modified>
</cp:coreProperties>
</file>