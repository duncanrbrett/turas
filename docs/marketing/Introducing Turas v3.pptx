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1"/>
  </p:notesMasterIdLst>
  <p:sldIdLst>
    <p:sldId id="296" r:id="rId3"/>
    <p:sldId id="332" r:id="rId4"/>
    <p:sldId id="333" r:id="rId5"/>
    <p:sldId id="323" r:id="rId6"/>
    <p:sldId id="334" r:id="rId7"/>
    <p:sldId id="325" r:id="rId8"/>
    <p:sldId id="326" r:id="rId9"/>
    <p:sldId id="327" r:id="rId10"/>
    <p:sldId id="328" r:id="rId11"/>
    <p:sldId id="329" r:id="rId12"/>
    <p:sldId id="330" r:id="rId13"/>
    <p:sldId id="336" r:id="rId14"/>
    <p:sldId id="341" r:id="rId15"/>
    <p:sldId id="342" r:id="rId16"/>
    <p:sldId id="343" r:id="rId17"/>
    <p:sldId id="344" r:id="rId18"/>
    <p:sldId id="331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/>
    <p:restoredTop sz="94694"/>
  </p:normalViewPr>
  <p:slideViewPr>
    <p:cSldViewPr snapToGrid="0">
      <p:cViewPr varScale="1">
        <p:scale>
          <a:sx n="100" d="100"/>
          <a:sy n="100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 Analytics Engine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9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WHAT IS TURAS?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Research Should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Work Harder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01</a:t>
            </a:r>
          </a:p>
        </p:txBody>
      </p:sp>
      <p:sp>
        <p:nvSpPr>
          <p:cNvPr id="106" name="MidAcc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BG"/>
          <p:cNvSpPr/>
          <p:nvPr/>
        </p:nvSpPr>
        <p:spPr>
          <a:xfrm>
            <a:off x="762000" y="1968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0Acc"/>
          <p:cNvSpPr/>
          <p:nvPr/>
        </p:nvSpPr>
        <p:spPr>
          <a:xfrm>
            <a:off x="762000" y="1968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0Txt"/>
          <p:cNvSpPr/>
          <p:nvPr/>
        </p:nvSpPr>
        <p:spPr>
          <a:xfrm>
            <a:off x="1041400" y="2120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Good Data, Limited Life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commission research and get a deck that answers the questions you asked at the time.</a:t>
            </a:r>
          </a:p>
        </p:txBody>
      </p:sp>
      <p:sp>
        <p:nvSpPr>
          <p:cNvPr id="113" name="C1BG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C1Acc"/>
          <p:cNvSpPr/>
          <p:nvPr/>
        </p:nvSpPr>
        <p:spPr>
          <a:xfrm>
            <a:off x="762000" y="34290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C1Txt"/>
          <p:cNvSpPr/>
          <p:nvPr/>
        </p:nvSpPr>
        <p:spPr>
          <a:xfrm>
            <a:off x="1041400" y="35814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New Questions, Old Process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new question surfaces, someone has to reopen the dataset and rebuild the analysis. That takes time and money.</a:t>
            </a:r>
          </a:p>
        </p:txBody>
      </p:sp>
      <p:sp>
        <p:nvSpPr>
          <p:cNvPr id="116" name="C2BG"/>
          <p:cNvSpPr/>
          <p:nvPr/>
        </p:nvSpPr>
        <p:spPr>
          <a:xfrm>
            <a:off x="762000" y="4889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C2Acc"/>
          <p:cNvSpPr/>
          <p:nvPr/>
        </p:nvSpPr>
        <p:spPr>
          <a:xfrm>
            <a:off x="762000" y="4889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C2Txt"/>
          <p:cNvSpPr/>
          <p:nvPr/>
        </p:nvSpPr>
        <p:spPr>
          <a:xfrm>
            <a:off x="1041400" y="5041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There Is a Better Way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Most research ends up as a presentation rather than a resource. Turas changes that.</a:t>
            </a:r>
          </a:p>
        </p:txBody>
      </p:sp>
      <p:sp>
        <p:nvSpPr>
          <p:cNvPr id="1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6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WHY YOU CAN TRUST IT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Turas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Delivers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02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0"/>
          <p:cNvSpPr/>
          <p:nvPr/>
        </p:nvSpPr>
        <p:spPr>
          <a:xfrm>
            <a:off x="762000" y="1905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0"/>
          <p:cNvSpPr/>
          <p:nvPr/>
        </p:nvSpPr>
        <p:spPr>
          <a:xfrm>
            <a:off x="914400" y="1905000"/>
            <a:ext cx="635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0"/>
          <p:cNvSpPr/>
          <p:nvPr/>
        </p:nvSpPr>
        <p:spPr>
          <a:xfrm>
            <a:off x="952500" y="2095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Interactive Analytics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An interactive resource your team can explore, share, and return to</a:t>
            </a:r>
          </a:p>
        </p:txBody>
      </p:sp>
      <p:sp>
        <p:nvSpPr>
          <p:cNvPr id="113" name="F1"/>
          <p:cNvSpPr/>
          <p:nvPr/>
        </p:nvSpPr>
        <p:spPr>
          <a:xfrm>
            <a:off x="6350000" y="1905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1"/>
          <p:cNvSpPr/>
          <p:nvPr/>
        </p:nvSpPr>
        <p:spPr>
          <a:xfrm>
            <a:off x="6502400" y="1905000"/>
            <a:ext cx="635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1"/>
          <p:cNvSpPr/>
          <p:nvPr/>
        </p:nvSpPr>
        <p:spPr>
          <a:xfrm>
            <a:off x="6540500" y="2095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Rigorous Statistics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Statistical analysis run directly from your data with full transparency</a:t>
            </a:r>
          </a:p>
        </p:txBody>
      </p:sp>
      <p:sp>
        <p:nvSpPr>
          <p:cNvPr id="116" name="F2"/>
          <p:cNvSpPr/>
          <p:nvPr/>
        </p:nvSpPr>
        <p:spPr>
          <a:xfrm>
            <a:off x="762000" y="3429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2"/>
          <p:cNvSpPr/>
          <p:nvPr/>
        </p:nvSpPr>
        <p:spPr>
          <a:xfrm>
            <a:off x="914400" y="3429000"/>
            <a:ext cx="635000" cy="381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2"/>
          <p:cNvSpPr/>
          <p:nvPr/>
        </p:nvSpPr>
        <p:spPr>
          <a:xfrm>
            <a:off x="952500" y="3619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Permanent Record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One dataset. One report. Useful for as long as the data is relevant</a:t>
            </a:r>
          </a:p>
        </p:txBody>
      </p:sp>
      <p:sp>
        <p:nvSpPr>
          <p:cNvPr id="119" name="F3"/>
          <p:cNvSpPr/>
          <p:nvPr/>
        </p:nvSpPr>
        <p:spPr>
          <a:xfrm>
            <a:off x="6350000" y="3429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0" name="FA3"/>
          <p:cNvSpPr/>
          <p:nvPr/>
        </p:nvSpPr>
        <p:spPr>
          <a:xfrm>
            <a:off x="6502400" y="3429000"/>
            <a:ext cx="635000" cy="381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" name="FT3"/>
          <p:cNvSpPr/>
          <p:nvPr/>
        </p:nvSpPr>
        <p:spPr>
          <a:xfrm>
            <a:off x="6540500" y="3619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Pay Per Project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No subscription fees. No licence costs. No new Software. 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No installations. 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pay per project.</a:t>
            </a:r>
          </a:p>
        </p:txBody>
      </p:sp>
      <p:sp>
        <p:nvSpPr>
          <p:cNvPr id="140" name="Quote"/>
          <p:cNvSpPr/>
          <p:nvPr/>
        </p:nvSpPr>
        <p:spPr>
          <a:xfrm>
            <a:off x="762000" y="5207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One dataset. One report. Useful for as long as the data is relevant.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5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TECHNOLOGY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Serious Statistical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Foundations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03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"/>
          <p:cNvSpPr/>
          <p:nvPr/>
        </p:nvSpPr>
        <p:spPr>
          <a:xfrm>
            <a:off x="7620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T0"/>
          <p:cNvSpPr/>
          <p:nvPr/>
        </p:nvSpPr>
        <p:spPr>
          <a:xfrm>
            <a:off x="9525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Built on R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open-source statistical environment used by national statistics offices, central banks, and universities worldwide.</a:t>
            </a:r>
          </a:p>
        </p:txBody>
      </p:sp>
      <p:sp>
        <p:nvSpPr>
          <p:cNvPr id="112" name="C1"/>
          <p:cNvSpPr/>
          <p:nvPr/>
        </p:nvSpPr>
        <p:spPr>
          <a:xfrm>
            <a:off x="44958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CT1"/>
          <p:cNvSpPr/>
          <p:nvPr/>
        </p:nvSpPr>
        <p:spPr>
          <a:xfrm>
            <a:off x="46863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Fully Transparent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calculation is inspectable. Methods can be examined and verified. Results trace back to underlying tables.</a:t>
            </a:r>
          </a:p>
        </p:txBody>
      </p:sp>
      <p:sp>
        <p:nvSpPr>
          <p:cNvPr id="114" name="C2"/>
          <p:cNvSpPr/>
          <p:nvPr/>
        </p:nvSpPr>
        <p:spPr>
          <a:xfrm>
            <a:off x="8229600" y="1968500"/>
            <a:ext cx="32004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CT2"/>
          <p:cNvSpPr/>
          <p:nvPr/>
        </p:nvSpPr>
        <p:spPr>
          <a:xfrm>
            <a:off x="8420100" y="2032000"/>
            <a:ext cx="28194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No Black Boxes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finding is challenged, you have a clean, traceable analytical record to stand behind.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Every result traces directly back to the underlying tables.</a:t>
            </a:r>
          </a:p>
          <a:p>
            <a:pPr algn="ctr"/>
            <a:r>
              <a:rPr lang="en-GB" sz="1400" dirty="0">
                <a:solidFill>
                  <a:srgbClr val="B8C9DB"/>
                </a:solidFill>
                <a:latin typeface="Source Sans Pro"/>
              </a:rPr>
              <a:t>Open, transparent.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8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SERVICE MODEL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Professional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Oversight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04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KeyStat"/>
          <p:cNvSpPr/>
          <p:nvPr/>
        </p:nvSpPr>
        <p:spPr>
          <a:xfrm>
            <a:off x="762000" y="1879600"/>
            <a:ext cx="1066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800" i="1" dirty="0">
                <a:solidFill>
                  <a:srgbClr val="323367"/>
                </a:solidFill>
                <a:latin typeface="Source Sans Pro"/>
              </a:rPr>
              <a:t>Turas is not a self-service tool.</a:t>
            </a:r>
          </a:p>
        </p:txBody>
      </p:sp>
      <p:sp>
        <p:nvSpPr>
          <p:cNvPr id="110" name="PC0"/>
          <p:cNvSpPr/>
          <p:nvPr/>
        </p:nvSpPr>
        <p:spPr>
          <a:xfrm>
            <a:off x="762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0"/>
          <p:cNvSpPr/>
          <p:nvPr/>
        </p:nvSpPr>
        <p:spPr>
          <a:xfrm>
            <a:off x="952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SAMRA Accredited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Research LampPost is a member of the Southern African Marketing Research Association. Duncan Brett is SAMRA-accredited with 30+ years in quantitative market research.</a:t>
            </a:r>
          </a:p>
        </p:txBody>
      </p:sp>
      <p:sp>
        <p:nvSpPr>
          <p:cNvPr id="112" name="PC1"/>
          <p:cNvSpPr/>
          <p:nvPr/>
        </p:nvSpPr>
        <p:spPr>
          <a:xfrm>
            <a:off x="6350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1"/>
          <p:cNvSpPr/>
          <p:nvPr/>
        </p:nvSpPr>
        <p:spPr>
          <a:xfrm>
            <a:off x="6540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Guided End-to-End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project is guided from data preparation through to final output. The right methods are applied, data is structured correctly, and results are interpreted responsibly.</a:t>
            </a:r>
          </a:p>
        </p:txBody>
      </p:sp>
      <p:sp>
        <p:nvSpPr>
          <p:cNvPr id="140" name="Stat"/>
          <p:cNvSpPr/>
          <p:nvPr/>
        </p:nvSpPr>
        <p:spPr>
          <a:xfrm>
            <a:off x="762000" y="52705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2800" b="1" dirty="0">
                <a:solidFill>
                  <a:srgbClr val="CC9900"/>
                </a:solidFill>
                <a:latin typeface="Raleway"/>
              </a:rPr>
              <a:t>30+</a:t>
            </a:r>
            <a:r>
              <a:rPr lang="en-GB" sz="1600" dirty="0">
                <a:solidFill>
                  <a:srgbClr val="FFFFFF"/>
                </a:solidFill>
                <a:latin typeface="Source Sans Pro"/>
              </a:rPr>
              <a:t>  years of quantitative market research expertise behind every project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05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DATA SECURITY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Stays With You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05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0"/>
          <p:cNvSpPr/>
          <p:nvPr/>
        </p:nvSpPr>
        <p:spPr>
          <a:xfrm>
            <a:off x="7620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T0"/>
          <p:cNvSpPr/>
          <p:nvPr/>
        </p:nvSpPr>
        <p:spPr>
          <a:xfrm>
            <a:off x="9525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3E3E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No Cloud Upload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Your dataset is never uploaded to a cloud platform or shared with a third party</a:t>
            </a:r>
          </a:p>
        </p:txBody>
      </p:sp>
      <p:sp>
        <p:nvSpPr>
          <p:cNvPr id="112" name="S1"/>
          <p:cNvSpPr/>
          <p:nvPr/>
        </p:nvSpPr>
        <p:spPr>
          <a:xfrm>
            <a:off x="44958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ST1"/>
          <p:cNvSpPr/>
          <p:nvPr/>
        </p:nvSpPr>
        <p:spPr>
          <a:xfrm>
            <a:off x="46863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Controlled Environment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All analysis runs on our own hardware in a secure, controlled environment</a:t>
            </a:r>
          </a:p>
        </p:txBody>
      </p:sp>
      <p:sp>
        <p:nvSpPr>
          <p:cNvPr id="114" name="S2"/>
          <p:cNvSpPr/>
          <p:nvPr/>
        </p:nvSpPr>
        <p:spPr>
          <a:xfrm>
            <a:off x="82296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ST2"/>
          <p:cNvSpPr/>
          <p:nvPr/>
        </p:nvSpPr>
        <p:spPr>
          <a:xfrm>
            <a:off x="84201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Immutable Record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delivered report is finalised and self-contained — it cannot be altered after the fact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A stable record of exactly what the data showed at the time of analysis.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5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SPEED &amp; RELIABILITY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Fast, Consistent,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Dependable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06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ast"/>
          <p:cNvSpPr/>
          <p:nvPr/>
        </p:nvSpPr>
        <p:spPr>
          <a:xfrm>
            <a:off x="762000" y="1905000"/>
            <a:ext cx="5334000" cy="15240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CC9900"/>
            </a:solidFill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200"/>
              </a:spcAft>
            </a:pPr>
            <a:r>
              <a:rPr lang="en-GB" sz="4000" b="1" dirty="0">
                <a:solidFill>
                  <a:srgbClr val="CC9900"/>
                </a:solidFill>
                <a:latin typeface="Raleway"/>
              </a:rPr>
              <a:t>1 Day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Preliminary output after fieldwork closes</a:t>
            </a:r>
          </a:p>
        </p:txBody>
      </p:sp>
      <p:sp>
        <p:nvSpPr>
          <p:cNvPr id="111" name="Slow"/>
          <p:cNvSpPr/>
          <p:nvPr/>
        </p:nvSpPr>
        <p:spPr>
          <a:xfrm>
            <a:off x="6350000" y="1905000"/>
            <a:ext cx="5080000" cy="1524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53E3E"/>
            </a:solidFill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200"/>
              </a:spcAft>
            </a:pPr>
            <a:r>
              <a:rPr lang="en-GB" sz="4000" b="1" dirty="0">
                <a:solidFill>
                  <a:srgbClr val="E53E3E"/>
                </a:solidFill>
                <a:latin typeface="Raleway"/>
              </a:rPr>
              <a:t>Weeks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Traditional analysis timeline</a:t>
            </a:r>
          </a:p>
        </p:txBody>
      </p:sp>
      <p:sp>
        <p:nvSpPr>
          <p:cNvPr id="120" name="Cons"/>
          <p:cNvSpPr/>
          <p:nvPr/>
        </p:nvSpPr>
        <p:spPr>
          <a:xfrm>
            <a:off x="762000" y="3746500"/>
            <a:ext cx="10668000" cy="127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1" name="CAcc"/>
          <p:cNvSpPr/>
          <p:nvPr/>
        </p:nvSpPr>
        <p:spPr>
          <a:xfrm>
            <a:off x="762000" y="3746500"/>
            <a:ext cx="63500" cy="12700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" name="CTxt"/>
          <p:cNvSpPr/>
          <p:nvPr/>
        </p:nvSpPr>
        <p:spPr>
          <a:xfrm>
            <a:off x="1041400" y="3873500"/>
            <a:ext cx="1016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Built-in Consistency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Same methods, every time. For tracking studies, results stay comparable across waves.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Controlled computational environment. Reproducible results. Every time.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57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DELIVERABLE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Interactive Report,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Not Static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C0"/>
          <p:cNvSpPr/>
          <p:nvPr/>
        </p:nvSpPr>
        <p:spPr>
          <a:xfrm>
            <a:off x="762000" y="190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0"/>
          <p:cNvSpPr/>
          <p:nvPr/>
        </p:nvSpPr>
        <p:spPr>
          <a:xfrm>
            <a:off x="762000" y="190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0"/>
          <p:cNvSpPr/>
          <p:nvPr/>
        </p:nvSpPr>
        <p:spPr>
          <a:xfrm>
            <a:off x="1041400" y="200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Browser-Based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Runs in any modern browser. Nothing to install, no subscription, no licence to manage.</a:t>
            </a:r>
          </a:p>
        </p:txBody>
      </p:sp>
      <p:sp>
        <p:nvSpPr>
          <p:cNvPr id="113" name="FC1"/>
          <p:cNvSpPr/>
          <p:nvPr/>
        </p:nvSpPr>
        <p:spPr>
          <a:xfrm>
            <a:off x="762000" y="317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1"/>
          <p:cNvSpPr/>
          <p:nvPr/>
        </p:nvSpPr>
        <p:spPr>
          <a:xfrm>
            <a:off x="762000" y="317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1"/>
          <p:cNvSpPr/>
          <p:nvPr/>
        </p:nvSpPr>
        <p:spPr>
          <a:xfrm>
            <a:off x="1041400" y="327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Single Source of Truth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Browse all tables, switch between table and chart views, cut by any segment — without waiting for the analyst.</a:t>
            </a:r>
          </a:p>
        </p:txBody>
      </p:sp>
      <p:sp>
        <p:nvSpPr>
          <p:cNvPr id="116" name="FC2"/>
          <p:cNvSpPr/>
          <p:nvPr/>
        </p:nvSpPr>
        <p:spPr>
          <a:xfrm>
            <a:off x="762000" y="444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2"/>
          <p:cNvSpPr/>
          <p:nvPr/>
        </p:nvSpPr>
        <p:spPr>
          <a:xfrm>
            <a:off x="762000" y="444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2"/>
          <p:cNvSpPr/>
          <p:nvPr/>
        </p:nvSpPr>
        <p:spPr>
          <a:xfrm>
            <a:off x="1041400" y="454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Excel Export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Tables can be exported to Excel at any point, fitting into existing workflows.</a:t>
            </a:r>
          </a:p>
        </p:txBody>
      </p:sp>
      <p:sp>
        <p:nvSpPr>
          <p:cNvPr id="140" name="Tag2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GB" sz="1400" dirty="0">
                <a:solidFill>
                  <a:srgbClr val="FFFFFF"/>
                </a:solidFill>
                <a:latin typeface="Source Sans Pro"/>
              </a:rPr>
              <a:t>Zero installation  |  Zero subscriptions  |  Zero licence management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0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WORKFLOW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From Exploration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to Presentation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08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tep0"/>
          <p:cNvSpPr/>
          <p:nvPr/>
        </p:nvSpPr>
        <p:spPr>
          <a:xfrm>
            <a:off x="7620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N0"/>
          <p:cNvSpPr/>
          <p:nvPr/>
        </p:nvSpPr>
        <p:spPr>
          <a:xfrm>
            <a:off x="2222500" y="2159000"/>
            <a:ext cx="558800" cy="558800"/>
          </a:xfrm>
          <a:prstGeom prst="ellipse">
            <a:avLst/>
          </a:prstGeom>
          <a:solidFill>
            <a:srgbClr val="CC990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12" name="STxt0"/>
          <p:cNvSpPr/>
          <p:nvPr/>
        </p:nvSpPr>
        <p:spPr>
          <a:xfrm>
            <a:off x="9525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Explore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Browse tables, switch views, cut by any segment in the interactive report</a:t>
            </a:r>
          </a:p>
        </p:txBody>
      </p:sp>
      <p:sp>
        <p:nvSpPr>
          <p:cNvPr id="140" name="Arr0"/>
          <p:cNvSpPr/>
          <p:nvPr/>
        </p:nvSpPr>
        <p:spPr>
          <a:xfrm>
            <a:off x="4241800" y="3048000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000" dirty="0">
                <a:solidFill>
                  <a:srgbClr val="CC9900"/>
                </a:solidFill>
                <a:latin typeface="Raleway"/>
              </a:rPr>
              <a:t>→</a:t>
            </a:r>
          </a:p>
        </p:txBody>
      </p:sp>
      <p:sp>
        <p:nvSpPr>
          <p:cNvPr id="113" name="Step1"/>
          <p:cNvSpPr/>
          <p:nvPr/>
        </p:nvSpPr>
        <p:spPr>
          <a:xfrm>
            <a:off x="44958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SN1"/>
          <p:cNvSpPr/>
          <p:nvPr/>
        </p:nvSpPr>
        <p:spPr>
          <a:xfrm>
            <a:off x="5956300" y="2159000"/>
            <a:ext cx="558800" cy="5588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115" name="STxt1"/>
          <p:cNvSpPr/>
          <p:nvPr/>
        </p:nvSpPr>
        <p:spPr>
          <a:xfrm>
            <a:off x="46863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Pin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Capture key findings with charts, commentary and images using pinned views</a:t>
            </a:r>
          </a:p>
        </p:txBody>
      </p:sp>
      <p:sp>
        <p:nvSpPr>
          <p:cNvPr id="141" name="Arr1"/>
          <p:cNvSpPr/>
          <p:nvPr/>
        </p:nvSpPr>
        <p:spPr>
          <a:xfrm>
            <a:off x="7975600" y="3048000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000" dirty="0">
                <a:solidFill>
                  <a:srgbClr val="CC9900"/>
                </a:solidFill>
                <a:latin typeface="Raleway"/>
              </a:rPr>
              <a:t>→</a:t>
            </a:r>
          </a:p>
        </p:txBody>
      </p:sp>
      <p:sp>
        <p:nvSpPr>
          <p:cNvPr id="116" name="Step2"/>
          <p:cNvSpPr/>
          <p:nvPr/>
        </p:nvSpPr>
        <p:spPr>
          <a:xfrm>
            <a:off x="82296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SN2"/>
          <p:cNvSpPr/>
          <p:nvPr/>
        </p:nvSpPr>
        <p:spPr>
          <a:xfrm>
            <a:off x="9690100" y="2159000"/>
            <a:ext cx="558800" cy="5588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118" name="STxt2"/>
          <p:cNvSpPr/>
          <p:nvPr/>
        </p:nvSpPr>
        <p:spPr>
          <a:xfrm>
            <a:off x="84201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Present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Export pinned views to PowerPoint or PDF for stakeholder presentation</a:t>
            </a:r>
          </a:p>
        </p:txBody>
      </p:sp>
      <p:sp>
        <p:nvSpPr>
          <p:cNvPr id="145" name="Call"/>
          <p:cNvSpPr/>
          <p:nvPr/>
        </p:nvSpPr>
        <p:spPr>
          <a:xfrm>
            <a:off x="762000" y="50165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One environment for both exploration and presentation — no tool-switching required.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05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190500"/>
            <a:ext cx="3556000" cy="2540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PLATFORM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Raleway"/>
              </a:rPr>
              <a:t>What Turas Can </a:t>
            </a:r>
            <a:r>
              <a:rPr lang="en-GB" sz="2600" b="1" dirty="0">
                <a:solidFill>
                  <a:srgbClr val="CC9900"/>
                </a:solidFill>
                <a:latin typeface="Raleway"/>
              </a:rPr>
              <a:t>Analyse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016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60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09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Sub"/>
          <p:cNvSpPr/>
          <p:nvPr/>
        </p:nvSpPr>
        <p:spPr>
          <a:xfrm>
            <a:off x="762000" y="152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Specialist analytical modules, all delivered within the same interactive report.</a:t>
            </a:r>
          </a:p>
        </p:txBody>
      </p:sp>
      <p:sp>
        <p:nvSpPr>
          <p:cNvPr id="200" name="M0"/>
          <p:cNvSpPr/>
          <p:nvPr/>
        </p:nvSpPr>
        <p:spPr>
          <a:xfrm>
            <a:off x="7620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1" name="MT0"/>
          <p:cNvSpPr/>
          <p:nvPr/>
        </p:nvSpPr>
        <p:spPr>
          <a:xfrm>
            <a:off x="8890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Tabs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Automated crosstabs with significance testing</a:t>
            </a:r>
          </a:p>
        </p:txBody>
      </p:sp>
      <p:sp>
        <p:nvSpPr>
          <p:cNvPr id="202" name="M1"/>
          <p:cNvSpPr/>
          <p:nvPr/>
        </p:nvSpPr>
        <p:spPr>
          <a:xfrm>
            <a:off x="34671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3" name="MT1"/>
          <p:cNvSpPr/>
          <p:nvPr/>
        </p:nvSpPr>
        <p:spPr>
          <a:xfrm>
            <a:off x="35941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Tracker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Multi-wave trend analysis across waves</a:t>
            </a:r>
          </a:p>
        </p:txBody>
      </p:sp>
      <p:sp>
        <p:nvSpPr>
          <p:cNvPr id="204" name="M2"/>
          <p:cNvSpPr/>
          <p:nvPr/>
        </p:nvSpPr>
        <p:spPr>
          <a:xfrm>
            <a:off x="61722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5" name="MT2"/>
          <p:cNvSpPr/>
          <p:nvPr/>
        </p:nvSpPr>
        <p:spPr>
          <a:xfrm>
            <a:off x="62992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Key Driver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Strongest factors driving business outcomes</a:t>
            </a:r>
          </a:p>
        </p:txBody>
      </p:sp>
      <p:sp>
        <p:nvSpPr>
          <p:cNvPr id="206" name="M3"/>
          <p:cNvSpPr/>
          <p:nvPr/>
        </p:nvSpPr>
        <p:spPr>
          <a:xfrm>
            <a:off x="88773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7" name="MT3"/>
          <p:cNvSpPr/>
          <p:nvPr/>
        </p:nvSpPr>
        <p:spPr>
          <a:xfrm>
            <a:off x="90043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Key Driver (Cat.)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Regression for categorical outcomes</a:t>
            </a:r>
          </a:p>
        </p:txBody>
      </p:sp>
      <p:sp>
        <p:nvSpPr>
          <p:cNvPr id="208" name="M4"/>
          <p:cNvSpPr/>
          <p:nvPr/>
        </p:nvSpPr>
        <p:spPr>
          <a:xfrm>
            <a:off x="7620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9" name="MT4"/>
          <p:cNvSpPr/>
          <p:nvPr/>
        </p:nvSpPr>
        <p:spPr>
          <a:xfrm>
            <a:off x="8890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Segment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Statistical clustering for customer groups</a:t>
            </a:r>
          </a:p>
        </p:txBody>
      </p:sp>
      <p:sp>
        <p:nvSpPr>
          <p:cNvPr id="210" name="M5"/>
          <p:cNvSpPr/>
          <p:nvPr/>
        </p:nvSpPr>
        <p:spPr>
          <a:xfrm>
            <a:off x="34671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1" name="MT5"/>
          <p:cNvSpPr/>
          <p:nvPr/>
        </p:nvSpPr>
        <p:spPr>
          <a:xfrm>
            <a:off x="35941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Conjoint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Choice modelling with market simulator</a:t>
            </a:r>
          </a:p>
        </p:txBody>
      </p:sp>
      <p:sp>
        <p:nvSpPr>
          <p:cNvPr id="212" name="M6"/>
          <p:cNvSpPr/>
          <p:nvPr/>
        </p:nvSpPr>
        <p:spPr>
          <a:xfrm>
            <a:off x="61722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3" name="MT6"/>
          <p:cNvSpPr/>
          <p:nvPr/>
        </p:nvSpPr>
        <p:spPr>
          <a:xfrm>
            <a:off x="62992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MaxDiff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Precise preference rankings</a:t>
            </a:r>
          </a:p>
        </p:txBody>
      </p:sp>
      <p:sp>
        <p:nvSpPr>
          <p:cNvPr id="214" name="M7"/>
          <p:cNvSpPr/>
          <p:nvPr/>
        </p:nvSpPr>
        <p:spPr>
          <a:xfrm>
            <a:off x="88773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5" name="MT7"/>
          <p:cNvSpPr/>
          <p:nvPr/>
        </p:nvSpPr>
        <p:spPr>
          <a:xfrm>
            <a:off x="90043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Pricing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Van Westendorp and Gabor-Granger models</a:t>
            </a:r>
          </a:p>
        </p:txBody>
      </p:sp>
      <p:sp>
        <p:nvSpPr>
          <p:cNvPr id="216" name="M8"/>
          <p:cNvSpPr/>
          <p:nvPr/>
        </p:nvSpPr>
        <p:spPr>
          <a:xfrm>
            <a:off x="7620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7" name="MT8"/>
          <p:cNvSpPr/>
          <p:nvPr/>
        </p:nvSpPr>
        <p:spPr>
          <a:xfrm>
            <a:off x="8890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Weighting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Target population representation</a:t>
            </a:r>
          </a:p>
        </p:txBody>
      </p:sp>
      <p:sp>
        <p:nvSpPr>
          <p:cNvPr id="218" name="M9"/>
          <p:cNvSpPr/>
          <p:nvPr/>
        </p:nvSpPr>
        <p:spPr>
          <a:xfrm>
            <a:off x="34671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9" name="MT9"/>
          <p:cNvSpPr/>
          <p:nvPr/>
        </p:nvSpPr>
        <p:spPr>
          <a:xfrm>
            <a:off x="35941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Confidence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Rigorous validity testing</a:t>
            </a:r>
          </a:p>
        </p:txBody>
      </p:sp>
      <p:sp>
        <p:nvSpPr>
          <p:cNvPr id="240" name="Call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22860" rIns="182880" bIns="2286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Multiple modules can be combined into a single report.</a:t>
            </a:r>
          </a:p>
        </p:txBody>
      </p:sp>
      <p:sp>
        <p:nvSpPr>
          <p:cNvPr id="2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20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WORKING TOGETHER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We Can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Help With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10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P0"/>
          <p:cNvSpPr/>
          <p:nvPr/>
        </p:nvSpPr>
        <p:spPr>
          <a:xfrm>
            <a:off x="7620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x0"/>
          <p:cNvSpPr/>
          <p:nvPr/>
        </p:nvSpPr>
        <p:spPr>
          <a:xfrm>
            <a:off x="9144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Questionnaire Design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Structuring questions to produce clean, analysable data</a:t>
            </a:r>
          </a:p>
        </p:txBody>
      </p:sp>
      <p:sp>
        <p:nvSpPr>
          <p:cNvPr id="112" name="P1"/>
          <p:cNvSpPr/>
          <p:nvPr/>
        </p:nvSpPr>
        <p:spPr>
          <a:xfrm>
            <a:off x="35814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x1"/>
          <p:cNvSpPr/>
          <p:nvPr/>
        </p:nvSpPr>
        <p:spPr>
          <a:xfrm>
            <a:off x="37338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Analytical Planning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Choosing the right methods and structuring the approach</a:t>
            </a:r>
          </a:p>
        </p:txBody>
      </p:sp>
      <p:sp>
        <p:nvSpPr>
          <p:cNvPr id="114" name="P2"/>
          <p:cNvSpPr/>
          <p:nvPr/>
        </p:nvSpPr>
        <p:spPr>
          <a:xfrm>
            <a:off x="64008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PTx2"/>
          <p:cNvSpPr/>
          <p:nvPr/>
        </p:nvSpPr>
        <p:spPr>
          <a:xfrm>
            <a:off x="65532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Data Preparation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Cleaning, coding, and preparing data for rigorous analysis</a:t>
            </a:r>
          </a:p>
        </p:txBody>
      </p:sp>
      <p:sp>
        <p:nvSpPr>
          <p:cNvPr id="116" name="P3"/>
          <p:cNvSpPr/>
          <p:nvPr/>
        </p:nvSpPr>
        <p:spPr>
          <a:xfrm>
            <a:off x="92202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PTx3"/>
          <p:cNvSpPr/>
          <p:nvPr/>
        </p:nvSpPr>
        <p:spPr>
          <a:xfrm>
            <a:off x="93726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FFB02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Interpretation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Making sense of results and building a clear narrative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For most projects we also prepare an initial set of pinned views, giving your team a ready-made starting point.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32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MODULE NAME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Screenshot Title Goes Here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Brief description of what this screenshot shows and which module it demonstrates.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1492897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INTERACTIVE REPORT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The Live Report Experience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A fully interactive HTML report with navigation, filtering, and real-time chart exploration.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406702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KEY DRIVER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What Drives Customer Satisfaction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Priority quadrant mapping importance against performance to identify where to focus.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3480130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CROSSTABS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Satisfaction Breakdown by Region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Automated crosstabs with significance testing, weighting, and integrated data tables.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266257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TRACKER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Cross-Wave Trend Comparison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Multi-wave tracking with significance testing and automated question mapping across waves.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239022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NEXT STEPS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It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In Action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11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TA"/>
          <p:cNvSpPr/>
          <p:nvPr/>
        </p:nvSpPr>
        <p:spPr>
          <a:xfrm>
            <a:off x="1524000" y="2286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9900"/>
            </a:solidFill>
          </a:ln>
        </p:spPr>
        <p:txBody>
          <a:bodyPr wrap="square" lIns="228600" tIns="137160" rIns="228600" bIns="137160" anchor="ctr"/>
          <a:lstStyle/>
          <a:p>
            <a:pPr algn="ctr">
              <a:spcAft>
                <a:spcPts val="800"/>
              </a:spcAft>
            </a:pPr>
            <a:r>
              <a:rPr lang="en-GB" sz="2400" b="1" dirty="0">
                <a:solidFill>
                  <a:srgbClr val="1A2744"/>
                </a:solidFill>
                <a:latin typeface="Raleway"/>
              </a:rPr>
              <a:t>The most effective way to understand Turas is a live demonstration.</a:t>
            </a:r>
          </a:p>
          <a:p>
            <a:pPr algn="ctr"/>
            <a:r>
              <a:rPr lang="en-GB" sz="1600" dirty="0">
                <a:solidFill>
                  <a:srgbClr val="4A5568"/>
                </a:solidFill>
                <a:latin typeface="Source Sans Pro"/>
              </a:rPr>
              <a:t>We can walk through a real dataset and show how survey data becomes a working analytical resource — from raw data to interactive report.</a:t>
            </a:r>
          </a:p>
        </p:txBody>
      </p:sp>
      <p:sp>
        <p:nvSpPr>
          <p:cNvPr id="120" name="Btn"/>
          <p:cNvSpPr/>
          <p:nvPr/>
        </p:nvSpPr>
        <p:spPr>
          <a:xfrm>
            <a:off x="4318000" y="52705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Request a Demo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272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1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Divider"/>
          <p:cNvSpPr/>
          <p:nvPr/>
        </p:nvSpPr>
        <p:spPr>
          <a:xfrm>
            <a:off x="4826000" y="2032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BrandName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4800" b="1" dirty="0">
                <a:solidFill>
                  <a:srgbClr val="FFFFFF"/>
                </a:solidFill>
                <a:latin typeface="Raleway"/>
              </a:rPr>
              <a:t>Turas</a:t>
            </a:r>
            <a:r>
              <a:rPr lang="en-GB" sz="4800" dirty="0">
                <a:solidFill>
                  <a:srgbClr val="CC9900"/>
                </a:solidFill>
                <a:latin typeface="Raleway"/>
              </a:rPr>
              <a:t>.</a:t>
            </a:r>
          </a:p>
        </p:txBody>
      </p:sp>
      <p:sp>
        <p:nvSpPr>
          <p:cNvPr id="204" name="Tagline"/>
          <p:cNvSpPr/>
          <p:nvPr/>
        </p:nvSpPr>
        <p:spPr>
          <a:xfrm>
            <a:off x="1016000" y="3200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GB" sz="1800" i="1" dirty="0">
                <a:solidFill>
                  <a:srgbClr val="A0AEC0"/>
                </a:solidFill>
                <a:latin typeface="Source Sans Pro"/>
              </a:rPr>
              <a:t>Reproducible research analysis, delivered.</a:t>
            </a:r>
          </a:p>
        </p:txBody>
      </p:sp>
      <p:sp>
        <p:nvSpPr>
          <p:cNvPr id="205" name="Divider2"/>
          <p:cNvSpPr/>
          <p:nvPr/>
        </p:nvSpPr>
        <p:spPr>
          <a:xfrm>
            <a:off x="4826000" y="3810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6" name="Contact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2800"/>
              </a:lnSpc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www.yourdomain.com</a:t>
            </a:r>
          </a:p>
          <a:p>
            <a:pPr algn="ctr">
              <a:lnSpc>
                <a:spcPts val="2400"/>
              </a:lnSpc>
            </a:pPr>
            <a:r>
              <a:rPr lang="en-GB" sz="1400" dirty="0">
                <a:solidFill>
                  <a:srgbClr val="A0AEC0"/>
                </a:solidFill>
                <a:latin typeface="Source Sans Pro"/>
              </a:rPr>
              <a:t>your.name@email.com</a:t>
            </a:r>
          </a:p>
        </p:txBody>
      </p:sp>
      <p:sp>
        <p:nvSpPr>
          <p:cNvPr id="207" name="BrandMark"/>
          <p:cNvSpPr/>
          <p:nvPr/>
        </p:nvSpPr>
        <p:spPr>
          <a:xfrm>
            <a:off x="4191000" y="5461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000" dirty="0">
                <a:solidFill>
                  <a:srgbClr val="6B7280"/>
                </a:solidFill>
                <a:latin typeface="Source Sans Pro"/>
              </a:rPr>
              <a:t>The Research LampPost</a:t>
            </a:r>
          </a:p>
        </p:txBody>
      </p:sp>
      <p:sp>
        <p:nvSpPr>
          <p:cNvPr id="2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9" name="Diamond"/>
          <p:cNvSpPr/>
          <p:nvPr/>
        </p:nvSpPr>
        <p:spPr>
          <a:xfrm>
            <a:off x="5943600" y="1651000"/>
            <a:ext cx="304800" cy="304800"/>
          </a:xfrm>
          <a:prstGeom prst="diamond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48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0F4F8"/>
      </a:dk1>
      <a:lt1>
        <a:srgbClr val="0B1929"/>
      </a:lt1>
      <a:dk2>
        <a:srgbClr val="B8C9DB"/>
      </a:dk2>
      <a:lt2>
        <a:srgbClr val="132B45"/>
      </a:lt2>
      <a:accent1>
        <a:srgbClr val="00D4AA"/>
      </a:accent1>
      <a:accent2>
        <a:srgbClr val="4A90D9"/>
      </a:accent2>
      <a:accent3>
        <a:srgbClr val="7C5CFC"/>
      </a:accent3>
      <a:accent4>
        <a:srgbClr val="FF6B6B"/>
      </a:accent4>
      <a:accent5>
        <a:srgbClr val="FFD93D"/>
      </a:accent5>
      <a:accent6>
        <a:srgbClr val="4ECDC4"/>
      </a:accent6>
      <a:hlink>
        <a:srgbClr val="467886"/>
      </a:hlink>
      <a:folHlink>
        <a:srgbClr val="96607D"/>
      </a:folHlink>
    </a:clrScheme>
    <a:fontScheme name="Office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20351</TotalTime>
  <Words>1008</Words>
  <Application>Microsoft Macintosh PowerPoint</Application>
  <PresentationFormat>Widescreen</PresentationFormat>
  <Paragraphs>190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Raleway</vt:lpstr>
      <vt:lpstr>Source Sans Pro</vt:lpstr>
      <vt:lpstr>Office Theme</vt:lpstr>
      <vt:lpstr>Office Theme</vt:lpstr>
      <vt:lpstr>Turas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18</cp:revision>
  <dcterms:created xsi:type="dcterms:W3CDTF">2026-02-19T04:31:59Z</dcterms:created>
  <dcterms:modified xsi:type="dcterms:W3CDTF">2026-03-16T14:57:11Z</dcterms:modified>
</cp:coreProperties>
</file>