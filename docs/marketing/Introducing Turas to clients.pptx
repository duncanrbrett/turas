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358" r:id="rId2"/>
    <p:sldId id="332" r:id="rId3"/>
    <p:sldId id="368" r:id="rId4"/>
    <p:sldId id="369" r:id="rId5"/>
    <p:sldId id="370" r:id="rId6"/>
    <p:sldId id="371" r:id="rId7"/>
    <p:sldId id="372" r:id="rId8"/>
    <p:sldId id="395" r:id="rId9"/>
    <p:sldId id="394" r:id="rId10"/>
    <p:sldId id="396" r:id="rId11"/>
    <p:sldId id="390" r:id="rId12"/>
    <p:sldId id="391" r:id="rId13"/>
    <p:sldId id="392" r:id="rId14"/>
    <p:sldId id="37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871"/>
    <p:restoredTop sz="94692"/>
  </p:normalViewPr>
  <p:slideViewPr>
    <p:cSldViewPr snapToGrid="0">
      <p:cViewPr varScale="1">
        <p:scale>
          <a:sx n="152" d="100"/>
          <a:sy n="152" d="100"/>
        </p:scale>
        <p:origin x="1136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2293FD-1E42-1447-A1A4-389C6E1A364E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979EB0-E91F-CC45-B59B-1976BB608CC1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880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44EC-6A7D-931C-DE0A-5051B0AC6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848EE9-E7C3-C861-9D75-AB6794F86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52B195-3C0A-E457-B45B-C24CC4348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9A4FD-8110-D206-1A57-C94067709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9986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36A1-3252-7524-EF6D-B65CC56F4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B8C300-CEB1-BE49-17BB-3D7246DBA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93F0B1-19CA-4006-0C5F-BB1638FE4A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D8746-F672-BC34-7B73-191FC5E288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3010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8D90E-926D-0C5A-B805-7C4137FBE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2ACBC-55B3-6EF1-2CF1-BFE6145806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4504D-9955-D2A0-6B8A-D516A6AF3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EB43F3-1950-F295-4B4B-D44EC33E16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808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CCF3F-DCF7-92CC-FE95-E72408B15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7DB6B3-7EC2-068F-9337-3710A4975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57E02F-25FA-B963-6E53-D7C85B3A6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DB3AE-20EB-7E46-2D6A-196349C350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1436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EC33E-3A0A-DA45-384C-316F5326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C29A5A-583C-F25C-FCE4-6B98586C97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3C182-A45A-8E10-DB58-859AA09ECD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35982-B9C8-E29B-A620-CBC375416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2367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3B7AF-1BA3-8D3A-BFA6-0F9AADE3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B84E1D-3237-2519-5CA7-593DE8809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4DB51D-7DE8-B175-87D1-2A3803957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71879D-652A-7ECA-E1DD-11F20B7C17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5452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252CA-D568-8BC3-7168-43AB1AFA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DBDD3-4294-8680-400A-3988E7319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0BF83-78C5-15EC-35B7-5508B23D4B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4193EA-6DB0-923F-AA4E-A85B5FF772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9492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D55F5-6293-367B-FF10-877BC94C6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52145A-2FAC-738A-FEC1-34474778C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BCDAAE-6FA6-D039-E696-D1D2C3104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639F5-B3B5-2A94-FF14-DB09CDDE83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7170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35824-0373-163D-6D04-48D897FAC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49938-CA5B-9BF8-FCD4-068411B67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40C98-E9E0-8D19-86DE-E2F785B6C1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B9D393-273E-B1F9-92D2-E73E8E166D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47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8224B-6EF3-FB65-642C-3649B80EC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71D155-AEA9-51F0-C000-DCCD756BEF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D2051-9DA1-F6DC-1476-0E21952F3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E3D9A-D843-4CEC-2410-07B1AED06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FB17-3E1F-8FF4-BBB8-E683249FF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7570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F18C7-9E75-9D92-31F2-64EDD3BE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8666-7F89-0798-7812-610A4F273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7C2C5-C454-2E44-38B1-E7F97A07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D9A58-720B-AE5D-9E1F-D8808B24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4908A-4C3E-704D-411B-F0CD4E09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540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E906-C1C1-4EF6-7F2D-FFF9DF3B6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2797-315D-8EE6-C317-089F02FB4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A4D23-4766-D947-8E13-D72E4400A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9D983-C6D2-2775-BED1-AB2853F66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4EC42-0B0E-39A1-50DE-3B1AFCCC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7260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7BCBA-3BEB-431C-17BD-19C9153D5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98E8D-625D-EAC1-774F-462A9149E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3ACD29-E934-5075-51FC-3CA037F35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F2AF-2519-7E5C-14CC-653BF642F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F2499-3386-BAA4-89FD-C5518E56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CE1E-3792-37BE-9C0E-A1F30EF25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4436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724B-AC52-4D87-E0F0-AC0E639B8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29756C-D8D1-FD84-9F82-A61C0D1D9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2A09C-AFD1-60C2-942E-087A141C0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4B2655-4B3E-3F34-5271-D2705E2F49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DC732A-EC0E-C1B7-0D1B-6D77F502D2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D936-90F1-771D-269B-23346EE74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1F7F5-A645-2EE6-B2C1-7B17D9D26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750C74-AB81-09A8-99FE-B028507D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955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97B8-D818-36E1-17E5-61AED5982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617C6F-0965-4F12-1862-DA26B6AC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7010F1-22C2-E0E6-9B49-8F87FCE21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13D6-E479-A889-8B1B-6000E684C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2950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58E932-1BA6-3386-AEA3-A5AE7A3A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769CC-B4A8-AA5D-8871-EB3A766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8A79D-8172-05C7-07D8-6E33DECA7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0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78ED1-37E4-AB65-D83A-642E064B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CA085-F7A4-CF30-6421-4A0339785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500EE-C98B-2FAD-3FD5-6A1F895D9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CB8969-B390-0B69-774D-400643991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68E3B-53BE-1306-5834-43582A164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B016D2-7099-9486-09F5-905198C94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825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C9AD3-736A-C5CE-C8C9-7194B4F6B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255B36-E0B0-3AE1-B7EB-06261E144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EC956-F5BC-ABE1-82BE-7D6328C070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7E8FC-FD61-682B-8415-F71F33E3E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0E4F1-9ABB-0B4A-DF54-0BB981682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E5837-52F4-5104-B068-1E6B5F0A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070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F308-83E3-ABAD-FFDB-FA5F72A5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CCF83-895E-4A51-43F2-EDAC00656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23F1-2C23-5FA5-E90F-175731A0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112B3-D368-CCEB-A920-C84E30BA9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79D1A-4434-E69D-87A5-2812CAE9D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7673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0797A4-1152-2907-E754-BF746F8667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4B2B39-B627-ACFB-BBCC-1B76B931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D7629-44A8-D468-332A-9B12B70C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6E56C-8290-7B51-6B46-9AEC5098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AEA3E-52AE-207A-7EF6-C8E7F7FF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11308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5427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5E75CF-E691-D86D-EE33-3FA33FB00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C6B1-28E7-7B11-4C95-FE3A13652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16F65-897A-0723-626B-C13FB4DC21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A5A3C-601B-7ED7-A730-692B2721B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7D9B1-3852-47E6-64E4-68AC332A58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699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iver running through a desert&#10;&#10;AI-generated content may be incorrect.">
            <a:extLst>
              <a:ext uri="{FF2B5EF4-FFF2-40B4-BE49-F238E27FC236}">
                <a16:creationId xmlns:a16="http://schemas.microsoft.com/office/drawing/2014/main" id="{42107E63-9AE6-455E-83EE-4B213E6CB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52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TopAccentBar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Backdrop"/>
          <p:cNvSpPr/>
          <p:nvPr/>
        </p:nvSpPr>
        <p:spPr>
          <a:xfrm>
            <a:off x="0" y="4300000"/>
            <a:ext cx="12192000" cy="2507200"/>
          </a:xfrm>
          <a:prstGeom prst="rect">
            <a:avLst/>
          </a:prstGeom>
          <a:solidFill>
            <a:srgbClr val="0A1628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C3F1A-6632-A2DB-45B5-73CE46A1B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0"/>
            <a:ext cx="10972800" cy="914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Calibri"/>
              </a:rPr>
              <a:t>Turas</a:t>
            </a:r>
          </a:p>
        </p:txBody>
      </p:sp>
      <p:sp>
        <p:nvSpPr>
          <p:cNvPr id="31" name="Subtitle"/>
          <p:cNvSpPr txBox="1"/>
          <p:nvPr/>
        </p:nvSpPr>
        <p:spPr>
          <a:xfrm>
            <a:off x="762000" y="55626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FFFFFF"/>
                </a:solidFill>
                <a:latin typeface="Calibri"/>
              </a:rPr>
              <a:t>The complete survey analytics system</a:t>
            </a:r>
          </a:p>
        </p:txBody>
      </p:sp>
      <p:pic>
        <p:nvPicPr>
          <p:cNvPr id="4" name="Picture 3" descr="A blue and yellow diamond with a star on it&#10;&#10;AI-generated content may be incorrect.">
            <a:extLst>
              <a:ext uri="{FF2B5EF4-FFF2-40B4-BE49-F238E27FC236}">
                <a16:creationId xmlns:a16="http://schemas.microsoft.com/office/drawing/2014/main" id="{7A0B7A84-EAF0-A86E-8F4A-2A0E437BA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099" y="193672"/>
            <a:ext cx="1792312" cy="1262643"/>
          </a:xfrm>
          <a:prstGeom prst="rect">
            <a:avLst/>
          </a:prstGeom>
        </p:spPr>
      </p:pic>
      <p:sp>
        <p:nvSpPr>
          <p:cNvPr id="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7194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eade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286000" cy="2794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WHAT IS TURAS?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Research Should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Work Harder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01</a:t>
            </a:r>
          </a:p>
        </p:txBody>
      </p:sp>
      <p:sp>
        <p:nvSpPr>
          <p:cNvPr id="106" name="MidAcc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BG"/>
          <p:cNvSpPr/>
          <p:nvPr/>
        </p:nvSpPr>
        <p:spPr>
          <a:xfrm>
            <a:off x="762000" y="1968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0Acc"/>
          <p:cNvSpPr/>
          <p:nvPr/>
        </p:nvSpPr>
        <p:spPr>
          <a:xfrm>
            <a:off x="762000" y="1968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0Txt"/>
          <p:cNvSpPr/>
          <p:nvPr/>
        </p:nvSpPr>
        <p:spPr>
          <a:xfrm>
            <a:off x="1041400" y="2120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Good Data, Limited Life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You commission research and get a deck that answers the questions you asked at the time.</a:t>
            </a:r>
          </a:p>
        </p:txBody>
      </p:sp>
      <p:sp>
        <p:nvSpPr>
          <p:cNvPr id="113" name="C1BG"/>
          <p:cNvSpPr/>
          <p:nvPr/>
        </p:nvSpPr>
        <p:spPr>
          <a:xfrm>
            <a:off x="762000" y="34290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C1Acc"/>
          <p:cNvSpPr/>
          <p:nvPr/>
        </p:nvSpPr>
        <p:spPr>
          <a:xfrm>
            <a:off x="762000" y="34290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1Txt"/>
          <p:cNvSpPr/>
          <p:nvPr/>
        </p:nvSpPr>
        <p:spPr>
          <a:xfrm>
            <a:off x="1041400" y="35814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New Questions, Old Process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new question surfaces, someone has to reopen the dataset and rebuild the analysis. That takes time and money.</a:t>
            </a:r>
          </a:p>
        </p:txBody>
      </p:sp>
      <p:sp>
        <p:nvSpPr>
          <p:cNvPr id="116" name="C2BG"/>
          <p:cNvSpPr/>
          <p:nvPr/>
        </p:nvSpPr>
        <p:spPr>
          <a:xfrm>
            <a:off x="762000" y="4889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C2Acc"/>
          <p:cNvSpPr/>
          <p:nvPr/>
        </p:nvSpPr>
        <p:spPr>
          <a:xfrm>
            <a:off x="762000" y="4889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C2Txt"/>
          <p:cNvSpPr/>
          <p:nvPr/>
        </p:nvSpPr>
        <p:spPr>
          <a:xfrm>
            <a:off x="1041400" y="5041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Turas Changes That</a:t>
            </a:r>
          </a:p>
          <a:p>
            <a:pPr algn="l">
              <a:spcAft>
                <a:spcPts val="3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Most research ends up as a presentation rather than a resource. </a:t>
            </a:r>
          </a:p>
        </p:txBody>
      </p:sp>
      <p:sp>
        <p:nvSpPr>
          <p:cNvPr id="1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697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-5956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540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THE CASE FOR TURAS 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Turas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Delivers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02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0"/>
          <p:cNvSpPr/>
          <p:nvPr/>
        </p:nvSpPr>
        <p:spPr>
          <a:xfrm>
            <a:off x="762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FA0"/>
          <p:cNvSpPr/>
          <p:nvPr/>
        </p:nvSpPr>
        <p:spPr>
          <a:xfrm>
            <a:off x="914400" y="187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FT0"/>
          <p:cNvSpPr/>
          <p:nvPr/>
        </p:nvSpPr>
        <p:spPr>
          <a:xfrm>
            <a:off x="914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Interactive Analytics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An interactive resource your team can explore, share, and return to.</a:t>
            </a:r>
          </a:p>
        </p:txBody>
      </p:sp>
      <p:sp>
        <p:nvSpPr>
          <p:cNvPr id="110" name="F1"/>
          <p:cNvSpPr/>
          <p:nvPr/>
        </p:nvSpPr>
        <p:spPr>
          <a:xfrm>
            <a:off x="4445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FA1"/>
          <p:cNvSpPr/>
          <p:nvPr/>
        </p:nvSpPr>
        <p:spPr>
          <a:xfrm>
            <a:off x="4597400" y="1879600"/>
            <a:ext cx="5080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T1"/>
          <p:cNvSpPr/>
          <p:nvPr/>
        </p:nvSpPr>
        <p:spPr>
          <a:xfrm>
            <a:off x="4597400" y="2032000"/>
            <a:ext cx="3120136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Rigorous Statistics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Built on validated, open-source statistical methods — not proprietary algorithms. </a:t>
            </a:r>
          </a:p>
        </p:txBody>
      </p:sp>
      <p:sp>
        <p:nvSpPr>
          <p:cNvPr id="113" name="F2"/>
          <p:cNvSpPr/>
          <p:nvPr/>
        </p:nvSpPr>
        <p:spPr>
          <a:xfrm>
            <a:off x="8128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FA2"/>
          <p:cNvSpPr/>
          <p:nvPr/>
        </p:nvSpPr>
        <p:spPr>
          <a:xfrm>
            <a:off x="8280400" y="1879600"/>
            <a:ext cx="5080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T2"/>
          <p:cNvSpPr/>
          <p:nvPr/>
        </p:nvSpPr>
        <p:spPr>
          <a:xfrm>
            <a:off x="8280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Permanent Record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One dataset. One report. Useful for as long as the data is relevant.</a:t>
            </a:r>
          </a:p>
        </p:txBody>
      </p:sp>
      <p:sp>
        <p:nvSpPr>
          <p:cNvPr id="116" name="F3"/>
          <p:cNvSpPr/>
          <p:nvPr/>
        </p:nvSpPr>
        <p:spPr>
          <a:xfrm>
            <a:off x="762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FA3"/>
          <p:cNvSpPr/>
          <p:nvPr/>
        </p:nvSpPr>
        <p:spPr>
          <a:xfrm>
            <a:off x="914400" y="3149600"/>
            <a:ext cx="508000" cy="381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T3"/>
          <p:cNvSpPr/>
          <p:nvPr/>
        </p:nvSpPr>
        <p:spPr>
          <a:xfrm>
            <a:off x="914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Pay Per Project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No subscriptions. No licence costs. No installations. </a:t>
            </a:r>
          </a:p>
        </p:txBody>
      </p:sp>
      <p:sp>
        <p:nvSpPr>
          <p:cNvPr id="119" name="F4"/>
          <p:cNvSpPr/>
          <p:nvPr/>
        </p:nvSpPr>
        <p:spPr>
          <a:xfrm>
            <a:off x="6350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20" name="FA4"/>
          <p:cNvSpPr/>
          <p:nvPr/>
        </p:nvSpPr>
        <p:spPr>
          <a:xfrm>
            <a:off x="6502400" y="314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FT4"/>
          <p:cNvSpPr/>
          <p:nvPr/>
        </p:nvSpPr>
        <p:spPr>
          <a:xfrm>
            <a:off x="6502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Bring Your Own Data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Works with any survey dataset, whether fieldwork was commissioned through us or not. Got old data gathering dust? We can re-run it through Turas and discover insights you never got to.</a:t>
            </a:r>
          </a:p>
        </p:txBody>
      </p:sp>
      <p:sp>
        <p:nvSpPr>
          <p:cNvPr id="122" name="Quote"/>
          <p:cNvSpPr/>
          <p:nvPr/>
        </p:nvSpPr>
        <p:spPr>
          <a:xfrm>
            <a:off x="762000" y="45085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World-class analytics on demand. No strings attached</a:t>
            </a:r>
          </a:p>
        </p:txBody>
      </p:sp>
    </p:spTree>
    <p:extLst>
      <p:ext uri="{BB962C8B-B14F-4D97-AF65-F5344CB8AC3E}">
        <p14:creationId xmlns:p14="http://schemas.microsoft.com/office/powerpoint/2010/main" val="1581918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STATISTICS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Serious Statistical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Foundations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03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"/>
          <p:cNvSpPr/>
          <p:nvPr/>
        </p:nvSpPr>
        <p:spPr>
          <a:xfrm>
            <a:off x="762000" y="1968500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T0"/>
          <p:cNvSpPr/>
          <p:nvPr/>
        </p:nvSpPr>
        <p:spPr>
          <a:xfrm>
            <a:off x="9525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Built on R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open-source statistical environment used by national statistics offices, central banks, and universities worldwide.</a:t>
            </a:r>
          </a:p>
        </p:txBody>
      </p:sp>
      <p:sp>
        <p:nvSpPr>
          <p:cNvPr id="112" name="C1"/>
          <p:cNvSpPr/>
          <p:nvPr/>
        </p:nvSpPr>
        <p:spPr>
          <a:xfrm>
            <a:off x="4495800" y="1979133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CT1"/>
          <p:cNvSpPr/>
          <p:nvPr/>
        </p:nvSpPr>
        <p:spPr>
          <a:xfrm>
            <a:off x="46863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Fully Transparent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calculation is inspectable. Methods can be examined and verified. </a:t>
            </a:r>
          </a:p>
        </p:txBody>
      </p:sp>
      <p:sp>
        <p:nvSpPr>
          <p:cNvPr id="114" name="C2"/>
          <p:cNvSpPr/>
          <p:nvPr/>
        </p:nvSpPr>
        <p:spPr>
          <a:xfrm>
            <a:off x="8229600" y="1968500"/>
            <a:ext cx="32004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T2"/>
          <p:cNvSpPr/>
          <p:nvPr/>
        </p:nvSpPr>
        <p:spPr>
          <a:xfrm>
            <a:off x="8420100" y="2032000"/>
            <a:ext cx="28194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No Black Boxes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finding is challenged, you have a clean, traceable analytical record to stand behind.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795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Every result traces directly back to the underlying tables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2574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EEE78-897B-3BC8-594E-BF5981927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WHO'S BEHIND IT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Professional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Oversight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04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KeyStat"/>
          <p:cNvSpPr/>
          <p:nvPr/>
        </p:nvSpPr>
        <p:spPr>
          <a:xfrm>
            <a:off x="762000" y="1879600"/>
            <a:ext cx="106680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800" i="1" dirty="0">
                <a:solidFill>
                  <a:srgbClr val="323367"/>
                </a:solidFill>
                <a:latin typeface="Source Sans Pro"/>
              </a:rPr>
              <a:t>Turas is not a self-service tool</a:t>
            </a:r>
          </a:p>
        </p:txBody>
      </p:sp>
      <p:sp>
        <p:nvSpPr>
          <p:cNvPr id="110" name="PC0"/>
          <p:cNvSpPr/>
          <p:nvPr/>
        </p:nvSpPr>
        <p:spPr>
          <a:xfrm>
            <a:off x="762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PT0"/>
          <p:cNvSpPr/>
          <p:nvPr/>
        </p:nvSpPr>
        <p:spPr>
          <a:xfrm>
            <a:off x="952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SAMRA Accredited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Research LampPost is an organisational member of the Southern African Marketing Research Association. </a:t>
            </a:r>
          </a:p>
          <a:p>
            <a:pPr algn="l"/>
            <a:endParaRPr lang="en-GB" sz="1400" dirty="0">
              <a:solidFill>
                <a:srgbClr val="4A5568"/>
              </a:solidFill>
              <a:latin typeface="Source Sans Pro"/>
            </a:endParaRP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Duncan Brett developed Turas and is a SAMRA-Accredited Researcher.</a:t>
            </a:r>
          </a:p>
        </p:txBody>
      </p:sp>
      <p:sp>
        <p:nvSpPr>
          <p:cNvPr id="112" name="PC1"/>
          <p:cNvSpPr/>
          <p:nvPr/>
        </p:nvSpPr>
        <p:spPr>
          <a:xfrm>
            <a:off x="6350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PT1"/>
          <p:cNvSpPr/>
          <p:nvPr/>
        </p:nvSpPr>
        <p:spPr>
          <a:xfrm>
            <a:off x="6540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Guided End-to-End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project is guided from data preparation through to final output. The right methods are applied, data is structured correctly, and results are interpreted responsibly.</a:t>
            </a:r>
          </a:p>
        </p:txBody>
      </p:sp>
      <p:sp>
        <p:nvSpPr>
          <p:cNvPr id="140" name="Stat"/>
          <p:cNvSpPr/>
          <p:nvPr/>
        </p:nvSpPr>
        <p:spPr>
          <a:xfrm>
            <a:off x="762000" y="5270500"/>
            <a:ext cx="10668000" cy="889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2800" b="1" dirty="0">
                <a:solidFill>
                  <a:srgbClr val="CC9900"/>
                </a:solidFill>
                <a:latin typeface="Raleway"/>
              </a:rPr>
              <a:t>30+</a:t>
            </a:r>
            <a:r>
              <a:rPr lang="en-GB" sz="1600" dirty="0">
                <a:solidFill>
                  <a:srgbClr val="FFFFFF"/>
                </a:solidFill>
                <a:latin typeface="Source Sans Pro"/>
              </a:rPr>
              <a:t>  years of quantitative market research expertise behind every project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6094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A3EA-DD34-2924-6AC1-59B081801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DATA SECURITY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Stays With You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05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S0"/>
          <p:cNvSpPr/>
          <p:nvPr/>
        </p:nvSpPr>
        <p:spPr>
          <a:xfrm>
            <a:off x="990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0"/>
          <p:cNvSpPr/>
          <p:nvPr/>
        </p:nvSpPr>
        <p:spPr>
          <a:xfrm>
            <a:off x="1181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3E3E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Completely Handled In-House</a:t>
            </a:r>
          </a:p>
          <a:p>
            <a:pPr algn="ctr">
              <a:spcAft>
                <a:spcPts val="4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Your survey data is analysed entirely within our own environment — the Turas analytical process runs on our own systems, with no third-party platform involved in processing your data.</a:t>
            </a:r>
          </a:p>
        </p:txBody>
      </p:sp>
      <p:sp>
        <p:nvSpPr>
          <p:cNvPr id="114" name="S2"/>
          <p:cNvSpPr/>
          <p:nvPr/>
        </p:nvSpPr>
        <p:spPr>
          <a:xfrm>
            <a:off x="6324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2"/>
          <p:cNvSpPr/>
          <p:nvPr/>
        </p:nvSpPr>
        <p:spPr>
          <a:xfrm>
            <a:off x="6515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Immutable Record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delivered report is finalised and self-contained — it cannot be altered after the fact.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A stable record of exactly what the data showed at the time of analysis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42445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A5059-55D3-C579-EF26-2ED538115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SPEED &amp; RELIABILITY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Fast, Consistent,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Dependable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06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ast"/>
          <p:cNvSpPr/>
          <p:nvPr/>
        </p:nvSpPr>
        <p:spPr>
          <a:xfrm>
            <a:off x="762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CC9900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CC9900"/>
                </a:solidFill>
                <a:latin typeface="Raleway"/>
              </a:rPr>
              <a:t>1 Day*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Preliminary output once data is clean and formatted</a:t>
            </a:r>
          </a:p>
        </p:txBody>
      </p:sp>
      <p:sp>
        <p:nvSpPr>
          <p:cNvPr id="108" name="Slow"/>
          <p:cNvSpPr/>
          <p:nvPr/>
        </p:nvSpPr>
        <p:spPr>
          <a:xfrm>
            <a:off x="6223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3E3E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E53E3E"/>
                </a:solidFill>
                <a:latin typeface="Raleway"/>
              </a:rPr>
              <a:t>Weeks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Traditional analysis timeline</a:t>
            </a:r>
          </a:p>
        </p:txBody>
      </p:sp>
      <p:sp>
        <p:nvSpPr>
          <p:cNvPr id="109" name="Caveat"/>
          <p:cNvSpPr/>
          <p:nvPr/>
        </p:nvSpPr>
        <p:spPr>
          <a:xfrm>
            <a:off x="762000" y="35814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000" i="1" dirty="0">
                <a:solidFill>
                  <a:srgbClr val="94A3B8"/>
                </a:solidFill>
                <a:latin typeface="Source Sans Pro"/>
              </a:rPr>
              <a:t>*Post data cleaning. Actual turnaround depends on data layout and processing complexity.</a:t>
            </a:r>
          </a:p>
        </p:txBody>
      </p:sp>
      <p:sp>
        <p:nvSpPr>
          <p:cNvPr id="110" name="ConsBG"/>
          <p:cNvSpPr/>
          <p:nvPr/>
        </p:nvSpPr>
        <p:spPr>
          <a:xfrm>
            <a:off x="762000" y="3962400"/>
            <a:ext cx="10668000" cy="1270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onsAcc"/>
          <p:cNvSpPr/>
          <p:nvPr/>
        </p:nvSpPr>
        <p:spPr>
          <a:xfrm>
            <a:off x="762000" y="3962400"/>
            <a:ext cx="63500" cy="1270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onsTxt"/>
          <p:cNvSpPr/>
          <p:nvPr/>
        </p:nvSpPr>
        <p:spPr>
          <a:xfrm>
            <a:off x="1016000" y="4064000"/>
            <a:ext cx="10160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Built-in Consistency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Same methods, every time. For tracking studies, results stay comparable across waves.</a:t>
            </a:r>
          </a:p>
        </p:txBody>
      </p:sp>
      <p:sp>
        <p:nvSpPr>
          <p:cNvPr id="116" name="Call"/>
          <p:cNvSpPr/>
          <p:nvPr/>
        </p:nvSpPr>
        <p:spPr>
          <a:xfrm>
            <a:off x="762000" y="5461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Controlled computational environment. Reproducible results. Every time</a:t>
            </a:r>
          </a:p>
        </p:txBody>
      </p:sp>
    </p:spTree>
    <p:extLst>
      <p:ext uri="{BB962C8B-B14F-4D97-AF65-F5344CB8AC3E}">
        <p14:creationId xmlns:p14="http://schemas.microsoft.com/office/powerpoint/2010/main" val="744421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2B5D-01DF-D3CD-3DFF-FEDA035C3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12192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 txBox="1"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>
            <a:defPPr>
              <a:defRPr lang="en-US"/>
            </a:defPPr>
            <a:lvl1pPr algn="ctr">
              <a:defRPr sz="900" b="1">
                <a:solidFill>
                  <a:srgbClr val="FFFFFF"/>
                </a:solidFill>
                <a:latin typeface="Source Sans Pro"/>
              </a:defRPr>
            </a:lvl1pPr>
          </a:lstStyle>
          <a:p>
            <a:r>
              <a:rPr lang="en-GB" dirty="0"/>
              <a:t> THE DIFFERENCE</a:t>
            </a:r>
          </a:p>
        </p:txBody>
      </p:sp>
      <p:sp>
        <p:nvSpPr>
          <p:cNvPr id="104" name="Title"/>
          <p:cNvSpPr txBox="1"/>
          <p:nvPr/>
        </p:nvSpPr>
        <p:spPr>
          <a:xfrm>
            <a:off x="762000" y="533400"/>
            <a:ext cx="9525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See for yourself</a:t>
            </a:r>
            <a:endParaRPr lang="en-GB" sz="2800" b="1" dirty="0">
              <a:solidFill>
                <a:srgbClr val="CC9900"/>
              </a:solidFill>
              <a:latin typeface="Raleway"/>
            </a:endParaRPr>
          </a:p>
        </p:txBody>
      </p:sp>
      <p:sp>
        <p:nvSpPr>
          <p:cNvPr id="105" name="Num"/>
          <p:cNvSpPr txBox="1"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07</a:t>
            </a:r>
          </a:p>
        </p:txBody>
      </p:sp>
      <p:sp>
        <p:nvSpPr>
          <p:cNvPr id="200" name="MA"/>
          <p:cNvSpPr/>
          <p:nvPr/>
        </p:nvSpPr>
        <p:spPr>
          <a:xfrm>
            <a:off x="762000" y="16002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0" name="LeftPanel"/>
          <p:cNvSpPr/>
          <p:nvPr/>
        </p:nvSpPr>
        <p:spPr>
          <a:xfrm>
            <a:off x="6096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1A204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FromLabel"/>
          <p:cNvSpPr txBox="1"/>
          <p:nvPr/>
        </p:nvSpPr>
        <p:spPr>
          <a:xfrm>
            <a:off x="7620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C0C0D0"/>
                </a:solidFill>
                <a:latin typeface="Raleway"/>
              </a:rPr>
              <a:t>From this...</a:t>
            </a:r>
          </a:p>
        </p:txBody>
      </p:sp>
      <p:sp>
        <p:nvSpPr>
          <p:cNvPr id="220" name="RightPanel"/>
          <p:cNvSpPr/>
          <p:nvPr/>
        </p:nvSpPr>
        <p:spPr>
          <a:xfrm>
            <a:off x="66294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9050">
            <a:solidFill>
              <a:srgbClr val="CC990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21" name="ToLabel"/>
          <p:cNvSpPr txBox="1"/>
          <p:nvPr/>
        </p:nvSpPr>
        <p:spPr>
          <a:xfrm>
            <a:off x="67818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323367"/>
                </a:solidFill>
                <a:latin typeface="Raleway"/>
              </a:rPr>
              <a:t>To this...</a:t>
            </a:r>
          </a:p>
        </p:txBody>
      </p:sp>
      <p:sp>
        <p:nvSpPr>
          <p:cNvPr id="230" name="ArrowCircle"/>
          <p:cNvSpPr/>
          <p:nvPr/>
        </p:nvSpPr>
        <p:spPr>
          <a:xfrm>
            <a:off x="5740400" y="3543300"/>
            <a:ext cx="711200" cy="711200"/>
          </a:xfrm>
          <a:prstGeom prst="ellipse">
            <a:avLst/>
          </a:prstGeom>
          <a:solidFill>
            <a:srgbClr val="CC9900"/>
          </a:solidFill>
          <a:ln>
            <a:noFill/>
          </a:ln>
          <a:effectLst>
            <a:outerShdw blurRad="152400" dist="38100" dir="5400000" algn="ctr" rotWithShape="0">
              <a:srgbClr val="000000">
                <a:alpha val="40000"/>
              </a:srgbClr>
            </a:outerShdw>
          </a:effectLst>
        </p:spPr>
        <p:txBody>
          <a:bodyPr wrap="none" lIns="0" tIns="0" rIns="0" bIns="0" anchor="ctr"/>
          <a:lstStyle/>
          <a:p>
            <a:pPr algn="ctr"/>
            <a:r>
              <a:rPr lang="en-GB" sz="3200" b="1" dirty="0">
                <a:solidFill>
                  <a:srgbClr val="FFFFFF"/>
                </a:solidFill>
                <a:latin typeface="Raleway"/>
              </a:rPr>
              <a:t>➜</a:t>
            </a:r>
          </a:p>
        </p:txBody>
      </p:sp>
      <p:sp>
        <p:nvSpPr>
          <p:cNvPr id="250" name="LeftBullets"/>
          <p:cNvSpPr txBox="1"/>
          <p:nvPr/>
        </p:nvSpPr>
        <p:spPr>
          <a:xfrm>
            <a:off x="838200" y="3602300"/>
            <a:ext cx="4495800" cy="16002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Static rows and columns that are hard to read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Insights disconnected from the data behind them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Filed away, rarely revisited</a:t>
            </a:r>
          </a:p>
          <a:p>
            <a:pPr algn="l">
              <a:spcBef>
                <a:spcPts val="600"/>
              </a:spcBef>
            </a:pPr>
            <a:endParaRPr lang="en-GB" sz="1400" dirty="0">
              <a:solidFill>
                <a:srgbClr val="9090A8"/>
              </a:solidFill>
              <a:latin typeface="Source Sans Pro"/>
            </a:endParaRPr>
          </a:p>
        </p:txBody>
      </p:sp>
      <p:sp>
        <p:nvSpPr>
          <p:cNvPr id="251" name="RightBullets"/>
          <p:cNvSpPr txBox="1"/>
          <p:nvPr/>
        </p:nvSpPr>
        <p:spPr>
          <a:xfrm>
            <a:off x="6858000" y="4613069"/>
            <a:ext cx="4495800" cy="1104825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Interactive, filterable, explorable tables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Insights your team actually uses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Build &amp; present a narrative without leaving the report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9F66BA3-4BB4-CC9E-7939-E039B3B5D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887" y="2240117"/>
            <a:ext cx="4605098" cy="2311194"/>
          </a:xfrm>
          <a:prstGeom prst="roundRect">
            <a:avLst>
              <a:gd name="adj" fmla="val 3000"/>
            </a:avLst>
          </a:prstGeom>
        </p:spPr>
      </p:pic>
      <p:sp>
        <p:nvSpPr>
          <p:cNvPr id="150" name="BA"/>
          <p:cNvSpPr/>
          <p:nvPr/>
        </p:nvSpPr>
        <p:spPr>
          <a:xfrm>
            <a:off x="0" y="683035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40" name="Call"/>
          <p:cNvSpPr txBox="1"/>
          <p:nvPr/>
        </p:nvSpPr>
        <p:spPr>
          <a:xfrm>
            <a:off x="762000" y="61722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Not a dashboard. Not a PDF. A living report your whole team can explore</a:t>
            </a:r>
          </a:p>
        </p:txBody>
      </p:sp>
      <p:pic>
        <p:nvPicPr>
          <p:cNvPr id="3" name="Picture 2" descr="A white calendar with numbers&#10;&#10;AI-generated content may be incorrect.">
            <a:extLst>
              <a:ext uri="{FF2B5EF4-FFF2-40B4-BE49-F238E27FC236}">
                <a16:creationId xmlns:a16="http://schemas.microsoft.com/office/drawing/2014/main" id="{63135029-E7DF-B1CD-6713-29D76A6D1B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996" y="2257044"/>
            <a:ext cx="4692460" cy="1286255"/>
          </a:xfrm>
          <a:prstGeom prst="roundRect">
            <a:avLst>
              <a:gd name="adj" fmla="val 3000"/>
            </a:avLst>
          </a:prstGeom>
        </p:spPr>
      </p:pic>
    </p:spTree>
    <p:extLst>
      <p:ext uri="{BB962C8B-B14F-4D97-AF65-F5344CB8AC3E}">
        <p14:creationId xmlns:p14="http://schemas.microsoft.com/office/powerpoint/2010/main" val="1060310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D4A2F-E248-0BDE-758A-B07DC9270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9F76FDEA-46DC-A585-12FB-AD7BCEF8AE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>
            <a:extLst>
              <a:ext uri="{FF2B5EF4-FFF2-40B4-BE49-F238E27FC236}">
                <a16:creationId xmlns:a16="http://schemas.microsoft.com/office/drawing/2014/main" id="{C7676748-5192-B5F9-E753-1CAA8C373B1E}"/>
              </a:ext>
            </a:extLst>
          </p:cNvPr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>
            <a:extLst>
              <a:ext uri="{FF2B5EF4-FFF2-40B4-BE49-F238E27FC236}">
                <a16:creationId xmlns:a16="http://schemas.microsoft.com/office/drawing/2014/main" id="{F8001D08-1FD3-C66C-9CD9-D031EA8F6F0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>
            <a:extLst>
              <a:ext uri="{FF2B5EF4-FFF2-40B4-BE49-F238E27FC236}">
                <a16:creationId xmlns:a16="http://schemas.microsoft.com/office/drawing/2014/main" id="{70662C89-0049-7FAD-ACF2-82A4D3C598F0}"/>
              </a:ext>
            </a:extLst>
          </p:cNvPr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DELIVERABLE</a:t>
            </a:r>
          </a:p>
        </p:txBody>
      </p:sp>
      <p:sp>
        <p:nvSpPr>
          <p:cNvPr id="105" name="Num">
            <a:extLst>
              <a:ext uri="{FF2B5EF4-FFF2-40B4-BE49-F238E27FC236}">
                <a16:creationId xmlns:a16="http://schemas.microsoft.com/office/drawing/2014/main" id="{34195BBC-9E94-9953-79D9-D3ED7511B827}"/>
              </a:ext>
            </a:extLst>
          </p:cNvPr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08</a:t>
            </a:r>
          </a:p>
        </p:txBody>
      </p:sp>
      <p:sp>
        <p:nvSpPr>
          <p:cNvPr id="150" name="BA">
            <a:extLst>
              <a:ext uri="{FF2B5EF4-FFF2-40B4-BE49-F238E27FC236}">
                <a16:creationId xmlns:a16="http://schemas.microsoft.com/office/drawing/2014/main" id="{D0E48695-E0D9-462B-8011-4192F3D054B7}"/>
              </a:ext>
            </a:extLst>
          </p:cNvPr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>
            <a:extLst>
              <a:ext uri="{FF2B5EF4-FFF2-40B4-BE49-F238E27FC236}">
                <a16:creationId xmlns:a16="http://schemas.microsoft.com/office/drawing/2014/main" id="{FACF7B45-1157-C41F-17A6-1AC0B874F1B7}"/>
              </a:ext>
            </a:extLst>
          </p:cNvPr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Alive</a:t>
            </a:r>
          </a:p>
        </p:txBody>
      </p:sp>
      <p:sp>
        <p:nvSpPr>
          <p:cNvPr id="2" name="MA">
            <a:extLst>
              <a:ext uri="{FF2B5EF4-FFF2-40B4-BE49-F238E27FC236}">
                <a16:creationId xmlns:a16="http://schemas.microsoft.com/office/drawing/2014/main" id="{78274422-6B65-4B8E-7BEE-AD963C364A5F}"/>
              </a:ext>
            </a:extLst>
          </p:cNvPr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>
            <a:extLst>
              <a:ext uri="{FF2B5EF4-FFF2-40B4-BE49-F238E27FC236}">
                <a16:creationId xmlns:a16="http://schemas.microsoft.com/office/drawing/2014/main" id="{CFA2ACDD-334A-5AC9-B793-ACCC9FA38F6B}"/>
              </a:ext>
            </a:extLst>
          </p:cNvPr>
          <p:cNvSpPr/>
          <p:nvPr/>
        </p:nvSpPr>
        <p:spPr>
          <a:xfrm>
            <a:off x="762000" y="1841500"/>
            <a:ext cx="10668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A Turas report isn't a flat file you scroll through. It's an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interactive experience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 — intuitive enough for anyone on your team to explore with minimal training. And when you need to go deeper, specialist analytical modules sit inside the same report.</a:t>
            </a:r>
          </a:p>
        </p:txBody>
      </p:sp>
      <p:sp>
        <p:nvSpPr>
          <p:cNvPr id="107" name="StaticBG">
            <a:extLst>
              <a:ext uri="{FF2B5EF4-FFF2-40B4-BE49-F238E27FC236}">
                <a16:creationId xmlns:a16="http://schemas.microsoft.com/office/drawing/2014/main" id="{1EAE242F-AF14-926C-AAEC-50985404FC9B}"/>
              </a:ext>
            </a:extLst>
          </p:cNvPr>
          <p:cNvSpPr/>
          <p:nvPr/>
        </p:nvSpPr>
        <p:spPr>
          <a:xfrm>
            <a:off x="762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5F5"/>
          </a:solidFill>
          <a:ln w="9525">
            <a:solidFill>
              <a:srgbClr val="FED7D7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taticTxt">
            <a:extLst>
              <a:ext uri="{FF2B5EF4-FFF2-40B4-BE49-F238E27FC236}">
                <a16:creationId xmlns:a16="http://schemas.microsoft.com/office/drawing/2014/main" id="{884946EC-7A80-EF53-F5D3-71F005563459}"/>
              </a:ext>
            </a:extLst>
          </p:cNvPr>
          <p:cNvSpPr/>
          <p:nvPr/>
        </p:nvSpPr>
        <p:spPr>
          <a:xfrm>
            <a:off x="952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53030"/>
                </a:solidFill>
                <a:latin typeface="Raleway"/>
              </a:rPr>
              <a:t>Static PPT / PDF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Fixed views — what you see is all you get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New question? Ask the analyst, wait days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Sits on a shared drive, rarely reopened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One person’s interpretation, locked in</a:t>
            </a:r>
          </a:p>
        </p:txBody>
      </p:sp>
      <p:sp>
        <p:nvSpPr>
          <p:cNvPr id="109" name="TurasBG">
            <a:extLst>
              <a:ext uri="{FF2B5EF4-FFF2-40B4-BE49-F238E27FC236}">
                <a16:creationId xmlns:a16="http://schemas.microsoft.com/office/drawing/2014/main" id="{F34A673D-C3E0-0D09-F929-5FF10F971B64}"/>
              </a:ext>
            </a:extLst>
          </p:cNvPr>
          <p:cNvSpPr/>
          <p:nvPr/>
        </p:nvSpPr>
        <p:spPr>
          <a:xfrm>
            <a:off x="6350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FF0"/>
          </a:solidFill>
          <a:ln w="9525">
            <a:solidFill>
              <a:srgbClr val="FEFCBF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TurasTxt">
            <a:extLst>
              <a:ext uri="{FF2B5EF4-FFF2-40B4-BE49-F238E27FC236}">
                <a16:creationId xmlns:a16="http://schemas.microsoft.com/office/drawing/2014/main" id="{6F8F98AD-6235-6F9D-BDA5-6DB65B3CE9C5}"/>
              </a:ext>
            </a:extLst>
          </p:cNvPr>
          <p:cNvSpPr/>
          <p:nvPr/>
        </p:nvSpPr>
        <p:spPr>
          <a:xfrm>
            <a:off x="6540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C9900"/>
                </a:solidFill>
                <a:latin typeface="Raleway"/>
              </a:rPr>
              <a:t>Turas Interactive Report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Interactive, filterable, explorable tables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Insights your team actually uses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Build and present a narrative without leaving the report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Deeper analysis? It's all in the same report.</a:t>
            </a:r>
          </a:p>
        </p:txBody>
      </p:sp>
      <p:sp>
        <p:nvSpPr>
          <p:cNvPr id="111" name="Fact0BG">
            <a:extLst>
              <a:ext uri="{FF2B5EF4-FFF2-40B4-BE49-F238E27FC236}">
                <a16:creationId xmlns:a16="http://schemas.microsoft.com/office/drawing/2014/main" id="{F9697CB6-BA82-7F55-700A-6F2BCB682BE7}"/>
              </a:ext>
            </a:extLst>
          </p:cNvPr>
          <p:cNvSpPr/>
          <p:nvPr/>
        </p:nvSpPr>
        <p:spPr>
          <a:xfrm>
            <a:off x="7620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act0Acc">
            <a:extLst>
              <a:ext uri="{FF2B5EF4-FFF2-40B4-BE49-F238E27FC236}">
                <a16:creationId xmlns:a16="http://schemas.microsoft.com/office/drawing/2014/main" id="{5119832F-8681-133F-72B5-46F6DEFA186A}"/>
              </a:ext>
            </a:extLst>
          </p:cNvPr>
          <p:cNvSpPr/>
          <p:nvPr/>
        </p:nvSpPr>
        <p:spPr>
          <a:xfrm>
            <a:off x="914400" y="4889500"/>
            <a:ext cx="4445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Fact0Txt">
            <a:extLst>
              <a:ext uri="{FF2B5EF4-FFF2-40B4-BE49-F238E27FC236}">
                <a16:creationId xmlns:a16="http://schemas.microsoft.com/office/drawing/2014/main" id="{42AB8ECD-C171-5F83-03CB-799815ED2FD8}"/>
              </a:ext>
            </a:extLst>
          </p:cNvPr>
          <p:cNvSpPr/>
          <p:nvPr/>
        </p:nvSpPr>
        <p:spPr>
          <a:xfrm>
            <a:off x="9144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Browser-Based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Nothing to install. Open a file and go</a:t>
            </a:r>
          </a:p>
        </p:txBody>
      </p:sp>
      <p:sp>
        <p:nvSpPr>
          <p:cNvPr id="114" name="Fact1BG">
            <a:extLst>
              <a:ext uri="{FF2B5EF4-FFF2-40B4-BE49-F238E27FC236}">
                <a16:creationId xmlns:a16="http://schemas.microsoft.com/office/drawing/2014/main" id="{AB43CA6E-673F-388F-CA3F-59F127D0319C}"/>
              </a:ext>
            </a:extLst>
          </p:cNvPr>
          <p:cNvSpPr/>
          <p:nvPr/>
        </p:nvSpPr>
        <p:spPr>
          <a:xfrm>
            <a:off x="43688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act1Acc">
            <a:extLst>
              <a:ext uri="{FF2B5EF4-FFF2-40B4-BE49-F238E27FC236}">
                <a16:creationId xmlns:a16="http://schemas.microsoft.com/office/drawing/2014/main" id="{2587AD77-0089-9930-ED9E-5A1C0FEE7934}"/>
              </a:ext>
            </a:extLst>
          </p:cNvPr>
          <p:cNvSpPr/>
          <p:nvPr/>
        </p:nvSpPr>
        <p:spPr>
          <a:xfrm>
            <a:off x="4521200" y="4889500"/>
            <a:ext cx="4445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Fact1Txt">
            <a:extLst>
              <a:ext uri="{FF2B5EF4-FFF2-40B4-BE49-F238E27FC236}">
                <a16:creationId xmlns:a16="http://schemas.microsoft.com/office/drawing/2014/main" id="{4D43407A-5880-37AC-EE63-0775DAC556CB}"/>
              </a:ext>
            </a:extLst>
          </p:cNvPr>
          <p:cNvSpPr/>
          <p:nvPr/>
        </p:nvSpPr>
        <p:spPr>
          <a:xfrm>
            <a:off x="45212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Table + Chart Views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Switch between views with one click</a:t>
            </a:r>
          </a:p>
        </p:txBody>
      </p:sp>
      <p:sp>
        <p:nvSpPr>
          <p:cNvPr id="117" name="Fact2BG">
            <a:extLst>
              <a:ext uri="{FF2B5EF4-FFF2-40B4-BE49-F238E27FC236}">
                <a16:creationId xmlns:a16="http://schemas.microsoft.com/office/drawing/2014/main" id="{AE59F247-82C0-F42B-D2AB-D77F5E7FB6F4}"/>
              </a:ext>
            </a:extLst>
          </p:cNvPr>
          <p:cNvSpPr/>
          <p:nvPr/>
        </p:nvSpPr>
        <p:spPr>
          <a:xfrm>
            <a:off x="79756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act2Acc">
            <a:extLst>
              <a:ext uri="{FF2B5EF4-FFF2-40B4-BE49-F238E27FC236}">
                <a16:creationId xmlns:a16="http://schemas.microsoft.com/office/drawing/2014/main" id="{D7A05CEF-0529-5895-0C78-9B07F915193B}"/>
              </a:ext>
            </a:extLst>
          </p:cNvPr>
          <p:cNvSpPr/>
          <p:nvPr/>
        </p:nvSpPr>
        <p:spPr>
          <a:xfrm>
            <a:off x="8128000" y="4889500"/>
            <a:ext cx="4445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9" name="Fact2Txt">
            <a:extLst>
              <a:ext uri="{FF2B5EF4-FFF2-40B4-BE49-F238E27FC236}">
                <a16:creationId xmlns:a16="http://schemas.microsoft.com/office/drawing/2014/main" id="{FCA51353-6141-2B09-C656-793A698A5C85}"/>
              </a:ext>
            </a:extLst>
          </p:cNvPr>
          <p:cNvSpPr/>
          <p:nvPr/>
        </p:nvSpPr>
        <p:spPr>
          <a:xfrm>
            <a:off x="81280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Excel Export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Pull any table into Excel whenever you need it</a:t>
            </a:r>
          </a:p>
        </p:txBody>
      </p:sp>
      <p:sp>
        <p:nvSpPr>
          <p:cNvPr id="120" name="Call">
            <a:extLst>
              <a:ext uri="{FF2B5EF4-FFF2-40B4-BE49-F238E27FC236}">
                <a16:creationId xmlns:a16="http://schemas.microsoft.com/office/drawing/2014/main" id="{E430A6FA-B4BA-F0E0-38D3-85F4D266FEC4}"/>
              </a:ext>
            </a:extLst>
          </p:cNvPr>
          <p:cNvSpPr/>
          <p:nvPr/>
        </p:nvSpPr>
        <p:spPr>
          <a:xfrm>
            <a:off x="762000" y="5905500"/>
            <a:ext cx="10668000" cy="635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Research your whole team can use</a:t>
            </a:r>
          </a:p>
        </p:txBody>
      </p:sp>
    </p:spTree>
    <p:extLst>
      <p:ext uri="{BB962C8B-B14F-4D97-AF65-F5344CB8AC3E}">
        <p14:creationId xmlns:p14="http://schemas.microsoft.com/office/powerpoint/2010/main" val="422421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B4CF2-20DC-6483-92D5-5074FD530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8389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WORKFLOW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09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/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Build Your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Story</a:t>
            </a:r>
          </a:p>
        </p:txBody>
      </p:sp>
      <p:sp>
        <p:nvSpPr>
          <p:cNvPr id="2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/>
          <p:cNvSpPr/>
          <p:nvPr/>
        </p:nvSpPr>
        <p:spPr>
          <a:xfrm>
            <a:off x="762000" y="1841500"/>
            <a:ext cx="10668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Exploring the data is just the start. With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pins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, you capture the charts and tables that matter and arrange them into a narrative others can follow.</a:t>
            </a:r>
          </a:p>
        </p:txBody>
      </p:sp>
      <p:sp>
        <p:nvSpPr>
          <p:cNvPr id="107" name="Step0"/>
          <p:cNvSpPr/>
          <p:nvPr/>
        </p:nvSpPr>
        <p:spPr>
          <a:xfrm>
            <a:off x="762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N0"/>
          <p:cNvSpPr/>
          <p:nvPr/>
        </p:nvSpPr>
        <p:spPr>
          <a:xfrm>
            <a:off x="2159000" y="2781300"/>
            <a:ext cx="508000" cy="50800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1</a:t>
            </a:r>
          </a:p>
        </p:txBody>
      </p:sp>
      <p:sp>
        <p:nvSpPr>
          <p:cNvPr id="109" name="STxt0"/>
          <p:cNvSpPr/>
          <p:nvPr/>
        </p:nvSpPr>
        <p:spPr>
          <a:xfrm>
            <a:off x="952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Explore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Browse the interactive report. Filter, compare and switch views. </a:t>
            </a:r>
          </a:p>
          <a:p>
            <a:pPr algn="ctr"/>
            <a:endParaRPr lang="en-GB" sz="1200" dirty="0">
              <a:solidFill>
                <a:srgbClr val="4A5568"/>
              </a:solidFill>
              <a:latin typeface="Source Sans Pro"/>
            </a:endParaRP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Plain-language callouts explain what you're seeing and what it means.</a:t>
            </a:r>
          </a:p>
        </p:txBody>
      </p:sp>
      <p:sp>
        <p:nvSpPr>
          <p:cNvPr id="110" name="Arr0"/>
          <p:cNvSpPr/>
          <p:nvPr/>
        </p:nvSpPr>
        <p:spPr>
          <a:xfrm>
            <a:off x="4089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ep1"/>
          <p:cNvSpPr/>
          <p:nvPr/>
        </p:nvSpPr>
        <p:spPr>
          <a:xfrm>
            <a:off x="4445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SN1"/>
          <p:cNvSpPr/>
          <p:nvPr/>
        </p:nvSpPr>
        <p:spPr>
          <a:xfrm>
            <a:off x="5842000" y="2781300"/>
            <a:ext cx="508000" cy="508000"/>
          </a:xfrm>
          <a:prstGeom prst="ellipse">
            <a:avLst/>
          </a:prstGeom>
          <a:solidFill>
            <a:srgbClr val="CC99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2</a:t>
            </a:r>
          </a:p>
        </p:txBody>
      </p:sp>
      <p:sp>
        <p:nvSpPr>
          <p:cNvPr id="113" name="STxt1"/>
          <p:cNvSpPr/>
          <p:nvPr/>
        </p:nvSpPr>
        <p:spPr>
          <a:xfrm>
            <a:off x="4635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Pin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Save key charts, add commentary and arrange them into a clear narrative</a:t>
            </a:r>
          </a:p>
        </p:txBody>
      </p:sp>
      <p:sp>
        <p:nvSpPr>
          <p:cNvPr id="114" name="Arr1"/>
          <p:cNvSpPr/>
          <p:nvPr/>
        </p:nvSpPr>
        <p:spPr>
          <a:xfrm>
            <a:off x="7772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ep2"/>
          <p:cNvSpPr/>
          <p:nvPr/>
        </p:nvSpPr>
        <p:spPr>
          <a:xfrm>
            <a:off x="8128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SN2"/>
          <p:cNvSpPr/>
          <p:nvPr/>
        </p:nvSpPr>
        <p:spPr>
          <a:xfrm>
            <a:off x="9525000" y="2781300"/>
            <a:ext cx="508000" cy="508000"/>
          </a:xfrm>
          <a:prstGeom prst="ellipse">
            <a:avLst/>
          </a:prstGeom>
          <a:solidFill>
            <a:srgbClr val="E56B3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3</a:t>
            </a:r>
          </a:p>
        </p:txBody>
      </p:sp>
      <p:sp>
        <p:nvSpPr>
          <p:cNvPr id="117" name="STxt2"/>
          <p:cNvSpPr/>
          <p:nvPr/>
        </p:nvSpPr>
        <p:spPr>
          <a:xfrm>
            <a:off x="8318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Present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Walk stakeholders through your story in-file, or export to PowerPoint or PDF</a:t>
            </a:r>
          </a:p>
        </p:txBody>
      </p:sp>
      <p:sp>
        <p:nvSpPr>
          <p:cNvPr id="118" name="Call"/>
          <p:cNvSpPr/>
          <p:nvPr/>
        </p:nvSpPr>
        <p:spPr>
          <a:xfrm>
            <a:off x="762000" y="5232400"/>
            <a:ext cx="10668000" cy="8890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You don’t just receive results — you build the story you want to tell.</a:t>
            </a:r>
          </a:p>
          <a:p>
            <a:pPr algn="ctr"/>
            <a:r>
              <a:rPr lang="en-GB" sz="1200" dirty="0">
                <a:solidFill>
                  <a:srgbClr val="A0AEC0"/>
                </a:solidFill>
                <a:latin typeface="Source Sans Pro"/>
              </a:rPr>
              <a:t>One environment for exploration, narrative-building, and presentation — no tool-switching required.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CA703AAA-D800-5B10-4FB5-E6384DC4F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—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432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309C4-BFDB-4BDF-C630-CC3E60191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1051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270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190500"/>
            <a:ext cx="3556000" cy="2540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 SYSTEM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508000"/>
            <a:ext cx="8890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600" b="1" dirty="0">
                <a:solidFill>
                  <a:srgbClr val="FFFFFF"/>
                </a:solidFill>
                <a:latin typeface="Raleway"/>
              </a:rPr>
              <a:t>What Turas Can </a:t>
            </a:r>
            <a:r>
              <a:rPr lang="en-GB" sz="2600" b="1" dirty="0">
                <a:solidFill>
                  <a:srgbClr val="CC9900"/>
                </a:solidFill>
                <a:latin typeface="Raleway"/>
              </a:rPr>
              <a:t>Analyse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01600"/>
            <a:ext cx="1651000" cy="106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10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4224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Sub"/>
          <p:cNvSpPr/>
          <p:nvPr/>
        </p:nvSpPr>
        <p:spPr>
          <a:xfrm>
            <a:off x="762000" y="15240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Specialist analytical modules, all delivered within the same interactive report</a:t>
            </a:r>
          </a:p>
        </p:txBody>
      </p:sp>
      <p:sp>
        <p:nvSpPr>
          <p:cNvPr id="200" name="M0"/>
          <p:cNvSpPr/>
          <p:nvPr/>
        </p:nvSpPr>
        <p:spPr>
          <a:xfrm>
            <a:off x="7620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MT0"/>
          <p:cNvSpPr/>
          <p:nvPr/>
        </p:nvSpPr>
        <p:spPr>
          <a:xfrm>
            <a:off x="8890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Tabs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Automated crosstabs with significance testing</a:t>
            </a:r>
          </a:p>
        </p:txBody>
      </p:sp>
      <p:sp>
        <p:nvSpPr>
          <p:cNvPr id="202" name="M1"/>
          <p:cNvSpPr/>
          <p:nvPr/>
        </p:nvSpPr>
        <p:spPr>
          <a:xfrm>
            <a:off x="34671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MT1"/>
          <p:cNvSpPr/>
          <p:nvPr/>
        </p:nvSpPr>
        <p:spPr>
          <a:xfrm>
            <a:off x="35941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Tracker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Multi-wave trend analysis across waves</a:t>
            </a:r>
          </a:p>
        </p:txBody>
      </p:sp>
      <p:sp>
        <p:nvSpPr>
          <p:cNvPr id="204" name="M2"/>
          <p:cNvSpPr/>
          <p:nvPr/>
        </p:nvSpPr>
        <p:spPr>
          <a:xfrm>
            <a:off x="61722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5" name="MT2"/>
          <p:cNvSpPr/>
          <p:nvPr/>
        </p:nvSpPr>
        <p:spPr>
          <a:xfrm>
            <a:off x="62992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Key Driver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Strongest factors driving business outcomes</a:t>
            </a:r>
          </a:p>
        </p:txBody>
      </p:sp>
      <p:sp>
        <p:nvSpPr>
          <p:cNvPr id="206" name="M3"/>
          <p:cNvSpPr/>
          <p:nvPr/>
        </p:nvSpPr>
        <p:spPr>
          <a:xfrm>
            <a:off x="88773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7" name="MT3"/>
          <p:cNvSpPr/>
          <p:nvPr/>
        </p:nvSpPr>
        <p:spPr>
          <a:xfrm>
            <a:off x="90043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Key Driver (Cat.)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Regression for categorical outcomes</a:t>
            </a:r>
          </a:p>
        </p:txBody>
      </p:sp>
      <p:sp>
        <p:nvSpPr>
          <p:cNvPr id="208" name="M4"/>
          <p:cNvSpPr/>
          <p:nvPr/>
        </p:nvSpPr>
        <p:spPr>
          <a:xfrm>
            <a:off x="7620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MT4"/>
          <p:cNvSpPr/>
          <p:nvPr/>
        </p:nvSpPr>
        <p:spPr>
          <a:xfrm>
            <a:off x="8890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Segment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Statistical clustering for customer groups</a:t>
            </a:r>
          </a:p>
        </p:txBody>
      </p:sp>
      <p:sp>
        <p:nvSpPr>
          <p:cNvPr id="210" name="M5"/>
          <p:cNvSpPr/>
          <p:nvPr/>
        </p:nvSpPr>
        <p:spPr>
          <a:xfrm>
            <a:off x="34671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MT5"/>
          <p:cNvSpPr/>
          <p:nvPr/>
        </p:nvSpPr>
        <p:spPr>
          <a:xfrm>
            <a:off x="35941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Conjoint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Choice modelling with market simulator</a:t>
            </a:r>
          </a:p>
        </p:txBody>
      </p:sp>
      <p:sp>
        <p:nvSpPr>
          <p:cNvPr id="212" name="M6"/>
          <p:cNvSpPr/>
          <p:nvPr/>
        </p:nvSpPr>
        <p:spPr>
          <a:xfrm>
            <a:off x="61722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3" name="MT6"/>
          <p:cNvSpPr/>
          <p:nvPr/>
        </p:nvSpPr>
        <p:spPr>
          <a:xfrm>
            <a:off x="62992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MaxDiff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Precise preference rankings with TURF and a simulator</a:t>
            </a:r>
          </a:p>
        </p:txBody>
      </p:sp>
      <p:sp>
        <p:nvSpPr>
          <p:cNvPr id="214" name="M7"/>
          <p:cNvSpPr/>
          <p:nvPr/>
        </p:nvSpPr>
        <p:spPr>
          <a:xfrm>
            <a:off x="88773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5" name="MT7"/>
          <p:cNvSpPr/>
          <p:nvPr/>
        </p:nvSpPr>
        <p:spPr>
          <a:xfrm>
            <a:off x="90043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Pricing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Van Westendorp, Gabor-Granger with simulators and monadic  models</a:t>
            </a:r>
          </a:p>
        </p:txBody>
      </p:sp>
      <p:sp>
        <p:nvSpPr>
          <p:cNvPr id="216" name="M8"/>
          <p:cNvSpPr/>
          <p:nvPr/>
        </p:nvSpPr>
        <p:spPr>
          <a:xfrm>
            <a:off x="7620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7" name="MT8"/>
          <p:cNvSpPr/>
          <p:nvPr/>
        </p:nvSpPr>
        <p:spPr>
          <a:xfrm>
            <a:off x="8890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Weighting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Target population representation</a:t>
            </a:r>
          </a:p>
        </p:txBody>
      </p:sp>
      <p:sp>
        <p:nvSpPr>
          <p:cNvPr id="218" name="M9"/>
          <p:cNvSpPr/>
          <p:nvPr/>
        </p:nvSpPr>
        <p:spPr>
          <a:xfrm>
            <a:off x="34671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9" name="MT9"/>
          <p:cNvSpPr/>
          <p:nvPr/>
        </p:nvSpPr>
        <p:spPr>
          <a:xfrm>
            <a:off x="35941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Confidence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Rigorous validity testing</a:t>
            </a:r>
          </a:p>
        </p:txBody>
      </p:sp>
      <p:sp>
        <p:nvSpPr>
          <p:cNvPr id="240" name="Call"/>
          <p:cNvSpPr/>
          <p:nvPr/>
        </p:nvSpPr>
        <p:spPr>
          <a:xfrm>
            <a:off x="762000" y="5354144"/>
            <a:ext cx="10668000" cy="635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22860" rIns="182880" bIns="2286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Multiple modules can be combined into a single report.</a:t>
            </a:r>
          </a:p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Advanced modules include plain-language callouts that guide users through the statistics — so the outputs are understood, not just delivered.</a:t>
            </a:r>
          </a:p>
        </p:txBody>
      </p:sp>
      <p:sp>
        <p:nvSpPr>
          <p:cNvPr id="2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8452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B1E78-558A-578F-B8A1-E16906D49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WORKING TOGETHER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We Can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Help With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11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P0"/>
          <p:cNvSpPr/>
          <p:nvPr/>
        </p:nvSpPr>
        <p:spPr>
          <a:xfrm>
            <a:off x="762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PTx0"/>
          <p:cNvSpPr/>
          <p:nvPr/>
        </p:nvSpPr>
        <p:spPr>
          <a:xfrm>
            <a:off x="952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Questionnaire Design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Structuring questions to produce clean, analysable data</a:t>
            </a:r>
          </a:p>
        </p:txBody>
      </p:sp>
      <p:sp>
        <p:nvSpPr>
          <p:cNvPr id="109" name="P1"/>
          <p:cNvSpPr/>
          <p:nvPr/>
        </p:nvSpPr>
        <p:spPr>
          <a:xfrm>
            <a:off x="4445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PTx1"/>
          <p:cNvSpPr/>
          <p:nvPr/>
        </p:nvSpPr>
        <p:spPr>
          <a:xfrm>
            <a:off x="4635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Analytical Planning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Choosing the right methods and structuring the approach</a:t>
            </a:r>
          </a:p>
        </p:txBody>
      </p:sp>
      <p:sp>
        <p:nvSpPr>
          <p:cNvPr id="111" name="P2"/>
          <p:cNvSpPr/>
          <p:nvPr/>
        </p:nvSpPr>
        <p:spPr>
          <a:xfrm>
            <a:off x="8128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PTx2"/>
          <p:cNvSpPr/>
          <p:nvPr/>
        </p:nvSpPr>
        <p:spPr>
          <a:xfrm>
            <a:off x="8318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Data Preparation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Cleaning, coding, and preparing data for rigorous analysis</a:t>
            </a:r>
          </a:p>
        </p:txBody>
      </p:sp>
      <p:sp>
        <p:nvSpPr>
          <p:cNvPr id="113" name="P3"/>
          <p:cNvSpPr/>
          <p:nvPr/>
        </p:nvSpPr>
        <p:spPr>
          <a:xfrm>
            <a:off x="762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PTx3"/>
          <p:cNvSpPr/>
          <p:nvPr/>
        </p:nvSpPr>
        <p:spPr>
          <a:xfrm>
            <a:off x="952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6B33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Interpretation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Making sense of results and building a clear narrative</a:t>
            </a:r>
          </a:p>
        </p:txBody>
      </p:sp>
      <p:sp>
        <p:nvSpPr>
          <p:cNvPr id="115" name="P4"/>
          <p:cNvSpPr/>
          <p:nvPr/>
        </p:nvSpPr>
        <p:spPr>
          <a:xfrm>
            <a:off x="6350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PTx4"/>
          <p:cNvSpPr/>
          <p:nvPr/>
        </p:nvSpPr>
        <p:spPr>
          <a:xfrm>
            <a:off x="6540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Third-Party Data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We can evaluate and prepare existing datasets for analysis, regardless of source</a:t>
            </a:r>
          </a:p>
        </p:txBody>
      </p:sp>
      <p:sp>
        <p:nvSpPr>
          <p:cNvPr id="117" name="Call"/>
          <p:cNvSpPr/>
          <p:nvPr/>
        </p:nvSpPr>
        <p:spPr>
          <a:xfrm>
            <a:off x="762000" y="5334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For most projects we also prepare an initial set of pinned views, giving your team a ready-made starting point</a:t>
            </a:r>
          </a:p>
        </p:txBody>
      </p:sp>
    </p:spTree>
    <p:extLst>
      <p:ext uri="{BB962C8B-B14F-4D97-AF65-F5344CB8AC3E}">
        <p14:creationId xmlns:p14="http://schemas.microsoft.com/office/powerpoint/2010/main" val="18341878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C1237-4AB7-8108-912E-440E1D09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NEXT STEPS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See It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In Action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12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TA"/>
          <p:cNvSpPr/>
          <p:nvPr/>
        </p:nvSpPr>
        <p:spPr>
          <a:xfrm>
            <a:off x="1524000" y="2286000"/>
            <a:ext cx="9144000" cy="254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CC9900"/>
            </a:solidFill>
          </a:ln>
        </p:spPr>
        <p:txBody>
          <a:bodyPr wrap="square" lIns="228600" tIns="137160" rIns="228600" bIns="137160" anchor="ctr"/>
          <a:lstStyle/>
          <a:p>
            <a:pPr algn="ctr">
              <a:spcAft>
                <a:spcPts val="800"/>
              </a:spcAft>
            </a:pPr>
            <a:r>
              <a:rPr lang="en-GB" sz="2400" b="1" dirty="0">
                <a:solidFill>
                  <a:srgbClr val="1A2744"/>
                </a:solidFill>
                <a:latin typeface="Raleway"/>
              </a:rPr>
              <a:t>The most effective way to understand Turas is a live demonstration.</a:t>
            </a:r>
          </a:p>
          <a:p>
            <a:pPr algn="ctr"/>
            <a:r>
              <a:rPr lang="en-GB" sz="1600" dirty="0">
                <a:solidFill>
                  <a:srgbClr val="4A5568"/>
                </a:solidFill>
                <a:latin typeface="Source Sans Pro"/>
              </a:rPr>
              <a:t>We can walk through a demo dataset and show how survey data becomes a working analytical resource — from raw data to interactive report.</a:t>
            </a:r>
          </a:p>
        </p:txBody>
      </p:sp>
      <p:sp>
        <p:nvSpPr>
          <p:cNvPr id="120" name="Btn"/>
          <p:cNvSpPr/>
          <p:nvPr/>
        </p:nvSpPr>
        <p:spPr>
          <a:xfrm>
            <a:off x="4318000" y="5270500"/>
            <a:ext cx="3556000" cy="6350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Let's look at a live report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724322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2" name="Divider"/>
          <p:cNvSpPr/>
          <p:nvPr/>
        </p:nvSpPr>
        <p:spPr>
          <a:xfrm>
            <a:off x="4826000" y="2032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BrandName"/>
          <p:cNvSpPr/>
          <p:nvPr/>
        </p:nvSpPr>
        <p:spPr>
          <a:xfrm>
            <a:off x="1016000" y="2222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4800" b="1" dirty="0">
                <a:solidFill>
                  <a:srgbClr val="FFFFFF"/>
                </a:solidFill>
                <a:latin typeface="Raleway"/>
              </a:rPr>
              <a:t>Turas</a:t>
            </a:r>
          </a:p>
        </p:txBody>
      </p:sp>
      <p:sp>
        <p:nvSpPr>
          <p:cNvPr id="204" name="Tagline"/>
          <p:cNvSpPr/>
          <p:nvPr/>
        </p:nvSpPr>
        <p:spPr>
          <a:xfrm>
            <a:off x="1016000" y="3200400"/>
            <a:ext cx="1016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GB" sz="1800" i="1" dirty="0">
                <a:solidFill>
                  <a:srgbClr val="A0AEC0"/>
                </a:solidFill>
                <a:latin typeface="Source Sans Pro"/>
              </a:rPr>
              <a:t>Complete analytics. No strings attached</a:t>
            </a:r>
          </a:p>
        </p:txBody>
      </p:sp>
      <p:sp>
        <p:nvSpPr>
          <p:cNvPr id="205" name="Divider2"/>
          <p:cNvSpPr/>
          <p:nvPr/>
        </p:nvSpPr>
        <p:spPr>
          <a:xfrm>
            <a:off x="4826000" y="3810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6" name="Contact"/>
          <p:cNvSpPr/>
          <p:nvPr/>
        </p:nvSpPr>
        <p:spPr>
          <a:xfrm>
            <a:off x="1016000" y="40640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lnSpc>
                <a:spcPts val="2800"/>
              </a:lnSpc>
            </a:pPr>
            <a:r>
              <a:rPr lang="en-GB" sz="1400" dirty="0">
                <a:solidFill>
                  <a:srgbClr val="CC9900"/>
                </a:solidFill>
                <a:latin typeface="Source Sans Pro"/>
              </a:rPr>
              <a:t>duncan@researchlamppost.co.za</a:t>
            </a:r>
            <a:endParaRPr lang="en-GB" sz="1400" dirty="0">
              <a:solidFill>
                <a:srgbClr val="A0AEC0"/>
              </a:solidFill>
              <a:latin typeface="Source Sans Pro"/>
            </a:endParaRPr>
          </a:p>
        </p:txBody>
      </p:sp>
      <p:sp>
        <p:nvSpPr>
          <p:cNvPr id="2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Diamond"/>
          <p:cNvSpPr/>
          <p:nvPr/>
        </p:nvSpPr>
        <p:spPr>
          <a:xfrm>
            <a:off x="5943600" y="1651000"/>
            <a:ext cx="304800" cy="304800"/>
          </a:xfrm>
          <a:prstGeom prst="diamond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pic>
        <p:nvPicPr>
          <p:cNvPr id="8" name="Picture 7" descr="A logo with a yellow and blue diamond&#10;&#10;AI-generated content may be incorrect.">
            <a:extLst>
              <a:ext uri="{FF2B5EF4-FFF2-40B4-BE49-F238E27FC236}">
                <a16:creationId xmlns:a16="http://schemas.microsoft.com/office/drawing/2014/main" id="{13F92F90-D33B-0689-B5C0-AF4DB9924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114" y="4595977"/>
            <a:ext cx="2365231" cy="1665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857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5074CAE-08C3-3B4F-8C27-CA6529B72A4E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22340</TotalTime>
  <Words>1143</Words>
  <Application>Microsoft Macintosh PowerPoint</Application>
  <PresentationFormat>Widescreen</PresentationFormat>
  <Paragraphs>190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-webkit-standard</vt:lpstr>
      <vt:lpstr>Aptos</vt:lpstr>
      <vt:lpstr>Aptos Display</vt:lpstr>
      <vt:lpstr>Arial</vt:lpstr>
      <vt:lpstr>Calibri</vt:lpstr>
      <vt:lpstr>Raleway</vt:lpstr>
      <vt:lpstr>Source Sans Pro</vt:lpstr>
      <vt:lpstr>Office Theme</vt:lpstr>
      <vt:lpstr>Turas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Duncan Brett</dc:creator>
  <cp:lastModifiedBy>Duncan Brett</cp:lastModifiedBy>
  <cp:revision>42</cp:revision>
  <dcterms:created xsi:type="dcterms:W3CDTF">2026-02-19T04:31:59Z</dcterms:created>
  <dcterms:modified xsi:type="dcterms:W3CDTF">2026-03-24T20:48:03Z</dcterms:modified>
</cp:coreProperties>
</file>