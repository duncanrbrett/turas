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thumbnail" Target="docProps/thumbnail.jpeg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5" Type="http://schemas.openxmlformats.org/officeDocument/2006/relationships/extended-properties" Target="docProps/app.xml"/><Relationship Id="rId4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358" r:id="rId2"/>
    <p:sldId id="332" r:id="rId3"/>
    <p:sldId id="368" r:id="rId4"/>
    <p:sldId id="369" r:id="rId5"/>
    <p:sldId id="370" r:id="rId6"/>
    <p:sldId id="371" r:id="rId7"/>
    <p:sldId id="372" r:id="rId8"/>
    <p:sldId id="395" r:id="rId9"/>
    <p:sldId id="394" r:id="rId10"/>
    <p:sldId id="389" r:id="rId11"/>
    <p:sldId id="390" r:id="rId12"/>
    <p:sldId id="391" r:id="rId13"/>
    <p:sldId id="392" r:id="rId14"/>
    <p:sldId id="378" r:id="rId1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731"/>
    <p:restoredTop sz="94694"/>
  </p:normalViewPr>
  <p:slideViewPr>
    <p:cSldViewPr snapToGrid="0">
      <p:cViewPr>
        <p:scale>
          <a:sx n="110" d="100"/>
          <a:sy n="110" d="100"/>
        </p:scale>
        <p:origin x="1424" y="4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B2293FD-1E42-1447-A1A4-389C6E1A364E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6979EB0-E91F-CC45-B59B-1976BB608CC1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768805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9D44EC-6A7D-931C-DE0A-5051B0AC6F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4848EE9-E7C3-C861-9D75-AB6794F86A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952B195-3C0A-E457-B45B-C24CC4348AE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DF9A4FD-8110-D206-1A57-C94067709A2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0599869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AD36A1-3252-7524-EF6D-B65CC56F4A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DB8C300-CEB1-BE49-17BB-3D7246DBA72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A93F0B1-19CA-4006-0C5F-BB1638FE4A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0BD8746-F672-BC34-7B73-191FC5E288B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4301024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38D90E-926D-0C5A-B805-7C4137FBEF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A52ACBC-55B3-6EF1-2CF1-BFE61458061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DA4504D-9955-D2A0-6B8A-D516A6AF337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AEB43F3-1950-F295-4B4B-D44EC33E166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0808222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3CCF3F-DCF7-92CC-FE95-E72408B15B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87DB6B3-7EC2-068F-9337-3710A497559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C57E02F-25FA-B963-6E53-D7C85B3A6A7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60DB3AE-20EB-7E46-2D6A-196349C3505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86143643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2EC33E-3A0A-DA45-384C-316F532685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EC29A5A-583C-F25C-FCE4-6B98586C975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6D3C182-A45A-8E10-DB58-859AA09ECD0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35982-B9C8-E29B-A620-CBC375416C7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9523674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913B7AF-1BA3-8D3A-BFA6-0F9AADE380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DB84E1D-3237-2519-5CA7-593DE8809DD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4DB51D-7DE8-B175-87D1-2A38039577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371879D-652A-7ECA-E1DD-11F20B7C174C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2154528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A252CA-D568-8BC3-7168-43AB1AFADC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D6DBDD3-4294-8680-400A-3988E731962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9E0BF83-78C5-15EC-35B7-5508B23D4BC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14193EA-6DB0-923F-AA4E-A85B5FF7721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59492686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50D55F5-6293-367B-FF10-877BC94C65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D52145A-2FAC-738A-FEC1-34474778C38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BBCDAAE-6FA6-D039-E696-D1D2C3104E4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04639F5-B3B5-2A94-FF14-DB09CDDE83E4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9871709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CE35824-0373-163D-6D04-48D897FAC2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8849938-CA5B-9BF8-FCD4-068411B676B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ED40C98-E9E0-8D19-86DE-E2F785B6C1A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FB9D393-273E-B1F9-92D2-E73E8E166D97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33747335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88224B-6EF3-FB65-642C-3649B80EC72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A71D155-AEA9-51F0-C000-DCCD756BEFF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BD2051-9DA1-F6DC-1476-0E21952F3F9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33E3D9A-D843-4CEC-2410-07B1AED06E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24FB17-3E1F-8FF4-BBB8-E683249FF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5757083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20F18C7-9E75-9D92-31F2-64EDD3BECED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398666-7F89-0798-7812-610A4F273DF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5D7C2C5-C454-2E44-38B1-E7F97A0776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9D9A58-720B-AE5D-9E1F-D8808B243A4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5F4908A-4C3E-704D-411B-F0CD4E0988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2154049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FE4E906-C1C1-4EF6-7F2D-FFF9DF3B653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CAF2797-315D-8EE6-C317-089F02FB40D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FA4D23-4766-D947-8E13-D72E4400AA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459D983-C6D2-2775-BED1-AB2853F66F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BA4EC42-0B0E-39A1-50DE-3B1AFCCC13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5726062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C7BCBA-3BEB-431C-17BD-19C9153D5B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2998E8D-625D-EAC1-774F-462A9149EE3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A3ACD29-E934-5075-51FC-3CA037F35B3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052F2AF-2519-7E5C-14CC-653BF642F7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28F2499-3386-BAA4-89FD-C5518E56AB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796CE1E-3792-37BE-9C0E-A1F30EF2518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6644360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9F7724B-AC52-4D87-E0F0-AC0E639B83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229756C-D8D1-FD84-9F82-A61C0D1D98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642A09C-AFD1-60C2-942E-087A141C05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4B2655-4B3E-3F34-5271-D2705E2F495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DDC732A-EC0E-C1B7-0D1B-6D77F502D23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37AD936-90F1-771D-269B-23346EE74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C1F7F5-A645-2EE6-B2C1-7B17D9D26D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DF750C74-AB81-09A8-99FE-B028507D09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4955467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8997B8-D818-36E1-17E5-61AED59820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6617C6F-0965-4F12-1862-DA26B6ACCD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57010F1-22C2-E0E6-9B49-8F87FCE21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FA713D6-E479-A889-8B1B-6000E684CFE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56295054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D58E932-1BA6-3386-AEA3-A5AE7A3A9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E96769CC-B4A8-AA5D-8871-EB3A766B74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538A79D-8172-05C7-07D8-6E33DECA74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790311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E278ED1-37E4-AB65-D83A-642E064B770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4BCA085-F7A4-CF30-6421-4A033978513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00500EE-C98B-2FAD-3FD5-6A1F895D9A4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CB8969-B390-0B69-774D-40064399140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968E3B-53BE-1306-5834-43582A164A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1B016D2-7099-9486-09F5-905198C949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98825515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4C9AD3-736A-C5CE-C8C9-7194B4F6B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E255B36-E0B0-3AE1-B7EB-06261E144022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AAEC956-F5BC-ABE1-82BE-7D6328C070C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477E8FC-FD61-682B-8415-F71F33E3EC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B0E4F1-9ABB-0B4A-DF54-0BB9816823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85E5837-52F4-5104-B068-1E6B5F0A06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2707097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FCF308-83E3-ABAD-FFDB-FA5F72A553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AFCCF83-895E-4A51-43F2-EDAC0065677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09A23F1-2C23-5FA5-E90F-175731A0FB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05112B3-D368-CCEB-A920-C84E30BA9F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E079D1A-4434-E69D-87A5-2812CAE9D3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35767325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C0797A4-1152-2907-E754-BF746F86674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614B2B39-B627-ACFB-BBCC-1B76B931A5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9D7629-44A8-D468-332A-9B12B70C3F1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CB6E56C-8290-7B51-6B46-9AEC50986D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4AAEA3E-52AE-207A-7EF6-C8E7F7FF99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70113080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542746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95E75CF-E691-D86D-EE33-3FA33FB00C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28BC6B1-28E7-7B11-4C95-FE3A1365228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AF16F65-897A-0723-626B-C13FB4DC218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2883654-0045-5F4C-BD43-6C918E968447}" type="datetimeFigureOut">
              <a:rPr lang="en-GB" smtClean="0"/>
              <a:t>17/03/2026</a:t>
            </a:fld>
            <a:endParaRPr lang="en-GB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31A5A3C-601B-7ED7-A730-692B2721BBA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337D9B1-3852-47E6-64E4-68AC332A58A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07AFBAB-DCF6-AB44-A865-ED35659D1154}" type="slidenum">
              <a:rPr lang="en-GB" smtClean="0"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4699411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4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Content Placeholder 4" descr="A river running through a desert&#10;&#10;AI-generated content may be incorrect.">
            <a:extLst>
              <a:ext uri="{FF2B5EF4-FFF2-40B4-BE49-F238E27FC236}">
                <a16:creationId xmlns:a16="http://schemas.microsoft.com/office/drawing/2014/main" id="{42107E63-9AE6-455E-83EE-4B213E6CB27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rcRect t="25249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0" name="TopAccentBar"/>
          <p:cNvSpPr/>
          <p:nvPr/>
        </p:nvSpPr>
        <p:spPr>
          <a:xfrm>
            <a:off x="0" y="0"/>
            <a:ext cx="12192000" cy="5715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US" dirty="0"/>
          </a:p>
        </p:txBody>
      </p:sp>
      <p:sp>
        <p:nvSpPr>
          <p:cNvPr id="32" name="TextBackdrop"/>
          <p:cNvSpPr/>
          <p:nvPr/>
        </p:nvSpPr>
        <p:spPr>
          <a:xfrm>
            <a:off x="0" y="4300000"/>
            <a:ext cx="12192000" cy="2507200"/>
          </a:xfrm>
          <a:prstGeom prst="rect">
            <a:avLst/>
          </a:prstGeom>
          <a:solidFill>
            <a:srgbClr val="0A1628">
              <a:alpha val="80000"/>
            </a:srgbClr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D6C3F1A-6632-A2DB-45B5-73CE46A1B2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2000" y="4572000"/>
            <a:ext cx="10972800" cy="914400"/>
          </a:xfrm>
        </p:spPr>
        <p:txBody>
          <a:bodyPr vert="horz" lIns="91440" tIns="45720" rIns="91440" bIns="45720" rtlCol="0" anchor="ctr">
            <a:normAutofit/>
          </a:bodyPr>
          <a:lstStyle/>
          <a:p>
            <a:pPr algn="l"/>
            <a:r>
              <a:rPr lang="en-US" sz="4000" b="1" dirty="0">
                <a:solidFill>
                  <a:srgbClr val="FFFFFF"/>
                </a:solidFill>
                <a:latin typeface="Calibri"/>
              </a:rPr>
              <a:t>Turas</a:t>
            </a:r>
          </a:p>
        </p:txBody>
      </p:sp>
      <p:sp>
        <p:nvSpPr>
          <p:cNvPr id="31" name="Subtitle"/>
          <p:cNvSpPr txBox="1"/>
          <p:nvPr/>
        </p:nvSpPr>
        <p:spPr>
          <a:xfrm>
            <a:off x="762000" y="5562600"/>
            <a:ext cx="10972800" cy="533400"/>
          </a:xfrm>
          <a:prstGeom prst="rect">
            <a:avLst/>
          </a:prstGeom>
          <a:noFill/>
          <a:ln>
            <a:noFill/>
          </a:ln>
        </p:spPr>
        <p:txBody>
          <a:bodyPr wrap="square" rtlCol="0" anchor="t"/>
          <a:lstStyle/>
          <a:p>
            <a:pPr algn="l"/>
            <a:r>
              <a:rPr lang="en-US" sz="2000" dirty="0">
                <a:solidFill>
                  <a:srgbClr val="FFFFFF"/>
                </a:solidFill>
                <a:latin typeface="Calibri"/>
              </a:rPr>
              <a:t>The complete survey analytics system</a:t>
            </a:r>
          </a:p>
        </p:txBody>
      </p:sp>
      <p:pic>
        <p:nvPicPr>
          <p:cNvPr id="4" name="Picture 3" descr="A blue and yellow diamond with a star on it&#10;&#10;AI-generated content may be incorrect.">
            <a:extLst>
              <a:ext uri="{FF2B5EF4-FFF2-40B4-BE49-F238E27FC236}">
                <a16:creationId xmlns:a16="http://schemas.microsoft.com/office/drawing/2014/main" id="{7A0B7A84-EAF0-A86E-8F4A-2A0E437BA65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303099" y="193672"/>
            <a:ext cx="1792312" cy="1262643"/>
          </a:xfrm>
          <a:prstGeom prst="rect">
            <a:avLst/>
          </a:prstGeom>
        </p:spPr>
      </p:pic>
      <p:sp>
        <p:nvSpPr>
          <p:cNvPr id="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12719436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eade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286000" cy="2794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WHAT IS TURAS?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Research Should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Work Harder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01</a:t>
            </a:r>
          </a:p>
        </p:txBody>
      </p:sp>
      <p:sp>
        <p:nvSpPr>
          <p:cNvPr id="106" name="MidAcc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BG"/>
          <p:cNvSpPr/>
          <p:nvPr/>
        </p:nvSpPr>
        <p:spPr>
          <a:xfrm>
            <a:off x="762000" y="1968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0Acc"/>
          <p:cNvSpPr/>
          <p:nvPr/>
        </p:nvSpPr>
        <p:spPr>
          <a:xfrm>
            <a:off x="762000" y="1968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0Txt"/>
          <p:cNvSpPr/>
          <p:nvPr/>
        </p:nvSpPr>
        <p:spPr>
          <a:xfrm>
            <a:off x="1041400" y="2120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Good Data, Limited Life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You commission research and get a deck that answers the questions you asked at the time.</a:t>
            </a:r>
          </a:p>
        </p:txBody>
      </p:sp>
      <p:sp>
        <p:nvSpPr>
          <p:cNvPr id="113" name="C1BG"/>
          <p:cNvSpPr/>
          <p:nvPr/>
        </p:nvSpPr>
        <p:spPr>
          <a:xfrm>
            <a:off x="762000" y="34290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C1Acc"/>
          <p:cNvSpPr/>
          <p:nvPr/>
        </p:nvSpPr>
        <p:spPr>
          <a:xfrm>
            <a:off x="762000" y="34290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1Txt"/>
          <p:cNvSpPr/>
          <p:nvPr/>
        </p:nvSpPr>
        <p:spPr>
          <a:xfrm>
            <a:off x="1041400" y="35814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New Questions, Old Process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new question surfaces, someone has to reopen the dataset and rebuild the analysis. That takes time and money.</a:t>
            </a:r>
          </a:p>
        </p:txBody>
      </p:sp>
      <p:sp>
        <p:nvSpPr>
          <p:cNvPr id="116" name="C2BG"/>
          <p:cNvSpPr/>
          <p:nvPr/>
        </p:nvSpPr>
        <p:spPr>
          <a:xfrm>
            <a:off x="762000" y="4889500"/>
            <a:ext cx="10668000" cy="12065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C2Acc"/>
          <p:cNvSpPr/>
          <p:nvPr/>
        </p:nvSpPr>
        <p:spPr>
          <a:xfrm>
            <a:off x="762000" y="4889500"/>
            <a:ext cx="63500" cy="12065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C2Txt"/>
          <p:cNvSpPr/>
          <p:nvPr/>
        </p:nvSpPr>
        <p:spPr>
          <a:xfrm>
            <a:off x="1041400" y="5041900"/>
            <a:ext cx="10160000" cy="9017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3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Turas Changes That</a:t>
            </a:r>
          </a:p>
          <a:p>
            <a:pPr algn="l">
              <a:spcAft>
                <a:spcPts val="3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Most research ends up as a presentation rather than a resource. </a:t>
            </a:r>
          </a:p>
        </p:txBody>
      </p:sp>
      <p:sp>
        <p:nvSpPr>
          <p:cNvPr id="130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87469797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-5956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2540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1000" dirty="0">
                <a:solidFill>
                  <a:srgbClr val="FFFFFF"/>
                </a:solidFill>
                <a:latin typeface="Source Sans Pro"/>
              </a:rPr>
              <a:t>THE CASE FOR TURAS 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Turas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Delivers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02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0"/>
          <p:cNvSpPr/>
          <p:nvPr/>
        </p:nvSpPr>
        <p:spPr>
          <a:xfrm>
            <a:off x="762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FA0"/>
          <p:cNvSpPr/>
          <p:nvPr/>
        </p:nvSpPr>
        <p:spPr>
          <a:xfrm>
            <a:off x="914400" y="187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9" name="FT0"/>
          <p:cNvSpPr/>
          <p:nvPr/>
        </p:nvSpPr>
        <p:spPr>
          <a:xfrm>
            <a:off x="914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Interactive Analytics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An interactive resource your team can explore, share, and return to.</a:t>
            </a:r>
          </a:p>
        </p:txBody>
      </p:sp>
      <p:sp>
        <p:nvSpPr>
          <p:cNvPr id="110" name="F1"/>
          <p:cNvSpPr/>
          <p:nvPr/>
        </p:nvSpPr>
        <p:spPr>
          <a:xfrm>
            <a:off x="4445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FA1"/>
          <p:cNvSpPr/>
          <p:nvPr/>
        </p:nvSpPr>
        <p:spPr>
          <a:xfrm>
            <a:off x="4597400" y="1879600"/>
            <a:ext cx="5080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T1"/>
          <p:cNvSpPr/>
          <p:nvPr/>
        </p:nvSpPr>
        <p:spPr>
          <a:xfrm>
            <a:off x="4597400" y="2032000"/>
            <a:ext cx="3120136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Rigorous Statistics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Built on validated, open-source statistical methods — not proprietary algorithms. </a:t>
            </a:r>
          </a:p>
        </p:txBody>
      </p:sp>
      <p:sp>
        <p:nvSpPr>
          <p:cNvPr id="113" name="F2"/>
          <p:cNvSpPr/>
          <p:nvPr/>
        </p:nvSpPr>
        <p:spPr>
          <a:xfrm>
            <a:off x="8128000" y="1879600"/>
            <a:ext cx="34544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FA2"/>
          <p:cNvSpPr/>
          <p:nvPr/>
        </p:nvSpPr>
        <p:spPr>
          <a:xfrm>
            <a:off x="8280400" y="1879600"/>
            <a:ext cx="5080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T2"/>
          <p:cNvSpPr/>
          <p:nvPr/>
        </p:nvSpPr>
        <p:spPr>
          <a:xfrm>
            <a:off x="8280400" y="2032000"/>
            <a:ext cx="31496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Permanent Record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One dataset. One report. Useful for as long as the data is relevant.</a:t>
            </a:r>
          </a:p>
        </p:txBody>
      </p:sp>
      <p:sp>
        <p:nvSpPr>
          <p:cNvPr id="116" name="F3"/>
          <p:cNvSpPr/>
          <p:nvPr/>
        </p:nvSpPr>
        <p:spPr>
          <a:xfrm>
            <a:off x="762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7" name="FA3"/>
          <p:cNvSpPr/>
          <p:nvPr/>
        </p:nvSpPr>
        <p:spPr>
          <a:xfrm>
            <a:off x="914400" y="3149600"/>
            <a:ext cx="508000" cy="381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T3"/>
          <p:cNvSpPr/>
          <p:nvPr/>
        </p:nvSpPr>
        <p:spPr>
          <a:xfrm>
            <a:off x="914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Pay Per Project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No subscriptions. No licence costs. No installations. </a:t>
            </a:r>
          </a:p>
        </p:txBody>
      </p:sp>
      <p:sp>
        <p:nvSpPr>
          <p:cNvPr id="119" name="F4"/>
          <p:cNvSpPr/>
          <p:nvPr/>
        </p:nvSpPr>
        <p:spPr>
          <a:xfrm>
            <a:off x="6350000" y="3149600"/>
            <a:ext cx="5334000" cy="1143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20" name="FA4"/>
          <p:cNvSpPr/>
          <p:nvPr/>
        </p:nvSpPr>
        <p:spPr>
          <a:xfrm>
            <a:off x="6502400" y="3149600"/>
            <a:ext cx="508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21" name="FT4"/>
          <p:cNvSpPr/>
          <p:nvPr/>
        </p:nvSpPr>
        <p:spPr>
          <a:xfrm>
            <a:off x="6502400" y="3302000"/>
            <a:ext cx="50292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Bring Your Own Data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Works with any survey dataset, whether fieldwork was commissioned through us or not. Got old data gathering dust? We can re-run it through Turas and discover insights you never got to.</a:t>
            </a:r>
          </a:p>
        </p:txBody>
      </p:sp>
      <p:sp>
        <p:nvSpPr>
          <p:cNvPr id="122" name="Quote"/>
          <p:cNvSpPr/>
          <p:nvPr/>
        </p:nvSpPr>
        <p:spPr>
          <a:xfrm>
            <a:off x="762000" y="45085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World-class analytics on demand. No strings attached</a:t>
            </a:r>
          </a:p>
        </p:txBody>
      </p:sp>
    </p:spTree>
    <p:extLst>
      <p:ext uri="{BB962C8B-B14F-4D97-AF65-F5344CB8AC3E}">
        <p14:creationId xmlns:p14="http://schemas.microsoft.com/office/powerpoint/2010/main" val="158191820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STATISTICS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Serious Statistical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Foundations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03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0"/>
          <p:cNvSpPr/>
          <p:nvPr/>
        </p:nvSpPr>
        <p:spPr>
          <a:xfrm>
            <a:off x="762000" y="1968500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T0"/>
          <p:cNvSpPr/>
          <p:nvPr/>
        </p:nvSpPr>
        <p:spPr>
          <a:xfrm>
            <a:off x="9525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Built on R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open-source statistical environment used by national statistics offices, central banks, and universities worldwide.</a:t>
            </a:r>
          </a:p>
        </p:txBody>
      </p:sp>
      <p:sp>
        <p:nvSpPr>
          <p:cNvPr id="112" name="C1"/>
          <p:cNvSpPr/>
          <p:nvPr/>
        </p:nvSpPr>
        <p:spPr>
          <a:xfrm>
            <a:off x="4495800" y="1979133"/>
            <a:ext cx="34798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CT1"/>
          <p:cNvSpPr/>
          <p:nvPr/>
        </p:nvSpPr>
        <p:spPr>
          <a:xfrm>
            <a:off x="4686300" y="2032000"/>
            <a:ext cx="30988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Fully Transparent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calculation is inspectable. Methods can be examined and verified. </a:t>
            </a:r>
          </a:p>
        </p:txBody>
      </p:sp>
      <p:sp>
        <p:nvSpPr>
          <p:cNvPr id="114" name="C2"/>
          <p:cNvSpPr/>
          <p:nvPr/>
        </p:nvSpPr>
        <p:spPr>
          <a:xfrm>
            <a:off x="8229600" y="1968500"/>
            <a:ext cx="3200400" cy="2794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CT2"/>
          <p:cNvSpPr/>
          <p:nvPr/>
        </p:nvSpPr>
        <p:spPr>
          <a:xfrm>
            <a:off x="8420100" y="2032000"/>
            <a:ext cx="2819400" cy="2603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No Black Boxes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When a finding is challenged, you have a clean, traceable analytical record to stand behind.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795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Every result traces directly back to the underlying tables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25745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EEE78-897B-3BC8-594E-BF598192779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WHO'S BEHIND IT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Professional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Oversight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04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KeyStat"/>
          <p:cNvSpPr/>
          <p:nvPr/>
        </p:nvSpPr>
        <p:spPr>
          <a:xfrm>
            <a:off x="762000" y="1879600"/>
            <a:ext cx="10668000" cy="44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800" i="1" dirty="0">
                <a:solidFill>
                  <a:srgbClr val="323367"/>
                </a:solidFill>
                <a:latin typeface="Source Sans Pro"/>
              </a:rPr>
              <a:t>Turas is not a self-service tool</a:t>
            </a:r>
          </a:p>
        </p:txBody>
      </p:sp>
      <p:sp>
        <p:nvSpPr>
          <p:cNvPr id="110" name="PC0"/>
          <p:cNvSpPr/>
          <p:nvPr/>
        </p:nvSpPr>
        <p:spPr>
          <a:xfrm>
            <a:off x="762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PT0"/>
          <p:cNvSpPr/>
          <p:nvPr/>
        </p:nvSpPr>
        <p:spPr>
          <a:xfrm>
            <a:off x="952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SAMRA Accredited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Research LampPost is an organisational member of the Southern African Marketing Research Association. </a:t>
            </a:r>
          </a:p>
          <a:p>
            <a:pPr algn="l"/>
            <a:endParaRPr lang="en-GB" sz="1400" dirty="0">
              <a:solidFill>
                <a:srgbClr val="4A5568"/>
              </a:solidFill>
              <a:latin typeface="Source Sans Pro"/>
            </a:endParaRP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Duncan Brett developed Turas and is a SAMRA-Accredited Researcher.</a:t>
            </a:r>
          </a:p>
        </p:txBody>
      </p:sp>
      <p:sp>
        <p:nvSpPr>
          <p:cNvPr id="112" name="PC1"/>
          <p:cNvSpPr/>
          <p:nvPr/>
        </p:nvSpPr>
        <p:spPr>
          <a:xfrm>
            <a:off x="6350000" y="2540000"/>
            <a:ext cx="5334000" cy="2286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PT1"/>
          <p:cNvSpPr/>
          <p:nvPr/>
        </p:nvSpPr>
        <p:spPr>
          <a:xfrm>
            <a:off x="6540500" y="2603500"/>
            <a:ext cx="4953000" cy="21336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l">
              <a:spcBef>
                <a:spcPts val="0"/>
              </a:spcBef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l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Guided End-to-End</a:t>
            </a:r>
          </a:p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Every project is guided from data preparation through to final output. The right methods are applied, data is structured correctly, and results are interpreted responsibly.</a:t>
            </a:r>
          </a:p>
        </p:txBody>
      </p:sp>
      <p:sp>
        <p:nvSpPr>
          <p:cNvPr id="140" name="Stat"/>
          <p:cNvSpPr/>
          <p:nvPr/>
        </p:nvSpPr>
        <p:spPr>
          <a:xfrm>
            <a:off x="762000" y="5270500"/>
            <a:ext cx="10668000" cy="889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2800" b="1" dirty="0">
                <a:solidFill>
                  <a:srgbClr val="CC9900"/>
                </a:solidFill>
                <a:latin typeface="Raleway"/>
              </a:rPr>
              <a:t>30+</a:t>
            </a:r>
            <a:r>
              <a:rPr lang="en-GB" sz="1600" dirty="0">
                <a:solidFill>
                  <a:srgbClr val="FFFFFF"/>
                </a:solidFill>
                <a:latin typeface="Source Sans Pro"/>
              </a:rPr>
              <a:t>  years of quantitative market research expertise behind every project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609421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4E7A3EA-DD34-2924-6AC1-59B0818016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DATA SECURITY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Stays With You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05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S0"/>
          <p:cNvSpPr/>
          <p:nvPr/>
        </p:nvSpPr>
        <p:spPr>
          <a:xfrm>
            <a:off x="990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0"/>
          <p:cNvSpPr/>
          <p:nvPr/>
        </p:nvSpPr>
        <p:spPr>
          <a:xfrm>
            <a:off x="1181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3E3E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Completely Handled In-House</a:t>
            </a:r>
          </a:p>
          <a:p>
            <a:pPr algn="ctr">
              <a:spcAft>
                <a:spcPts val="400"/>
              </a:spcAft>
            </a:pPr>
            <a:r>
              <a:rPr lang="en-GB" sz="1400" dirty="0">
                <a:solidFill>
                  <a:srgbClr val="4A5568"/>
                </a:solidFill>
                <a:latin typeface="Source Sans Pro"/>
              </a:rPr>
              <a:t>Your data is analysed entirely on our own hardware — never processed by a third-party analytical platform or shared with an external service.</a:t>
            </a:r>
          </a:p>
        </p:txBody>
      </p:sp>
      <p:sp>
        <p:nvSpPr>
          <p:cNvPr id="114" name="S2"/>
          <p:cNvSpPr/>
          <p:nvPr/>
        </p:nvSpPr>
        <p:spPr>
          <a:xfrm>
            <a:off x="6324600" y="1968500"/>
            <a:ext cx="5080000" cy="2667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2"/>
          <p:cNvSpPr/>
          <p:nvPr/>
        </p:nvSpPr>
        <p:spPr>
          <a:xfrm>
            <a:off x="6515100" y="2032000"/>
            <a:ext cx="4699000" cy="2476500"/>
          </a:xfrm>
          <a:prstGeom prst="rect">
            <a:avLst/>
          </a:prstGeom>
          <a:noFill/>
          <a:ln>
            <a:noFill/>
          </a:ln>
        </p:spPr>
        <p:txBody>
          <a:bodyPr wrap="square" lIns="0" tIns="4572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400"/>
              </a:spcAft>
            </a:pPr>
            <a:r>
              <a:rPr lang="en-GB" sz="1800" b="1" dirty="0">
                <a:solidFill>
                  <a:srgbClr val="1A2744"/>
                </a:solidFill>
                <a:latin typeface="Raleway"/>
              </a:rPr>
              <a:t>Immutable Record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The delivered report is finalised and self-contained — it cannot be altered after the fact.</a:t>
            </a:r>
          </a:p>
        </p:txBody>
      </p:sp>
      <p:sp>
        <p:nvSpPr>
          <p:cNvPr id="140" name="Call"/>
          <p:cNvSpPr/>
          <p:nvPr/>
        </p:nvSpPr>
        <p:spPr>
          <a:xfrm>
            <a:off x="762000" y="5080000"/>
            <a:ext cx="10668000" cy="1016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45720" rIns="182880" bIns="4572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A stable record of exactly what the data showed at the time of analysis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4042445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DA5059-55D3-C579-EF26-2ED538115C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SPEED &amp; RELIABILITY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Fast, Consistent,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Dependable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06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Fast"/>
          <p:cNvSpPr/>
          <p:nvPr/>
        </p:nvSpPr>
        <p:spPr>
          <a:xfrm>
            <a:off x="762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CC9900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CC9900"/>
                </a:solidFill>
                <a:latin typeface="Raleway"/>
              </a:rPr>
              <a:t>1 Day*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Preliminary output once data is clean and formatted</a:t>
            </a:r>
          </a:p>
        </p:txBody>
      </p:sp>
      <p:sp>
        <p:nvSpPr>
          <p:cNvPr id="108" name="Slow"/>
          <p:cNvSpPr/>
          <p:nvPr/>
        </p:nvSpPr>
        <p:spPr>
          <a:xfrm>
            <a:off x="6223000" y="1879600"/>
            <a:ext cx="5207000" cy="16510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12700">
            <a:solidFill>
              <a:srgbClr val="E53E3E"/>
            </a:solidFill>
            <a:prstDash val="dash"/>
          </a:ln>
        </p:spPr>
        <p:txBody>
          <a:bodyPr wrap="square" lIns="72000" tIns="54000" rIns="72000" bIns="36000" anchor="t"/>
          <a:lstStyle/>
          <a:p>
            <a:pPr algn="ctr">
              <a:spcAft>
                <a:spcPts val="100"/>
              </a:spcAft>
            </a:pPr>
            <a:r>
              <a:rPr lang="en-GB" sz="3600" b="1" dirty="0">
                <a:solidFill>
                  <a:srgbClr val="E53E3E"/>
                </a:solidFill>
                <a:latin typeface="Raleway"/>
              </a:rPr>
              <a:t>Weeks</a:t>
            </a:r>
          </a:p>
          <a:p>
            <a:pPr algn="ctr"/>
            <a:r>
              <a:rPr lang="en-GB" sz="1400" dirty="0">
                <a:solidFill>
                  <a:srgbClr val="4A5568"/>
                </a:solidFill>
                <a:latin typeface="Source Sans Pro"/>
              </a:rPr>
              <a:t>Traditional analysis timeline</a:t>
            </a:r>
          </a:p>
        </p:txBody>
      </p:sp>
      <p:sp>
        <p:nvSpPr>
          <p:cNvPr id="109" name="Caveat"/>
          <p:cNvSpPr/>
          <p:nvPr/>
        </p:nvSpPr>
        <p:spPr>
          <a:xfrm>
            <a:off x="762000" y="3581400"/>
            <a:ext cx="10668000" cy="2794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000" i="1" dirty="0">
                <a:solidFill>
                  <a:srgbClr val="94A3B8"/>
                </a:solidFill>
                <a:latin typeface="Source Sans Pro"/>
              </a:rPr>
              <a:t>*Post data cleaning. Actual turnaround depends on data layout and processing complexity.</a:t>
            </a:r>
          </a:p>
        </p:txBody>
      </p:sp>
      <p:sp>
        <p:nvSpPr>
          <p:cNvPr id="110" name="ConsBG"/>
          <p:cNvSpPr/>
          <p:nvPr/>
        </p:nvSpPr>
        <p:spPr>
          <a:xfrm>
            <a:off x="762000" y="3962400"/>
            <a:ext cx="10668000" cy="1270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ConsAcc"/>
          <p:cNvSpPr/>
          <p:nvPr/>
        </p:nvSpPr>
        <p:spPr>
          <a:xfrm>
            <a:off x="762000" y="3962400"/>
            <a:ext cx="63500" cy="12700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ConsTxt"/>
          <p:cNvSpPr/>
          <p:nvPr/>
        </p:nvSpPr>
        <p:spPr>
          <a:xfrm>
            <a:off x="1016000" y="4064000"/>
            <a:ext cx="10160000" cy="1066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2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Built-in Consistency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Same methods, every time. For tracking studies, results stay comparable across waves.</a:t>
            </a:r>
          </a:p>
        </p:txBody>
      </p:sp>
      <p:sp>
        <p:nvSpPr>
          <p:cNvPr id="116" name="Call"/>
          <p:cNvSpPr/>
          <p:nvPr/>
        </p:nvSpPr>
        <p:spPr>
          <a:xfrm>
            <a:off x="762000" y="5461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Controlled computational environment. Reproducible results. Every time</a:t>
            </a:r>
          </a:p>
        </p:txBody>
      </p:sp>
    </p:spTree>
    <p:extLst>
      <p:ext uri="{BB962C8B-B14F-4D97-AF65-F5344CB8AC3E}">
        <p14:creationId xmlns:p14="http://schemas.microsoft.com/office/powerpoint/2010/main" val="7444219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0D32B5D-01DF-D3CD-3DFF-FEDA035C34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12192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 txBox="1"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>
            <a:defPPr>
              <a:defRPr lang="en-US"/>
            </a:defPPr>
            <a:lvl1pPr algn="ctr">
              <a:defRPr sz="900" b="1">
                <a:solidFill>
                  <a:srgbClr val="FFFFFF"/>
                </a:solidFill>
                <a:latin typeface="Source Sans Pro"/>
              </a:defRPr>
            </a:lvl1pPr>
          </a:lstStyle>
          <a:p>
            <a:r>
              <a:rPr lang="en-GB" dirty="0"/>
              <a:t> THE DIFFERENCE</a:t>
            </a:r>
          </a:p>
        </p:txBody>
      </p:sp>
      <p:sp>
        <p:nvSpPr>
          <p:cNvPr id="104" name="Title"/>
          <p:cNvSpPr txBox="1"/>
          <p:nvPr/>
        </p:nvSpPr>
        <p:spPr>
          <a:xfrm>
            <a:off x="762000" y="533400"/>
            <a:ext cx="9525000" cy="6858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for yourself</a:t>
            </a:r>
            <a:endParaRPr lang="en-GB" sz="2800" b="1" dirty="0">
              <a:solidFill>
                <a:srgbClr val="CC9900"/>
              </a:solidFill>
              <a:latin typeface="Raleway"/>
            </a:endParaRPr>
          </a:p>
        </p:txBody>
      </p:sp>
      <p:sp>
        <p:nvSpPr>
          <p:cNvPr id="105" name="Num"/>
          <p:cNvSpPr txBox="1"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07</a:t>
            </a:r>
          </a:p>
        </p:txBody>
      </p:sp>
      <p:sp>
        <p:nvSpPr>
          <p:cNvPr id="200" name="MA"/>
          <p:cNvSpPr/>
          <p:nvPr/>
        </p:nvSpPr>
        <p:spPr>
          <a:xfrm>
            <a:off x="762000" y="16002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0" name="LeftPanel"/>
          <p:cNvSpPr/>
          <p:nvPr/>
        </p:nvSpPr>
        <p:spPr>
          <a:xfrm>
            <a:off x="6096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1A204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FromLabel"/>
          <p:cNvSpPr txBox="1"/>
          <p:nvPr/>
        </p:nvSpPr>
        <p:spPr>
          <a:xfrm>
            <a:off x="7620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C0C0D0"/>
                </a:solidFill>
                <a:latin typeface="Raleway"/>
              </a:rPr>
              <a:t>From this...</a:t>
            </a:r>
          </a:p>
        </p:txBody>
      </p:sp>
      <p:sp>
        <p:nvSpPr>
          <p:cNvPr id="220" name="RightPanel"/>
          <p:cNvSpPr/>
          <p:nvPr/>
        </p:nvSpPr>
        <p:spPr>
          <a:xfrm>
            <a:off x="6629400" y="1803400"/>
            <a:ext cx="4953000" cy="4191000"/>
          </a:xfrm>
          <a:prstGeom prst="roundRect">
            <a:avLst>
              <a:gd name="adj" fmla="val 3000"/>
            </a:avLst>
          </a:prstGeom>
          <a:solidFill>
            <a:srgbClr val="F7F8FB"/>
          </a:solidFill>
          <a:ln w="19050">
            <a:solidFill>
              <a:srgbClr val="CC990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21" name="ToLabel"/>
          <p:cNvSpPr txBox="1"/>
          <p:nvPr/>
        </p:nvSpPr>
        <p:spPr>
          <a:xfrm>
            <a:off x="6781800" y="1879600"/>
            <a:ext cx="4648200" cy="330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l"/>
            <a:r>
              <a:rPr lang="en-GB" sz="1800" b="1" dirty="0">
                <a:solidFill>
                  <a:srgbClr val="323367"/>
                </a:solidFill>
                <a:latin typeface="Raleway"/>
              </a:rPr>
              <a:t>To this...</a:t>
            </a:r>
          </a:p>
        </p:txBody>
      </p:sp>
      <p:sp>
        <p:nvSpPr>
          <p:cNvPr id="230" name="ArrowCircle"/>
          <p:cNvSpPr/>
          <p:nvPr/>
        </p:nvSpPr>
        <p:spPr>
          <a:xfrm>
            <a:off x="5740400" y="3543300"/>
            <a:ext cx="711200" cy="711200"/>
          </a:xfrm>
          <a:prstGeom prst="ellipse">
            <a:avLst/>
          </a:prstGeom>
          <a:solidFill>
            <a:srgbClr val="CC9900"/>
          </a:solidFill>
          <a:ln>
            <a:noFill/>
          </a:ln>
          <a:effectLst>
            <a:outerShdw blurRad="152400" dist="38100" dir="5400000" algn="ctr" rotWithShape="0">
              <a:srgbClr val="000000">
                <a:alpha val="40000"/>
              </a:srgbClr>
            </a:outerShdw>
          </a:effectLst>
        </p:spPr>
        <p:txBody>
          <a:bodyPr wrap="none" lIns="0" tIns="0" rIns="0" bIns="0" anchor="ctr"/>
          <a:lstStyle/>
          <a:p>
            <a:pPr algn="ctr"/>
            <a:r>
              <a:rPr lang="en-GB" sz="3200" b="1" dirty="0">
                <a:solidFill>
                  <a:srgbClr val="FFFFFF"/>
                </a:solidFill>
                <a:latin typeface="Raleway"/>
              </a:rPr>
              <a:t>➜</a:t>
            </a:r>
          </a:p>
        </p:txBody>
      </p:sp>
      <p:sp>
        <p:nvSpPr>
          <p:cNvPr id="250" name="LeftBullets"/>
          <p:cNvSpPr txBox="1"/>
          <p:nvPr/>
        </p:nvSpPr>
        <p:spPr>
          <a:xfrm>
            <a:off x="838200" y="3602300"/>
            <a:ext cx="4495800" cy="1600200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Static rows and columns that are hard to read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Insights disconnected from the data behind them</a:t>
            </a:r>
          </a:p>
          <a:p>
            <a:pPr algn="l">
              <a:spcBef>
                <a:spcPts val="600"/>
              </a:spcBef>
              <a:buFont typeface="Arial"/>
              <a:buChar char="✗"/>
            </a:pPr>
            <a:r>
              <a:rPr lang="en-GB" sz="1400" dirty="0">
                <a:solidFill>
                  <a:srgbClr val="9090A8"/>
                </a:solidFill>
                <a:latin typeface="Source Sans Pro"/>
              </a:rPr>
              <a:t>  Filed away, rarely revisited</a:t>
            </a:r>
          </a:p>
          <a:p>
            <a:pPr algn="l">
              <a:spcBef>
                <a:spcPts val="600"/>
              </a:spcBef>
            </a:pPr>
            <a:endParaRPr lang="en-GB" sz="1400" dirty="0">
              <a:solidFill>
                <a:srgbClr val="9090A8"/>
              </a:solidFill>
              <a:latin typeface="Source Sans Pro"/>
            </a:endParaRPr>
          </a:p>
        </p:txBody>
      </p:sp>
      <p:sp>
        <p:nvSpPr>
          <p:cNvPr id="251" name="RightBullets"/>
          <p:cNvSpPr txBox="1"/>
          <p:nvPr/>
        </p:nvSpPr>
        <p:spPr>
          <a:xfrm>
            <a:off x="6858000" y="4613069"/>
            <a:ext cx="4495800" cy="1104825"/>
          </a:xfrm>
          <a:prstGeom prst="rect">
            <a:avLst/>
          </a:prstGeom>
          <a:noFill/>
          <a:ln>
            <a:noFill/>
          </a:ln>
        </p:spPr>
        <p:txBody>
          <a:bodyPr wrap="square" anchor="t"/>
          <a:lstStyle/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Interactive, filterable, explorable tables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Insights your team actually uses</a:t>
            </a:r>
          </a:p>
          <a:p>
            <a:pPr algn="l">
              <a:spcBef>
                <a:spcPts val="200"/>
              </a:spcBef>
              <a:buFont typeface="Arial"/>
              <a:buChar char="✓"/>
            </a:pPr>
            <a:r>
              <a:rPr lang="en-GB" sz="1400" dirty="0">
                <a:solidFill>
                  <a:srgbClr val="323367"/>
                </a:solidFill>
                <a:latin typeface="Source Sans Pro"/>
              </a:rPr>
              <a:t>  Build &amp; present a narrative without leaving the report</a:t>
            </a:r>
          </a:p>
        </p:txBody>
      </p:sp>
      <p:pic>
        <p:nvPicPr>
          <p:cNvPr id="4" name="Picture 3" descr="A screenshot of a computer&#10;&#10;AI-generated content may be incorrect.">
            <a:extLst>
              <a:ext uri="{FF2B5EF4-FFF2-40B4-BE49-F238E27FC236}">
                <a16:creationId xmlns:a16="http://schemas.microsoft.com/office/drawing/2014/main" id="{B9F66BA3-4BB4-CC9E-7939-E039B3B5DF4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4887" y="2240117"/>
            <a:ext cx="4605098" cy="2311194"/>
          </a:xfrm>
          <a:prstGeom prst="roundRect">
            <a:avLst>
              <a:gd name="adj" fmla="val 3000"/>
            </a:avLst>
          </a:prstGeom>
        </p:spPr>
      </p:pic>
      <p:sp>
        <p:nvSpPr>
          <p:cNvPr id="150" name="BA"/>
          <p:cNvSpPr/>
          <p:nvPr/>
        </p:nvSpPr>
        <p:spPr>
          <a:xfrm>
            <a:off x="0" y="683035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40" name="Call"/>
          <p:cNvSpPr txBox="1"/>
          <p:nvPr/>
        </p:nvSpPr>
        <p:spPr>
          <a:xfrm>
            <a:off x="762000" y="6172200"/>
            <a:ext cx="10668000" cy="457200"/>
          </a:xfrm>
          <a:prstGeom prst="rect">
            <a:avLst/>
          </a:prstGeom>
          <a:noFill/>
          <a:ln>
            <a:noFill/>
          </a:ln>
        </p:spPr>
        <p:txBody>
          <a:bodyPr wrap="square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Not a dashboard. Not a PDF. A living report your whole team can explore</a:t>
            </a:r>
          </a:p>
        </p:txBody>
      </p:sp>
      <p:pic>
        <p:nvPicPr>
          <p:cNvPr id="3" name="Picture 2" descr="A white calendar with numbers&#10;&#10;AI-generated content may be incorrect.">
            <a:extLst>
              <a:ext uri="{FF2B5EF4-FFF2-40B4-BE49-F238E27FC236}">
                <a16:creationId xmlns:a16="http://schemas.microsoft.com/office/drawing/2014/main" id="{63135029-E7DF-B1CD-6713-29D76A6D1BF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996" y="2257044"/>
            <a:ext cx="4692460" cy="1286255"/>
          </a:xfrm>
          <a:prstGeom prst="roundRect">
            <a:avLst>
              <a:gd name="adj" fmla="val 3000"/>
            </a:avLst>
          </a:prstGeom>
        </p:spPr>
      </p:pic>
    </p:spTree>
    <p:extLst>
      <p:ext uri="{BB962C8B-B14F-4D97-AF65-F5344CB8AC3E}">
        <p14:creationId xmlns:p14="http://schemas.microsoft.com/office/powerpoint/2010/main" val="106031050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2D4A2F-E248-0BDE-758A-B07DC9270CF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>
            <a:extLst>
              <a:ext uri="{FF2B5EF4-FFF2-40B4-BE49-F238E27FC236}">
                <a16:creationId xmlns:a16="http://schemas.microsoft.com/office/drawing/2014/main" id="{9F76FDEA-46DC-A585-12FB-AD7BCEF8AEBD}"/>
              </a:ext>
            </a:extLst>
          </p:cNvPr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>
            <a:extLst>
              <a:ext uri="{FF2B5EF4-FFF2-40B4-BE49-F238E27FC236}">
                <a16:creationId xmlns:a16="http://schemas.microsoft.com/office/drawing/2014/main" id="{C7676748-5192-B5F9-E753-1CAA8C373B1E}"/>
              </a:ext>
            </a:extLst>
          </p:cNvPr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>
            <a:extLst>
              <a:ext uri="{FF2B5EF4-FFF2-40B4-BE49-F238E27FC236}">
                <a16:creationId xmlns:a16="http://schemas.microsoft.com/office/drawing/2014/main" id="{F8001D08-1FD3-C66C-9CD9-D031EA8F6F0B}"/>
              </a:ext>
            </a:extLst>
          </p:cNvPr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>
            <a:extLst>
              <a:ext uri="{FF2B5EF4-FFF2-40B4-BE49-F238E27FC236}">
                <a16:creationId xmlns:a16="http://schemas.microsoft.com/office/drawing/2014/main" id="{70662C89-0049-7FAD-ACF2-82A4D3C598F0}"/>
              </a:ext>
            </a:extLst>
          </p:cNvPr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DELIVERABLE</a:t>
            </a:r>
          </a:p>
        </p:txBody>
      </p:sp>
      <p:sp>
        <p:nvSpPr>
          <p:cNvPr id="105" name="Num">
            <a:extLst>
              <a:ext uri="{FF2B5EF4-FFF2-40B4-BE49-F238E27FC236}">
                <a16:creationId xmlns:a16="http://schemas.microsoft.com/office/drawing/2014/main" id="{34195BBC-9E94-9953-79D9-D3ED7511B827}"/>
              </a:ext>
            </a:extLst>
          </p:cNvPr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08</a:t>
            </a:r>
          </a:p>
        </p:txBody>
      </p:sp>
      <p:sp>
        <p:nvSpPr>
          <p:cNvPr id="150" name="BA">
            <a:extLst>
              <a:ext uri="{FF2B5EF4-FFF2-40B4-BE49-F238E27FC236}">
                <a16:creationId xmlns:a16="http://schemas.microsoft.com/office/drawing/2014/main" id="{D0E48695-E0D9-462B-8011-4192F3D054B7}"/>
              </a:ext>
            </a:extLst>
          </p:cNvPr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>
            <a:extLst>
              <a:ext uri="{FF2B5EF4-FFF2-40B4-BE49-F238E27FC236}">
                <a16:creationId xmlns:a16="http://schemas.microsoft.com/office/drawing/2014/main" id="{FACF7B45-1157-C41F-17A6-1AC0B874F1B7}"/>
              </a:ext>
            </a:extLst>
          </p:cNvPr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Your Data,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Alive</a:t>
            </a:r>
          </a:p>
        </p:txBody>
      </p:sp>
      <p:sp>
        <p:nvSpPr>
          <p:cNvPr id="2" name="MA">
            <a:extLst>
              <a:ext uri="{FF2B5EF4-FFF2-40B4-BE49-F238E27FC236}">
                <a16:creationId xmlns:a16="http://schemas.microsoft.com/office/drawing/2014/main" id="{78274422-6B65-4B8E-7BEE-AD963C364A5F}"/>
              </a:ext>
            </a:extLst>
          </p:cNvPr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>
            <a:extLst>
              <a:ext uri="{FF2B5EF4-FFF2-40B4-BE49-F238E27FC236}">
                <a16:creationId xmlns:a16="http://schemas.microsoft.com/office/drawing/2014/main" id="{CFA2ACDD-334A-5AC9-B793-ACCC9FA38F6B}"/>
              </a:ext>
            </a:extLst>
          </p:cNvPr>
          <p:cNvSpPr/>
          <p:nvPr/>
        </p:nvSpPr>
        <p:spPr>
          <a:xfrm>
            <a:off x="762000" y="1841500"/>
            <a:ext cx="10668000" cy="635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A Turas report isn't a flat file you scroll through. It's an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interactive experience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 — intuitive enough for anyone on your team to explore with minimal training. And when you need to go deeper, specialist analytical modules sit inside the same report.</a:t>
            </a:r>
          </a:p>
        </p:txBody>
      </p:sp>
      <p:sp>
        <p:nvSpPr>
          <p:cNvPr id="107" name="StaticBG">
            <a:extLst>
              <a:ext uri="{FF2B5EF4-FFF2-40B4-BE49-F238E27FC236}">
                <a16:creationId xmlns:a16="http://schemas.microsoft.com/office/drawing/2014/main" id="{1EAE242F-AF14-926C-AAEC-50985404FC9B}"/>
              </a:ext>
            </a:extLst>
          </p:cNvPr>
          <p:cNvSpPr/>
          <p:nvPr/>
        </p:nvSpPr>
        <p:spPr>
          <a:xfrm>
            <a:off x="762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5F5"/>
          </a:solidFill>
          <a:ln w="9525">
            <a:solidFill>
              <a:srgbClr val="FED7D7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taticTxt">
            <a:extLst>
              <a:ext uri="{FF2B5EF4-FFF2-40B4-BE49-F238E27FC236}">
                <a16:creationId xmlns:a16="http://schemas.microsoft.com/office/drawing/2014/main" id="{884946EC-7A80-EF53-F5D3-71F005563459}"/>
              </a:ext>
            </a:extLst>
          </p:cNvPr>
          <p:cNvSpPr/>
          <p:nvPr/>
        </p:nvSpPr>
        <p:spPr>
          <a:xfrm>
            <a:off x="952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53030"/>
                </a:solidFill>
                <a:latin typeface="Raleway"/>
              </a:rPr>
              <a:t>Static PPT / PDF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Fixed views — what you see is all you get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New question? Ask the analyst, wait days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Sits on a shared drive, rarely reopened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✘  One person’s interpretation, locked in</a:t>
            </a:r>
          </a:p>
        </p:txBody>
      </p:sp>
      <p:sp>
        <p:nvSpPr>
          <p:cNvPr id="109" name="TurasBG">
            <a:extLst>
              <a:ext uri="{FF2B5EF4-FFF2-40B4-BE49-F238E27FC236}">
                <a16:creationId xmlns:a16="http://schemas.microsoft.com/office/drawing/2014/main" id="{F34A673D-C3E0-0D09-F929-5FF10F971B64}"/>
              </a:ext>
            </a:extLst>
          </p:cNvPr>
          <p:cNvSpPr/>
          <p:nvPr/>
        </p:nvSpPr>
        <p:spPr>
          <a:xfrm>
            <a:off x="6350000" y="2667000"/>
            <a:ext cx="5080000" cy="1968500"/>
          </a:xfrm>
          <a:prstGeom prst="roundRect">
            <a:avLst>
              <a:gd name="adj" fmla="val 3000"/>
            </a:avLst>
          </a:prstGeom>
          <a:solidFill>
            <a:srgbClr val="FFFFF0"/>
          </a:solidFill>
          <a:ln w="9525">
            <a:solidFill>
              <a:srgbClr val="FEFCBF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TurasTxt">
            <a:extLst>
              <a:ext uri="{FF2B5EF4-FFF2-40B4-BE49-F238E27FC236}">
                <a16:creationId xmlns:a16="http://schemas.microsoft.com/office/drawing/2014/main" id="{6F8F98AD-6235-6F9D-BDA5-6DB65B3CE9C5}"/>
              </a:ext>
            </a:extLst>
          </p:cNvPr>
          <p:cNvSpPr/>
          <p:nvPr/>
        </p:nvSpPr>
        <p:spPr>
          <a:xfrm>
            <a:off x="6540500" y="2794000"/>
            <a:ext cx="4699000" cy="17145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400"/>
              </a:spcAft>
            </a:pPr>
            <a:r>
              <a:rPr lang="en-GB" sz="1600" b="1" dirty="0">
                <a:solidFill>
                  <a:srgbClr val="CC9900"/>
                </a:solidFill>
                <a:latin typeface="Raleway"/>
              </a:rPr>
              <a:t>Turas Interactive Report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Interactive, filterable, explorable tables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Insights your team actually uses</a:t>
            </a:r>
          </a:p>
          <a:p>
            <a:pPr algn="l">
              <a:spcAft>
                <a:spcPts val="200"/>
              </a:spcAft>
            </a:pPr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Build and present a narrative without leaving the report</a:t>
            </a:r>
          </a:p>
          <a:p>
            <a:pPr algn="l"/>
            <a:r>
              <a:rPr lang="en-GB" sz="1200" dirty="0">
                <a:solidFill>
                  <a:srgbClr val="4A5568"/>
                </a:solidFill>
                <a:latin typeface="Source Sans Pro"/>
              </a:rPr>
              <a:t>✔  Deeper analysis? It's all in the same report.</a:t>
            </a:r>
          </a:p>
        </p:txBody>
      </p:sp>
      <p:sp>
        <p:nvSpPr>
          <p:cNvPr id="111" name="Fact0BG">
            <a:extLst>
              <a:ext uri="{FF2B5EF4-FFF2-40B4-BE49-F238E27FC236}">
                <a16:creationId xmlns:a16="http://schemas.microsoft.com/office/drawing/2014/main" id="{F9697CB6-BA82-7F55-700A-6F2BCB682BE7}"/>
              </a:ext>
            </a:extLst>
          </p:cNvPr>
          <p:cNvSpPr/>
          <p:nvPr/>
        </p:nvSpPr>
        <p:spPr>
          <a:xfrm>
            <a:off x="7620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Fact0Acc">
            <a:extLst>
              <a:ext uri="{FF2B5EF4-FFF2-40B4-BE49-F238E27FC236}">
                <a16:creationId xmlns:a16="http://schemas.microsoft.com/office/drawing/2014/main" id="{5119832F-8681-133F-72B5-46F6DEFA186A}"/>
              </a:ext>
            </a:extLst>
          </p:cNvPr>
          <p:cNvSpPr/>
          <p:nvPr/>
        </p:nvSpPr>
        <p:spPr>
          <a:xfrm>
            <a:off x="914400" y="4889500"/>
            <a:ext cx="444500" cy="38100"/>
          </a:xfrm>
          <a:prstGeom prst="rect">
            <a:avLst/>
          </a:prstGeom>
          <a:solidFill>
            <a:srgbClr val="4A90D9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3" name="Fact0Txt">
            <a:extLst>
              <a:ext uri="{FF2B5EF4-FFF2-40B4-BE49-F238E27FC236}">
                <a16:creationId xmlns:a16="http://schemas.microsoft.com/office/drawing/2014/main" id="{42AB8ECD-C171-5F83-03CB-799815ED2FD8}"/>
              </a:ext>
            </a:extLst>
          </p:cNvPr>
          <p:cNvSpPr/>
          <p:nvPr/>
        </p:nvSpPr>
        <p:spPr>
          <a:xfrm>
            <a:off x="9144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Browser-Based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Nothing to install. Open a file and go</a:t>
            </a:r>
          </a:p>
        </p:txBody>
      </p:sp>
      <p:sp>
        <p:nvSpPr>
          <p:cNvPr id="114" name="Fact1BG">
            <a:extLst>
              <a:ext uri="{FF2B5EF4-FFF2-40B4-BE49-F238E27FC236}">
                <a16:creationId xmlns:a16="http://schemas.microsoft.com/office/drawing/2014/main" id="{AB43CA6E-673F-388F-CA3F-59F127D0319C}"/>
              </a:ext>
            </a:extLst>
          </p:cNvPr>
          <p:cNvSpPr/>
          <p:nvPr/>
        </p:nvSpPr>
        <p:spPr>
          <a:xfrm>
            <a:off x="43688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Fact1Acc">
            <a:extLst>
              <a:ext uri="{FF2B5EF4-FFF2-40B4-BE49-F238E27FC236}">
                <a16:creationId xmlns:a16="http://schemas.microsoft.com/office/drawing/2014/main" id="{2587AD77-0089-9930-ED9E-5A1C0FEE7934}"/>
              </a:ext>
            </a:extLst>
          </p:cNvPr>
          <p:cNvSpPr/>
          <p:nvPr/>
        </p:nvSpPr>
        <p:spPr>
          <a:xfrm>
            <a:off x="4521200" y="4889500"/>
            <a:ext cx="4445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Fact1Txt">
            <a:extLst>
              <a:ext uri="{FF2B5EF4-FFF2-40B4-BE49-F238E27FC236}">
                <a16:creationId xmlns:a16="http://schemas.microsoft.com/office/drawing/2014/main" id="{4D43407A-5880-37AC-EE63-0775DAC556CB}"/>
              </a:ext>
            </a:extLst>
          </p:cNvPr>
          <p:cNvSpPr/>
          <p:nvPr/>
        </p:nvSpPr>
        <p:spPr>
          <a:xfrm>
            <a:off x="45212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Table + Chart Views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Switch between views with one click</a:t>
            </a:r>
          </a:p>
        </p:txBody>
      </p:sp>
      <p:sp>
        <p:nvSpPr>
          <p:cNvPr id="117" name="Fact2BG">
            <a:extLst>
              <a:ext uri="{FF2B5EF4-FFF2-40B4-BE49-F238E27FC236}">
                <a16:creationId xmlns:a16="http://schemas.microsoft.com/office/drawing/2014/main" id="{AE59F247-82C0-F42B-D2AB-D77F5E7FB6F4}"/>
              </a:ext>
            </a:extLst>
          </p:cNvPr>
          <p:cNvSpPr/>
          <p:nvPr/>
        </p:nvSpPr>
        <p:spPr>
          <a:xfrm>
            <a:off x="7975600" y="4889500"/>
            <a:ext cx="3454400" cy="825500"/>
          </a:xfrm>
          <a:prstGeom prst="roundRect">
            <a:avLst>
              <a:gd name="adj" fmla="val 5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8" name="Fact2Acc">
            <a:extLst>
              <a:ext uri="{FF2B5EF4-FFF2-40B4-BE49-F238E27FC236}">
                <a16:creationId xmlns:a16="http://schemas.microsoft.com/office/drawing/2014/main" id="{D7A05CEF-0529-5895-0C78-9B07F915193B}"/>
              </a:ext>
            </a:extLst>
          </p:cNvPr>
          <p:cNvSpPr/>
          <p:nvPr/>
        </p:nvSpPr>
        <p:spPr>
          <a:xfrm>
            <a:off x="8128000" y="4889500"/>
            <a:ext cx="444500" cy="38100"/>
          </a:xfrm>
          <a:prstGeom prst="rect">
            <a:avLst/>
          </a:prstGeom>
          <a:solidFill>
            <a:srgbClr val="E56B33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9" name="Fact2Txt">
            <a:extLst>
              <a:ext uri="{FF2B5EF4-FFF2-40B4-BE49-F238E27FC236}">
                <a16:creationId xmlns:a16="http://schemas.microsoft.com/office/drawing/2014/main" id="{FCA51353-6141-2B09-C656-793A698A5C85}"/>
              </a:ext>
            </a:extLst>
          </p:cNvPr>
          <p:cNvSpPr/>
          <p:nvPr/>
        </p:nvSpPr>
        <p:spPr>
          <a:xfrm>
            <a:off x="8128000" y="4991100"/>
            <a:ext cx="3149600" cy="6223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1A2744"/>
                </a:solidFill>
                <a:latin typeface="Raleway"/>
              </a:rPr>
              <a:t>Excel Export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Pull any table into Excel whenever you need it</a:t>
            </a:r>
          </a:p>
        </p:txBody>
      </p:sp>
      <p:sp>
        <p:nvSpPr>
          <p:cNvPr id="120" name="Call">
            <a:extLst>
              <a:ext uri="{FF2B5EF4-FFF2-40B4-BE49-F238E27FC236}">
                <a16:creationId xmlns:a16="http://schemas.microsoft.com/office/drawing/2014/main" id="{E430A6FA-B4BA-F0E0-38D3-85F4D266FEC4}"/>
              </a:ext>
            </a:extLst>
          </p:cNvPr>
          <p:cNvSpPr/>
          <p:nvPr/>
        </p:nvSpPr>
        <p:spPr>
          <a:xfrm>
            <a:off x="762000" y="5905500"/>
            <a:ext cx="10668000" cy="635000"/>
          </a:xfrm>
          <a:prstGeom prst="roundRect">
            <a:avLst>
              <a:gd name="adj" fmla="val 10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Research your whole team can use</a:t>
            </a:r>
          </a:p>
        </p:txBody>
      </p:sp>
    </p:spTree>
    <p:extLst>
      <p:ext uri="{BB962C8B-B14F-4D97-AF65-F5344CB8AC3E}">
        <p14:creationId xmlns:p14="http://schemas.microsoft.com/office/powerpoint/2010/main" val="4224219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13B4CF2-20DC-6483-92D5-5074FD53064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WORKFLOW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09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4" name="Title"/>
          <p:cNvSpPr/>
          <p:nvPr/>
        </p:nvSpPr>
        <p:spPr>
          <a:xfrm>
            <a:off x="762000" y="533400"/>
            <a:ext cx="9525000" cy="863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b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Build Your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Story</a:t>
            </a:r>
          </a:p>
        </p:txBody>
      </p:sp>
      <p:sp>
        <p:nvSpPr>
          <p:cNvPr id="2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Hero"/>
          <p:cNvSpPr/>
          <p:nvPr/>
        </p:nvSpPr>
        <p:spPr>
          <a:xfrm>
            <a:off x="762000" y="1841500"/>
            <a:ext cx="10668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600" dirty="0">
                <a:solidFill>
                  <a:srgbClr val="1A2744"/>
                </a:solidFill>
                <a:latin typeface="Source Sans Pro"/>
              </a:rPr>
              <a:t>Exploring the data is just the start. With </a:t>
            </a:r>
            <a:r>
              <a:rPr lang="en-GB" sz="1600" b="1" dirty="0">
                <a:solidFill>
                  <a:srgbClr val="1A2744"/>
                </a:solidFill>
                <a:latin typeface="Source Sans Pro"/>
              </a:rPr>
              <a:t>pins</a:t>
            </a:r>
            <a:r>
              <a:rPr lang="en-GB" sz="1600" dirty="0">
                <a:solidFill>
                  <a:srgbClr val="1A2744"/>
                </a:solidFill>
                <a:latin typeface="Source Sans Pro"/>
              </a:rPr>
              <a:t>, you capture the charts and tables that matter and arrange them into a narrative others can follow.</a:t>
            </a:r>
          </a:p>
        </p:txBody>
      </p:sp>
      <p:sp>
        <p:nvSpPr>
          <p:cNvPr id="107" name="Step0"/>
          <p:cNvSpPr/>
          <p:nvPr/>
        </p:nvSpPr>
        <p:spPr>
          <a:xfrm>
            <a:off x="762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SN0"/>
          <p:cNvSpPr/>
          <p:nvPr/>
        </p:nvSpPr>
        <p:spPr>
          <a:xfrm>
            <a:off x="2159000" y="2781300"/>
            <a:ext cx="508000" cy="508000"/>
          </a:xfrm>
          <a:prstGeom prst="ellipse">
            <a:avLst/>
          </a:prstGeom>
          <a:solidFill>
            <a:srgbClr val="4A90D9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1</a:t>
            </a:r>
          </a:p>
        </p:txBody>
      </p:sp>
      <p:sp>
        <p:nvSpPr>
          <p:cNvPr id="109" name="STxt0"/>
          <p:cNvSpPr/>
          <p:nvPr/>
        </p:nvSpPr>
        <p:spPr>
          <a:xfrm>
            <a:off x="952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Explore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Browse the interactive report. Filter, compare, switch views — follow wherever the data leads you.</a:t>
            </a:r>
          </a:p>
        </p:txBody>
      </p:sp>
      <p:sp>
        <p:nvSpPr>
          <p:cNvPr id="110" name="Arr0"/>
          <p:cNvSpPr/>
          <p:nvPr/>
        </p:nvSpPr>
        <p:spPr>
          <a:xfrm>
            <a:off x="4089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1" name="Step1"/>
          <p:cNvSpPr/>
          <p:nvPr/>
        </p:nvSpPr>
        <p:spPr>
          <a:xfrm>
            <a:off x="4445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SN1"/>
          <p:cNvSpPr/>
          <p:nvPr/>
        </p:nvSpPr>
        <p:spPr>
          <a:xfrm>
            <a:off x="5842000" y="2781300"/>
            <a:ext cx="508000" cy="508000"/>
          </a:xfrm>
          <a:prstGeom prst="ellipse">
            <a:avLst/>
          </a:prstGeom>
          <a:solidFill>
            <a:srgbClr val="CC9900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2</a:t>
            </a:r>
          </a:p>
        </p:txBody>
      </p:sp>
      <p:sp>
        <p:nvSpPr>
          <p:cNvPr id="113" name="STxt1"/>
          <p:cNvSpPr/>
          <p:nvPr/>
        </p:nvSpPr>
        <p:spPr>
          <a:xfrm>
            <a:off x="4635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Pin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Found something worth sharing? Pin it. Add your own commentary, title it, and build a sequence that tells a clear story. Insert image slides between your pins — qual findings, visuals, or slides from other reports — so the full story sits in one place.</a:t>
            </a:r>
          </a:p>
        </p:txBody>
      </p:sp>
      <p:sp>
        <p:nvSpPr>
          <p:cNvPr id="114" name="Arr1"/>
          <p:cNvSpPr/>
          <p:nvPr/>
        </p:nvSpPr>
        <p:spPr>
          <a:xfrm>
            <a:off x="7772400" y="3657600"/>
            <a:ext cx="304800" cy="304800"/>
          </a:xfrm>
          <a:prstGeom prst="rightArrow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5" name="Step2"/>
          <p:cNvSpPr/>
          <p:nvPr/>
        </p:nvSpPr>
        <p:spPr>
          <a:xfrm>
            <a:off x="8128000" y="2603500"/>
            <a:ext cx="3302000" cy="2413000"/>
          </a:xfrm>
          <a:prstGeom prst="roundRect">
            <a:avLst>
              <a:gd name="adj" fmla="val 4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SN2"/>
          <p:cNvSpPr/>
          <p:nvPr/>
        </p:nvSpPr>
        <p:spPr>
          <a:xfrm>
            <a:off x="9525000" y="2781300"/>
            <a:ext cx="508000" cy="508000"/>
          </a:xfrm>
          <a:prstGeom prst="ellipse">
            <a:avLst/>
          </a:prstGeom>
          <a:solidFill>
            <a:srgbClr val="E56B33"/>
          </a:solidFill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3</a:t>
            </a:r>
          </a:p>
        </p:txBody>
      </p:sp>
      <p:sp>
        <p:nvSpPr>
          <p:cNvPr id="117" name="STxt2"/>
          <p:cNvSpPr/>
          <p:nvPr/>
        </p:nvSpPr>
        <p:spPr>
          <a:xfrm>
            <a:off x="8318500" y="3390900"/>
            <a:ext cx="2921000" cy="1498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300"/>
              </a:spcAft>
            </a:pPr>
            <a:r>
              <a:rPr lang="en-GB" sz="2000" b="1" dirty="0">
                <a:solidFill>
                  <a:srgbClr val="1A2744"/>
                </a:solidFill>
                <a:latin typeface="Raleway"/>
              </a:rPr>
              <a:t>Present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Walk stakeholders through your pinned narrative — inside the report itself, or export to PowerPoint or PDF.</a:t>
            </a:r>
          </a:p>
        </p:txBody>
      </p:sp>
      <p:sp>
        <p:nvSpPr>
          <p:cNvPr id="118" name="Call"/>
          <p:cNvSpPr/>
          <p:nvPr/>
        </p:nvSpPr>
        <p:spPr>
          <a:xfrm>
            <a:off x="762000" y="5232400"/>
            <a:ext cx="10668000" cy="8890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600" i="1" dirty="0">
                <a:solidFill>
                  <a:srgbClr val="CC9900"/>
                </a:solidFill>
                <a:latin typeface="Source Sans Pro"/>
              </a:rPr>
              <a:t>You don’t just receive results — you build the story you want to tell.</a:t>
            </a:r>
          </a:p>
          <a:p>
            <a:pPr algn="ctr"/>
            <a:r>
              <a:rPr lang="en-GB" sz="1200" dirty="0">
                <a:solidFill>
                  <a:srgbClr val="A0AEC0"/>
                </a:solidFill>
                <a:latin typeface="Source Sans Pro"/>
              </a:rPr>
              <a:t>One environment for exploration, narrative-building, and presentation — no tool-switching required.</a:t>
            </a:r>
          </a:p>
        </p:txBody>
      </p:sp>
    </p:spTree>
    <p:extLst>
      <p:ext uri="{BB962C8B-B14F-4D97-AF65-F5344CB8AC3E}">
        <p14:creationId xmlns:p14="http://schemas.microsoft.com/office/powerpoint/2010/main" val="183778877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CB309C4-BFDB-4BDF-C630-CC3E60191F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270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190500"/>
            <a:ext cx="3556000" cy="2540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THE  SYSTEM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508000"/>
            <a:ext cx="8890000" cy="6096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600" b="1" dirty="0">
                <a:solidFill>
                  <a:srgbClr val="FFFFFF"/>
                </a:solidFill>
                <a:latin typeface="Raleway"/>
              </a:rPr>
              <a:t>What Turas Can </a:t>
            </a:r>
            <a:r>
              <a:rPr lang="en-GB" sz="2600" b="1" dirty="0">
                <a:solidFill>
                  <a:srgbClr val="CC9900"/>
                </a:solidFill>
                <a:latin typeface="Raleway"/>
              </a:rPr>
              <a:t>Analyse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01600"/>
            <a:ext cx="1651000" cy="10668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10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4224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Sub"/>
          <p:cNvSpPr/>
          <p:nvPr/>
        </p:nvSpPr>
        <p:spPr>
          <a:xfrm>
            <a:off x="762000" y="1524000"/>
            <a:ext cx="10668000" cy="304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1400" dirty="0">
                <a:solidFill>
                  <a:srgbClr val="4A5568"/>
                </a:solidFill>
                <a:latin typeface="Source Sans Pro"/>
              </a:rPr>
              <a:t>Specialist analytical modules, all delivered within the same interactive report</a:t>
            </a:r>
          </a:p>
        </p:txBody>
      </p:sp>
      <p:sp>
        <p:nvSpPr>
          <p:cNvPr id="200" name="M0"/>
          <p:cNvSpPr/>
          <p:nvPr/>
        </p:nvSpPr>
        <p:spPr>
          <a:xfrm>
            <a:off x="7620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MT0"/>
          <p:cNvSpPr/>
          <p:nvPr/>
        </p:nvSpPr>
        <p:spPr>
          <a:xfrm>
            <a:off x="8890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Tabs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Automated crosstabs with significance testing</a:t>
            </a:r>
          </a:p>
        </p:txBody>
      </p:sp>
      <p:sp>
        <p:nvSpPr>
          <p:cNvPr id="202" name="M1"/>
          <p:cNvSpPr/>
          <p:nvPr/>
        </p:nvSpPr>
        <p:spPr>
          <a:xfrm>
            <a:off x="34671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MT1"/>
          <p:cNvSpPr/>
          <p:nvPr/>
        </p:nvSpPr>
        <p:spPr>
          <a:xfrm>
            <a:off x="35941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Tracker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Multi-wave trend analysis across waves</a:t>
            </a:r>
          </a:p>
        </p:txBody>
      </p:sp>
      <p:sp>
        <p:nvSpPr>
          <p:cNvPr id="204" name="M2"/>
          <p:cNvSpPr/>
          <p:nvPr/>
        </p:nvSpPr>
        <p:spPr>
          <a:xfrm>
            <a:off x="61722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5" name="MT2"/>
          <p:cNvSpPr/>
          <p:nvPr/>
        </p:nvSpPr>
        <p:spPr>
          <a:xfrm>
            <a:off x="62992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Key Driver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Strongest factors driving business outcomes</a:t>
            </a:r>
          </a:p>
        </p:txBody>
      </p:sp>
      <p:sp>
        <p:nvSpPr>
          <p:cNvPr id="206" name="M3"/>
          <p:cNvSpPr/>
          <p:nvPr/>
        </p:nvSpPr>
        <p:spPr>
          <a:xfrm>
            <a:off x="8877300" y="1930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7" name="MT3"/>
          <p:cNvSpPr/>
          <p:nvPr/>
        </p:nvSpPr>
        <p:spPr>
          <a:xfrm>
            <a:off x="9004300" y="2032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Key Driver (Cat.)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Regression for categorical outcomes</a:t>
            </a:r>
          </a:p>
        </p:txBody>
      </p:sp>
      <p:sp>
        <p:nvSpPr>
          <p:cNvPr id="208" name="M4"/>
          <p:cNvSpPr/>
          <p:nvPr/>
        </p:nvSpPr>
        <p:spPr>
          <a:xfrm>
            <a:off x="7620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MT4"/>
          <p:cNvSpPr/>
          <p:nvPr/>
        </p:nvSpPr>
        <p:spPr>
          <a:xfrm>
            <a:off x="8890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Segment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Statistical clustering for customer groups</a:t>
            </a:r>
          </a:p>
        </p:txBody>
      </p:sp>
      <p:sp>
        <p:nvSpPr>
          <p:cNvPr id="210" name="M5"/>
          <p:cNvSpPr/>
          <p:nvPr/>
        </p:nvSpPr>
        <p:spPr>
          <a:xfrm>
            <a:off x="34671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1" name="MT5"/>
          <p:cNvSpPr/>
          <p:nvPr/>
        </p:nvSpPr>
        <p:spPr>
          <a:xfrm>
            <a:off x="35941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CC9900"/>
                </a:solidFill>
                <a:latin typeface="Raleway"/>
              </a:rPr>
              <a:t>Conjoint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Choice modelling with market simulator</a:t>
            </a:r>
          </a:p>
        </p:txBody>
      </p:sp>
      <p:sp>
        <p:nvSpPr>
          <p:cNvPr id="212" name="M6"/>
          <p:cNvSpPr/>
          <p:nvPr/>
        </p:nvSpPr>
        <p:spPr>
          <a:xfrm>
            <a:off x="61722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3" name="MT6"/>
          <p:cNvSpPr/>
          <p:nvPr/>
        </p:nvSpPr>
        <p:spPr>
          <a:xfrm>
            <a:off x="62992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4A90D9"/>
                </a:solidFill>
                <a:latin typeface="Raleway"/>
              </a:rPr>
              <a:t>MaxDiff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Precise preference rankings</a:t>
            </a:r>
          </a:p>
        </p:txBody>
      </p:sp>
      <p:sp>
        <p:nvSpPr>
          <p:cNvPr id="214" name="M7"/>
          <p:cNvSpPr/>
          <p:nvPr/>
        </p:nvSpPr>
        <p:spPr>
          <a:xfrm>
            <a:off x="8877300" y="3073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5" name="MT7"/>
          <p:cNvSpPr/>
          <p:nvPr/>
        </p:nvSpPr>
        <p:spPr>
          <a:xfrm>
            <a:off x="9004300" y="3175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7C5CFC"/>
                </a:solidFill>
                <a:latin typeface="Raleway"/>
              </a:rPr>
              <a:t>Pricing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Van Westendorp, Gabor-Granger and monadic  models</a:t>
            </a:r>
          </a:p>
        </p:txBody>
      </p:sp>
      <p:sp>
        <p:nvSpPr>
          <p:cNvPr id="216" name="M8"/>
          <p:cNvSpPr/>
          <p:nvPr/>
        </p:nvSpPr>
        <p:spPr>
          <a:xfrm>
            <a:off x="7620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7" name="MT8"/>
          <p:cNvSpPr/>
          <p:nvPr/>
        </p:nvSpPr>
        <p:spPr>
          <a:xfrm>
            <a:off x="8890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FFB020"/>
                </a:solidFill>
                <a:latin typeface="Raleway"/>
              </a:rPr>
              <a:t>Weighting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Target population representation</a:t>
            </a:r>
          </a:p>
        </p:txBody>
      </p:sp>
      <p:sp>
        <p:nvSpPr>
          <p:cNvPr id="218" name="M9"/>
          <p:cNvSpPr/>
          <p:nvPr/>
        </p:nvSpPr>
        <p:spPr>
          <a:xfrm>
            <a:off x="3467100" y="4216400"/>
            <a:ext cx="2552700" cy="1016000"/>
          </a:xfrm>
          <a:prstGeom prst="roundRect">
            <a:avLst>
              <a:gd name="adj" fmla="val 8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219" name="MT9"/>
          <p:cNvSpPr/>
          <p:nvPr/>
        </p:nvSpPr>
        <p:spPr>
          <a:xfrm>
            <a:off x="3594100" y="4318000"/>
            <a:ext cx="2298700" cy="8128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l">
              <a:spcAft>
                <a:spcPts val="100"/>
              </a:spcAft>
            </a:pPr>
            <a:r>
              <a:rPr lang="en-GB" sz="1400" b="1" dirty="0">
                <a:solidFill>
                  <a:srgbClr val="E53E3E"/>
                </a:solidFill>
                <a:latin typeface="Raleway"/>
              </a:rPr>
              <a:t>Confidence</a:t>
            </a:r>
          </a:p>
          <a:p>
            <a:pPr algn="l"/>
            <a:r>
              <a:rPr lang="en-GB" sz="1100" dirty="0">
                <a:solidFill>
                  <a:srgbClr val="4A5568"/>
                </a:solidFill>
                <a:latin typeface="Source Sans Pro"/>
              </a:rPr>
              <a:t>Rigorous validity testing</a:t>
            </a:r>
          </a:p>
        </p:txBody>
      </p:sp>
      <p:sp>
        <p:nvSpPr>
          <p:cNvPr id="240" name="Call"/>
          <p:cNvSpPr/>
          <p:nvPr/>
        </p:nvSpPr>
        <p:spPr>
          <a:xfrm>
            <a:off x="762000" y="5207000"/>
            <a:ext cx="10668000" cy="635000"/>
          </a:xfrm>
          <a:prstGeom prst="roundRect">
            <a:avLst>
              <a:gd name="adj" fmla="val 12000"/>
            </a:avLst>
          </a:prstGeom>
          <a:solidFill>
            <a:srgbClr val="323367"/>
          </a:solidFill>
          <a:ln>
            <a:noFill/>
          </a:ln>
        </p:spPr>
        <p:txBody>
          <a:bodyPr wrap="square" lIns="182880" tIns="22860" rIns="182880" bIns="2286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Multiple modules can be combined into a single report</a:t>
            </a:r>
          </a:p>
        </p:txBody>
      </p:sp>
      <p:sp>
        <p:nvSpPr>
          <p:cNvPr id="2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97845244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6B1E78-558A-578F-B8A1-E16906D496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WORKING TOGETHER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What We Can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Help With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11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7" name="P0"/>
          <p:cNvSpPr/>
          <p:nvPr/>
        </p:nvSpPr>
        <p:spPr>
          <a:xfrm>
            <a:off x="762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08" name="PTx0"/>
          <p:cNvSpPr/>
          <p:nvPr/>
        </p:nvSpPr>
        <p:spPr>
          <a:xfrm>
            <a:off x="952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Questionnaire Design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Structuring questions to produce clean, analysable data</a:t>
            </a:r>
          </a:p>
        </p:txBody>
      </p:sp>
      <p:sp>
        <p:nvSpPr>
          <p:cNvPr id="109" name="P1"/>
          <p:cNvSpPr/>
          <p:nvPr/>
        </p:nvSpPr>
        <p:spPr>
          <a:xfrm>
            <a:off x="4445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PTx1"/>
          <p:cNvSpPr/>
          <p:nvPr/>
        </p:nvSpPr>
        <p:spPr>
          <a:xfrm>
            <a:off x="4635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4A90D9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Analytical Planning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Choosing the right methods and structuring the approach</a:t>
            </a:r>
          </a:p>
        </p:txBody>
      </p:sp>
      <p:sp>
        <p:nvSpPr>
          <p:cNvPr id="111" name="P2"/>
          <p:cNvSpPr/>
          <p:nvPr/>
        </p:nvSpPr>
        <p:spPr>
          <a:xfrm>
            <a:off x="8128000" y="1905000"/>
            <a:ext cx="34544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2" name="PTx2"/>
          <p:cNvSpPr/>
          <p:nvPr/>
        </p:nvSpPr>
        <p:spPr>
          <a:xfrm>
            <a:off x="8318500" y="2057400"/>
            <a:ext cx="30734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7C5CFC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Data Preparation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Cleaning, coding, and preparing data for rigorous analysis</a:t>
            </a:r>
          </a:p>
        </p:txBody>
      </p:sp>
      <p:sp>
        <p:nvSpPr>
          <p:cNvPr id="113" name="P3"/>
          <p:cNvSpPr/>
          <p:nvPr/>
        </p:nvSpPr>
        <p:spPr>
          <a:xfrm>
            <a:off x="762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4" name="PTx3"/>
          <p:cNvSpPr/>
          <p:nvPr/>
        </p:nvSpPr>
        <p:spPr>
          <a:xfrm>
            <a:off x="952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E56B33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Interpretation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Making sense of results and building a clear narrative</a:t>
            </a:r>
          </a:p>
        </p:txBody>
      </p:sp>
      <p:sp>
        <p:nvSpPr>
          <p:cNvPr id="115" name="P4"/>
          <p:cNvSpPr/>
          <p:nvPr/>
        </p:nvSpPr>
        <p:spPr>
          <a:xfrm>
            <a:off x="6350000" y="3619500"/>
            <a:ext cx="5334000" cy="1524000"/>
          </a:xfrm>
          <a:prstGeom prst="roundRect">
            <a:avLst>
              <a:gd name="adj" fmla="val 3000"/>
            </a:avLst>
          </a:prstGeom>
          <a:solidFill>
            <a:srgbClr val="F5F7FA"/>
          </a:solidFill>
          <a:ln w="6350">
            <a:solidFill>
              <a:srgbClr val="E2E8F0"/>
            </a:solidFill>
          </a:ln>
        </p:spPr>
        <p:txBody>
          <a:bodyPr/>
          <a:lstStyle/>
          <a:p>
            <a:endParaRPr lang="en-GB" dirty="0"/>
          </a:p>
        </p:txBody>
      </p:sp>
      <p:sp>
        <p:nvSpPr>
          <p:cNvPr id="116" name="PTx4"/>
          <p:cNvSpPr/>
          <p:nvPr/>
        </p:nvSpPr>
        <p:spPr>
          <a:xfrm>
            <a:off x="6540500" y="3771900"/>
            <a:ext cx="4953000" cy="1219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spcAft>
                <a:spcPts val="200"/>
              </a:spcAft>
            </a:pPr>
            <a:r>
              <a:rPr lang="en-GB" sz="1400" dirty="0">
                <a:solidFill>
                  <a:srgbClr val="CC9900"/>
                </a:solidFill>
                <a:latin typeface="Raleway"/>
              </a:rPr>
              <a:t>━━━</a:t>
            </a:r>
          </a:p>
          <a:p>
            <a:pPr algn="ctr">
              <a:spcAft>
                <a:spcPts val="300"/>
              </a:spcAft>
            </a:pPr>
            <a:r>
              <a:rPr lang="en-GB" sz="1600" b="1" dirty="0">
                <a:solidFill>
                  <a:srgbClr val="1A2744"/>
                </a:solidFill>
                <a:latin typeface="Raleway"/>
              </a:rPr>
              <a:t>Third-Party Data</a:t>
            </a:r>
          </a:p>
          <a:p>
            <a:pPr algn="ctr"/>
            <a:r>
              <a:rPr lang="en-GB" sz="1200" dirty="0">
                <a:solidFill>
                  <a:srgbClr val="4A5568"/>
                </a:solidFill>
                <a:latin typeface="Source Sans Pro"/>
              </a:rPr>
              <a:t>We can evaluate and prepare existing datasets for analysis, regardless of source</a:t>
            </a:r>
          </a:p>
        </p:txBody>
      </p:sp>
      <p:sp>
        <p:nvSpPr>
          <p:cNvPr id="117" name="Call"/>
          <p:cNvSpPr/>
          <p:nvPr/>
        </p:nvSpPr>
        <p:spPr>
          <a:xfrm>
            <a:off x="762000" y="5334000"/>
            <a:ext cx="10668000" cy="698500"/>
          </a:xfrm>
          <a:prstGeom prst="roundRect">
            <a:avLst>
              <a:gd name="adj" fmla="val 8000"/>
            </a:avLst>
          </a:prstGeom>
          <a:solidFill>
            <a:srgbClr val="323367"/>
          </a:solidFill>
          <a:ln>
            <a:noFill/>
          </a:ln>
        </p:spPr>
        <p:txBody>
          <a:bodyPr wrap="square" lIns="72000" tIns="36000" rIns="72000" bIns="36000" anchor="ctr"/>
          <a:lstStyle/>
          <a:p>
            <a:pPr algn="ctr"/>
            <a:r>
              <a:rPr lang="en-GB" sz="1400" i="1" dirty="0">
                <a:solidFill>
                  <a:srgbClr val="CC9900"/>
                </a:solidFill>
                <a:latin typeface="Source Sans Pro"/>
              </a:rPr>
              <a:t>For most projects we also prepare an initial set of pinned views, giving your team a ready-made starting point</a:t>
            </a:r>
          </a:p>
        </p:txBody>
      </p:sp>
    </p:spTree>
    <p:extLst>
      <p:ext uri="{BB962C8B-B14F-4D97-AF65-F5344CB8AC3E}">
        <p14:creationId xmlns:p14="http://schemas.microsoft.com/office/powerpoint/2010/main" val="18341878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BC1237-4AB7-8108-912E-440E1D0921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1" name="Hdr"/>
          <p:cNvSpPr/>
          <p:nvPr/>
        </p:nvSpPr>
        <p:spPr>
          <a:xfrm>
            <a:off x="0" y="0"/>
            <a:ext cx="12192000" cy="1524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2" name="TA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03" name="Tag"/>
          <p:cNvSpPr/>
          <p:nvPr/>
        </p:nvSpPr>
        <p:spPr>
          <a:xfrm>
            <a:off x="762000" y="228600"/>
            <a:ext cx="3556000" cy="279400"/>
          </a:xfrm>
          <a:prstGeom prst="roundRect">
            <a:avLst>
              <a:gd name="adj" fmla="val 50000"/>
            </a:avLst>
          </a:prstGeom>
          <a:solidFill>
            <a:srgbClr val="CC9900">
              <a:alpha val="20000"/>
            </a:srgbClr>
          </a:solidFill>
          <a:ln>
            <a:solidFill>
              <a:srgbClr val="CC9900">
                <a:alpha val="40000"/>
              </a:srgbClr>
            </a:solidFill>
          </a:ln>
        </p:spPr>
        <p:txBody>
          <a:bodyPr wrap="none" lIns="91440" tIns="0" rIns="91440" bIns="0" anchor="ctr"/>
          <a:lstStyle/>
          <a:p>
            <a:pPr algn="ctr"/>
            <a:r>
              <a:rPr lang="en-GB" sz="900" b="1" dirty="0">
                <a:solidFill>
                  <a:srgbClr val="FFFFFF"/>
                </a:solidFill>
                <a:latin typeface="Source Sans Pro"/>
              </a:rPr>
              <a:t>NEXT STEPS</a:t>
            </a:r>
          </a:p>
        </p:txBody>
      </p:sp>
      <p:sp>
        <p:nvSpPr>
          <p:cNvPr id="104" name="Title"/>
          <p:cNvSpPr/>
          <p:nvPr/>
        </p:nvSpPr>
        <p:spPr>
          <a:xfrm>
            <a:off x="762000" y="609600"/>
            <a:ext cx="889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l"/>
            <a:r>
              <a:rPr lang="en-GB" sz="2800" b="1" dirty="0">
                <a:solidFill>
                  <a:srgbClr val="FFFFFF"/>
                </a:solidFill>
                <a:latin typeface="Raleway"/>
              </a:rPr>
              <a:t>See It </a:t>
            </a:r>
            <a:r>
              <a:rPr lang="en-GB" sz="2800" b="1" dirty="0">
                <a:solidFill>
                  <a:srgbClr val="CC9900"/>
                </a:solidFill>
                <a:latin typeface="Raleway"/>
              </a:rPr>
              <a:t>In Action</a:t>
            </a:r>
          </a:p>
        </p:txBody>
      </p:sp>
      <p:sp>
        <p:nvSpPr>
          <p:cNvPr id="105" name="Num"/>
          <p:cNvSpPr/>
          <p:nvPr/>
        </p:nvSpPr>
        <p:spPr>
          <a:xfrm>
            <a:off x="10414000" y="127000"/>
            <a:ext cx="1651000" cy="1270000"/>
          </a:xfrm>
          <a:prstGeom prst="rect">
            <a:avLst/>
          </a:prstGeom>
          <a:noFill/>
          <a:ln>
            <a:noFill/>
          </a:ln>
        </p:spPr>
        <p:txBody>
          <a:bodyPr lIns="0" tIns="0" rIns="0" bIns="0" anchor="ctr"/>
          <a:lstStyle/>
          <a:p>
            <a:pPr algn="r"/>
            <a:r>
              <a:rPr lang="en-GB" sz="7200" dirty="0">
                <a:solidFill>
                  <a:srgbClr val="FFFFFF">
                    <a:alpha val="8000"/>
                  </a:srgbClr>
                </a:solidFill>
                <a:latin typeface="Raleway"/>
              </a:rPr>
              <a:t>12</a:t>
            </a:r>
          </a:p>
        </p:txBody>
      </p:sp>
      <p:sp>
        <p:nvSpPr>
          <p:cNvPr id="106" name="MA"/>
          <p:cNvSpPr/>
          <p:nvPr/>
        </p:nvSpPr>
        <p:spPr>
          <a:xfrm>
            <a:off x="762000" y="1689100"/>
            <a:ext cx="1016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110" name="CTA"/>
          <p:cNvSpPr/>
          <p:nvPr/>
        </p:nvSpPr>
        <p:spPr>
          <a:xfrm>
            <a:off x="1524000" y="2286000"/>
            <a:ext cx="9144000" cy="2540000"/>
          </a:xfrm>
          <a:prstGeom prst="roundRect">
            <a:avLst>
              <a:gd name="adj" fmla="val 6000"/>
            </a:avLst>
          </a:prstGeom>
          <a:solidFill>
            <a:srgbClr val="F5F7FA"/>
          </a:solidFill>
          <a:ln w="12700">
            <a:solidFill>
              <a:srgbClr val="CC9900"/>
            </a:solidFill>
          </a:ln>
        </p:spPr>
        <p:txBody>
          <a:bodyPr wrap="square" lIns="228600" tIns="137160" rIns="228600" bIns="137160" anchor="ctr"/>
          <a:lstStyle/>
          <a:p>
            <a:pPr algn="ctr">
              <a:spcAft>
                <a:spcPts val="800"/>
              </a:spcAft>
            </a:pPr>
            <a:r>
              <a:rPr lang="en-GB" sz="2400" b="1" dirty="0">
                <a:solidFill>
                  <a:srgbClr val="1A2744"/>
                </a:solidFill>
                <a:latin typeface="Raleway"/>
              </a:rPr>
              <a:t>The most effective way to understand Turas is a live demonstration.</a:t>
            </a:r>
          </a:p>
          <a:p>
            <a:pPr algn="ctr"/>
            <a:r>
              <a:rPr lang="en-GB" sz="1600" dirty="0">
                <a:solidFill>
                  <a:srgbClr val="4A5568"/>
                </a:solidFill>
                <a:latin typeface="Source Sans Pro"/>
              </a:rPr>
              <a:t>We can walk through a demo dataset and show how survey data becomes a working analytical resource — from raw data to interactive report.</a:t>
            </a:r>
          </a:p>
        </p:txBody>
      </p:sp>
      <p:sp>
        <p:nvSpPr>
          <p:cNvPr id="120" name="Btn"/>
          <p:cNvSpPr/>
          <p:nvPr/>
        </p:nvSpPr>
        <p:spPr>
          <a:xfrm>
            <a:off x="4318000" y="5270500"/>
            <a:ext cx="3556000" cy="635000"/>
          </a:xfrm>
          <a:prstGeom prst="roundRect">
            <a:avLst>
              <a:gd name="adj" fmla="val 50000"/>
            </a:avLst>
          </a:prstGeom>
          <a:solidFill>
            <a:srgbClr val="CC9900"/>
          </a:solidFill>
          <a:ln>
            <a:noFill/>
          </a:ln>
        </p:spPr>
        <p:txBody>
          <a:bodyPr wrap="square" lIns="91440" tIns="0" rIns="91440" bIns="0" anchor="ctr"/>
          <a:lstStyle/>
          <a:p>
            <a:pPr algn="ctr"/>
            <a:r>
              <a:rPr lang="en-GB" sz="1800" b="1" dirty="0">
                <a:solidFill>
                  <a:srgbClr val="FFFFFF"/>
                </a:solidFill>
                <a:latin typeface="Raleway"/>
              </a:rPr>
              <a:t>Let's look at a live report</a:t>
            </a:r>
          </a:p>
        </p:txBody>
      </p:sp>
      <p:sp>
        <p:nvSpPr>
          <p:cNvPr id="150" name="BA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57243226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BG"/>
          <p:cNvSpPr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323367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1" name="TopAcc"/>
          <p:cNvSpPr/>
          <p:nvPr/>
        </p:nvSpPr>
        <p:spPr>
          <a:xfrm>
            <a:off x="0" y="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2" name="Divider"/>
          <p:cNvSpPr/>
          <p:nvPr/>
        </p:nvSpPr>
        <p:spPr>
          <a:xfrm>
            <a:off x="4826000" y="2032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3" name="BrandName"/>
          <p:cNvSpPr/>
          <p:nvPr/>
        </p:nvSpPr>
        <p:spPr>
          <a:xfrm>
            <a:off x="1016000" y="2222500"/>
            <a:ext cx="10160000" cy="889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4800" b="1" dirty="0">
                <a:solidFill>
                  <a:srgbClr val="FFFFFF"/>
                </a:solidFill>
                <a:latin typeface="Raleway"/>
              </a:rPr>
              <a:t>Turas</a:t>
            </a:r>
          </a:p>
        </p:txBody>
      </p:sp>
      <p:sp>
        <p:nvSpPr>
          <p:cNvPr id="204" name="Tagline"/>
          <p:cNvSpPr/>
          <p:nvPr/>
        </p:nvSpPr>
        <p:spPr>
          <a:xfrm>
            <a:off x="1016000" y="3200400"/>
            <a:ext cx="10160000" cy="4572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/>
            <a:r>
              <a:rPr lang="en-GB" sz="1800" i="1" dirty="0">
                <a:solidFill>
                  <a:srgbClr val="A0AEC0"/>
                </a:solidFill>
                <a:latin typeface="Source Sans Pro"/>
              </a:rPr>
              <a:t>Complete analytics. No strings attached</a:t>
            </a:r>
          </a:p>
        </p:txBody>
      </p:sp>
      <p:sp>
        <p:nvSpPr>
          <p:cNvPr id="205" name="Divider2"/>
          <p:cNvSpPr/>
          <p:nvPr/>
        </p:nvSpPr>
        <p:spPr>
          <a:xfrm>
            <a:off x="4826000" y="3810000"/>
            <a:ext cx="2540000" cy="381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6" name="Contact"/>
          <p:cNvSpPr/>
          <p:nvPr/>
        </p:nvSpPr>
        <p:spPr>
          <a:xfrm>
            <a:off x="1016000" y="4064000"/>
            <a:ext cx="10160000" cy="762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t"/>
          <a:lstStyle/>
          <a:p>
            <a:pPr algn="ctr">
              <a:lnSpc>
                <a:spcPts val="2800"/>
              </a:lnSpc>
            </a:pPr>
            <a:r>
              <a:rPr lang="en-GB" sz="1400" dirty="0">
                <a:solidFill>
                  <a:srgbClr val="CC9900"/>
                </a:solidFill>
                <a:latin typeface="Source Sans Pro"/>
              </a:rPr>
              <a:t>duncan@researchlamppost.co.za</a:t>
            </a:r>
            <a:endParaRPr lang="en-GB" sz="1400" dirty="0">
              <a:solidFill>
                <a:srgbClr val="A0AEC0"/>
              </a:solidFill>
              <a:latin typeface="Source Sans Pro"/>
            </a:endParaRPr>
          </a:p>
        </p:txBody>
      </p:sp>
      <p:sp>
        <p:nvSpPr>
          <p:cNvPr id="207" name="BrandMark"/>
          <p:cNvSpPr/>
          <p:nvPr/>
        </p:nvSpPr>
        <p:spPr>
          <a:xfrm>
            <a:off x="4191000" y="5461000"/>
            <a:ext cx="3810000" cy="38100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anchor="ctr"/>
          <a:lstStyle/>
          <a:p>
            <a:pPr algn="ctr"/>
            <a:r>
              <a:rPr lang="en-GB" sz="1000" dirty="0">
                <a:solidFill>
                  <a:srgbClr val="6B7280"/>
                </a:solidFill>
                <a:latin typeface="Source Sans Pro"/>
              </a:rPr>
              <a:t>The Research LampPost</a:t>
            </a:r>
          </a:p>
        </p:txBody>
      </p:sp>
      <p:sp>
        <p:nvSpPr>
          <p:cNvPr id="208" name="BotAcc"/>
          <p:cNvSpPr/>
          <p:nvPr/>
        </p:nvSpPr>
        <p:spPr>
          <a:xfrm>
            <a:off x="0" y="6807200"/>
            <a:ext cx="12192000" cy="50800"/>
          </a:xfrm>
          <a:prstGeom prst="rect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209" name="Diamond"/>
          <p:cNvSpPr/>
          <p:nvPr/>
        </p:nvSpPr>
        <p:spPr>
          <a:xfrm>
            <a:off x="5943600" y="1651000"/>
            <a:ext cx="304800" cy="304800"/>
          </a:xfrm>
          <a:prstGeom prst="diamond">
            <a:avLst/>
          </a:prstGeom>
          <a:solidFill>
            <a:srgbClr val="CC9900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141285793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65074CAE-08C3-3B4F-8C27-CA6529B72A4E}">
  <we:reference id="wa200010001" version="1.0.0.0" store="en-US" storeType="OMEX"/>
  <we:alternateReferences>
    <we:reference id="wa200010001" version="1.0.0.0" store="en-US" storeType="OMEX"/>
  </we:alternateReferences>
  <we:properties>
    <we:property name="Office.AutoShowTaskpaneWithDocument" value="true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21618</TotalTime>
  <Words>1150</Words>
  <Application>Microsoft Macintosh PowerPoint</Application>
  <PresentationFormat>Widescreen</PresentationFormat>
  <Paragraphs>187</Paragraphs>
  <Slides>14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21" baseType="lpstr">
      <vt:lpstr>Aptos</vt:lpstr>
      <vt:lpstr>Aptos Display</vt:lpstr>
      <vt:lpstr>Arial</vt:lpstr>
      <vt:lpstr>Calibri</vt:lpstr>
      <vt:lpstr>Raleway</vt:lpstr>
      <vt:lpstr>Source Sans Pro</vt:lpstr>
      <vt:lpstr>Office Theme</vt:lpstr>
      <vt:lpstr>Turas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Duncan Brett</dc:creator>
  <cp:lastModifiedBy>Duncan Brett</cp:lastModifiedBy>
  <cp:revision>34</cp:revision>
  <dcterms:created xsi:type="dcterms:W3CDTF">2026-02-19T04:31:59Z</dcterms:created>
  <dcterms:modified xsi:type="dcterms:W3CDTF">2026-03-17T12:05:41Z</dcterms:modified>
</cp:coreProperties>
</file>