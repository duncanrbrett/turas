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58" r:id="rId2"/>
    <p:sldId id="332" r:id="rId3"/>
    <p:sldId id="368" r:id="rId4"/>
    <p:sldId id="369" r:id="rId5"/>
    <p:sldId id="370" r:id="rId6"/>
    <p:sldId id="371" r:id="rId7"/>
    <p:sldId id="372" r:id="rId8"/>
    <p:sldId id="395" r:id="rId9"/>
    <p:sldId id="394" r:id="rId10"/>
    <p:sldId id="396" r:id="rId11"/>
    <p:sldId id="390" r:id="rId12"/>
    <p:sldId id="391" r:id="rId13"/>
    <p:sldId id="392" r:id="rId14"/>
    <p:sldId id="37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36"/>
    <p:restoredTop sz="94692"/>
  </p:normalViewPr>
  <p:slideViewPr>
    <p:cSldViewPr snapToGrid="0">
      <p:cViewPr varScale="1">
        <p:scale>
          <a:sx n="152" d="100"/>
          <a:sy n="152" d="100"/>
        </p:scale>
        <p:origin x="92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C33E-3A0A-DA45-384C-316F532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29A5A-583C-F25C-FCE4-6B98586C9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3C182-A45A-8E10-DB58-859AA09EC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35982-B9C8-E29B-A620-CBC37541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236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Turas Changes That</a:t>
            </a:r>
          </a:p>
          <a:p>
            <a:pPr algn="l">
              <a:spcAft>
                <a:spcPts val="3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-5956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THE CASE FOR TURAS 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20136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Built on validated, open-source statistical methods — not proprietary algorithms. 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Got old data gathering dust? We can re-run it through Turas and discover insights you never got to.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World-class analytics on demand. No strings attached</a:t>
            </a:r>
          </a:p>
        </p:txBody>
      </p:sp>
    </p:spTree>
    <p:extLst>
      <p:ext uri="{BB962C8B-B14F-4D97-AF65-F5344CB8AC3E}">
        <p14:creationId xmlns:p14="http://schemas.microsoft.com/office/powerpoint/2010/main" val="158191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STATISTICS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79133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257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WHO'S BEHIND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LampPost is an organisational member of the Southern African Marketing Research Association. </a:t>
            </a:r>
          </a:p>
          <a:p>
            <a:pPr algn="l"/>
            <a:endParaRPr lang="en-GB" sz="1400" dirty="0">
              <a:solidFill>
                <a:srgbClr val="4A5568"/>
              </a:solidFill>
              <a:latin typeface="Source Sans Pro"/>
            </a:endParaRP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Duncan Brett developed Turas and is a SAMRA-Accredited Researcher.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09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DATA SECURITY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Completely Handled In-House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data is analysed entirely on our own hardware — never processed by a third-party analytical platform or shared with an external service.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24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SPEED &amp; RELIABILITY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10668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10160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</a:t>
            </a:r>
          </a:p>
        </p:txBody>
      </p:sp>
    </p:spTree>
    <p:extLst>
      <p:ext uri="{BB962C8B-B14F-4D97-AF65-F5344CB8AC3E}">
        <p14:creationId xmlns:p14="http://schemas.microsoft.com/office/powerpoint/2010/main" val="744421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2192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 txBox="1"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>
            <a:defPPr>
              <a:defRPr lang="en-US"/>
            </a:defPPr>
            <a:lvl1pPr algn="ctr">
              <a:defRPr sz="900" b="1">
                <a:solidFill>
                  <a:srgbClr val="FFFFFF"/>
                </a:solidFill>
                <a:latin typeface="Source Sans Pro"/>
              </a:defRPr>
            </a:lvl1pPr>
          </a:lstStyle>
          <a:p>
            <a:r>
              <a:rPr lang="en-GB" dirty="0"/>
              <a:t> THE DIFFERENCE</a:t>
            </a:r>
          </a:p>
        </p:txBody>
      </p:sp>
      <p:sp>
        <p:nvSpPr>
          <p:cNvPr id="104" name="Title"/>
          <p:cNvSpPr txBox="1"/>
          <p:nvPr/>
        </p:nvSpPr>
        <p:spPr>
          <a:xfrm>
            <a:off x="762000" y="533400"/>
            <a:ext cx="9525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for yourself</a:t>
            </a:r>
            <a:endParaRPr lang="en-GB" sz="2800" b="1" dirty="0">
              <a:solidFill>
                <a:srgbClr val="CC9900"/>
              </a:solidFill>
              <a:latin typeface="Raleway"/>
            </a:endParaRPr>
          </a:p>
        </p:txBody>
      </p:sp>
      <p:sp>
        <p:nvSpPr>
          <p:cNvPr id="105" name="Num"/>
          <p:cNvSpPr txBox="1"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200" name="MA"/>
          <p:cNvSpPr/>
          <p:nvPr/>
        </p:nvSpPr>
        <p:spPr>
          <a:xfrm>
            <a:off x="762000" y="16002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0" name="LeftPanel"/>
          <p:cNvSpPr/>
          <p:nvPr/>
        </p:nvSpPr>
        <p:spPr>
          <a:xfrm>
            <a:off x="6096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1A204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FromLabel"/>
          <p:cNvSpPr txBox="1"/>
          <p:nvPr/>
        </p:nvSpPr>
        <p:spPr>
          <a:xfrm>
            <a:off x="7620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C0C0D0"/>
                </a:solidFill>
                <a:latin typeface="Raleway"/>
              </a:rPr>
              <a:t>From this...</a:t>
            </a:r>
          </a:p>
        </p:txBody>
      </p:sp>
      <p:sp>
        <p:nvSpPr>
          <p:cNvPr id="220" name="RightPanel"/>
          <p:cNvSpPr/>
          <p:nvPr/>
        </p:nvSpPr>
        <p:spPr>
          <a:xfrm>
            <a:off x="66294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9050">
            <a:solidFill>
              <a:srgbClr val="CC990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21" name="ToLabel"/>
          <p:cNvSpPr txBox="1"/>
          <p:nvPr/>
        </p:nvSpPr>
        <p:spPr>
          <a:xfrm>
            <a:off x="67818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323367"/>
                </a:solidFill>
                <a:latin typeface="Raleway"/>
              </a:rPr>
              <a:t>To this...</a:t>
            </a:r>
          </a:p>
        </p:txBody>
      </p:sp>
      <p:sp>
        <p:nvSpPr>
          <p:cNvPr id="230" name="ArrowCircle"/>
          <p:cNvSpPr/>
          <p:nvPr/>
        </p:nvSpPr>
        <p:spPr>
          <a:xfrm>
            <a:off x="5740400" y="3543300"/>
            <a:ext cx="711200" cy="711200"/>
          </a:xfrm>
          <a:prstGeom prst="ellipse">
            <a:avLst/>
          </a:prstGeom>
          <a:solidFill>
            <a:srgbClr val="CC9900"/>
          </a:solidFill>
          <a:ln>
            <a:noFill/>
          </a:ln>
          <a:effectLst>
            <a:outerShdw blurRad="152400" dist="38100" dir="5400000" algn="ctr" rotWithShape="0">
              <a:srgbClr val="000000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GB" sz="3200" b="1" dirty="0">
                <a:solidFill>
                  <a:srgbClr val="FFFFFF"/>
                </a:solidFill>
                <a:latin typeface="Raleway"/>
              </a:rPr>
              <a:t>➜</a:t>
            </a:r>
          </a:p>
        </p:txBody>
      </p:sp>
      <p:sp>
        <p:nvSpPr>
          <p:cNvPr id="250" name="LeftBullets"/>
          <p:cNvSpPr txBox="1"/>
          <p:nvPr/>
        </p:nvSpPr>
        <p:spPr>
          <a:xfrm>
            <a:off x="838200" y="3602300"/>
            <a:ext cx="4495800" cy="16002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Static rows and columns that are hard to read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Insights disconnected from the data behind them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Filed away, rarely revisited</a:t>
            </a:r>
          </a:p>
          <a:p>
            <a:pPr algn="l">
              <a:spcBef>
                <a:spcPts val="600"/>
              </a:spcBef>
            </a:pPr>
            <a:endParaRPr lang="en-GB" sz="1400" dirty="0">
              <a:solidFill>
                <a:srgbClr val="9090A8"/>
              </a:solidFill>
              <a:latin typeface="Source Sans Pro"/>
            </a:endParaRPr>
          </a:p>
        </p:txBody>
      </p:sp>
      <p:sp>
        <p:nvSpPr>
          <p:cNvPr id="251" name="RightBullets"/>
          <p:cNvSpPr txBox="1"/>
          <p:nvPr/>
        </p:nvSpPr>
        <p:spPr>
          <a:xfrm>
            <a:off x="6858000" y="4613069"/>
            <a:ext cx="4495800" cy="1104825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Interactive, filterable, explorable tables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Insights your team actually uses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Build &amp; present a narrative without leaving the report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F66BA3-4BB4-CC9E-7939-E039B3B5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887" y="2240117"/>
            <a:ext cx="4605098" cy="2311194"/>
          </a:xfrm>
          <a:prstGeom prst="roundRect">
            <a:avLst>
              <a:gd name="adj" fmla="val 3000"/>
            </a:avLst>
          </a:prstGeom>
        </p:spPr>
      </p:pic>
      <p:sp>
        <p:nvSpPr>
          <p:cNvPr id="150" name="BA"/>
          <p:cNvSpPr/>
          <p:nvPr/>
        </p:nvSpPr>
        <p:spPr>
          <a:xfrm>
            <a:off x="0" y="683035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40" name="Call"/>
          <p:cNvSpPr txBox="1"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  <p:pic>
        <p:nvPicPr>
          <p:cNvPr id="3" name="Picture 2" descr="A white calendar with numbers&#10;&#10;AI-generated content may be incorrect.">
            <a:extLst>
              <a:ext uri="{FF2B5EF4-FFF2-40B4-BE49-F238E27FC236}">
                <a16:creationId xmlns:a16="http://schemas.microsoft.com/office/drawing/2014/main" id="{63135029-E7DF-B1CD-6713-29D76A6D1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" y="2257044"/>
            <a:ext cx="4692460" cy="1286255"/>
          </a:xfrm>
          <a:prstGeom prst="roundRect">
            <a:avLst>
              <a:gd name="adj" fmla="val 3000"/>
            </a:avLst>
          </a:prstGeom>
        </p:spPr>
      </p:pic>
    </p:spTree>
    <p:extLst>
      <p:ext uri="{BB962C8B-B14F-4D97-AF65-F5344CB8AC3E}">
        <p14:creationId xmlns:p14="http://schemas.microsoft.com/office/powerpoint/2010/main" val="1060310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D4A2F-E248-0BDE-758A-B07DC927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9F76FDEA-46DC-A585-12FB-AD7BCEF8A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>
            <a:extLst>
              <a:ext uri="{FF2B5EF4-FFF2-40B4-BE49-F238E27FC236}">
                <a16:creationId xmlns:a16="http://schemas.microsoft.com/office/drawing/2014/main" id="{C7676748-5192-B5F9-E753-1CAA8C373B1E}"/>
              </a:ext>
            </a:extLst>
          </p:cNvPr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>
            <a:extLst>
              <a:ext uri="{FF2B5EF4-FFF2-40B4-BE49-F238E27FC236}">
                <a16:creationId xmlns:a16="http://schemas.microsoft.com/office/drawing/2014/main" id="{F8001D08-1FD3-C66C-9CD9-D031EA8F6F0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>
            <a:extLst>
              <a:ext uri="{FF2B5EF4-FFF2-40B4-BE49-F238E27FC236}">
                <a16:creationId xmlns:a16="http://schemas.microsoft.com/office/drawing/2014/main" id="{70662C89-0049-7FAD-ACF2-82A4D3C598F0}"/>
              </a:ext>
            </a:extLst>
          </p:cNvPr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DELIVERABLE</a:t>
            </a:r>
          </a:p>
        </p:txBody>
      </p:sp>
      <p:sp>
        <p:nvSpPr>
          <p:cNvPr id="105" name="Num">
            <a:extLst>
              <a:ext uri="{FF2B5EF4-FFF2-40B4-BE49-F238E27FC236}">
                <a16:creationId xmlns:a16="http://schemas.microsoft.com/office/drawing/2014/main" id="{34195BBC-9E94-9953-79D9-D3ED7511B827}"/>
              </a:ext>
            </a:extLst>
          </p:cNvPr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>
            <a:extLst>
              <a:ext uri="{FF2B5EF4-FFF2-40B4-BE49-F238E27FC236}">
                <a16:creationId xmlns:a16="http://schemas.microsoft.com/office/drawing/2014/main" id="{D0E48695-E0D9-462B-8011-4192F3D054B7}"/>
              </a:ext>
            </a:extLst>
          </p:cNvPr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>
            <a:extLst>
              <a:ext uri="{FF2B5EF4-FFF2-40B4-BE49-F238E27FC236}">
                <a16:creationId xmlns:a16="http://schemas.microsoft.com/office/drawing/2014/main" id="{FACF7B45-1157-C41F-17A6-1AC0B874F1B7}"/>
              </a:ext>
            </a:extLst>
          </p:cNvPr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>
            <a:extLst>
              <a:ext uri="{FF2B5EF4-FFF2-40B4-BE49-F238E27FC236}">
                <a16:creationId xmlns:a16="http://schemas.microsoft.com/office/drawing/2014/main" id="{78274422-6B65-4B8E-7BEE-AD963C364A5F}"/>
              </a:ext>
            </a:extLst>
          </p:cNvPr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>
            <a:extLst>
              <a:ext uri="{FF2B5EF4-FFF2-40B4-BE49-F238E27FC236}">
                <a16:creationId xmlns:a16="http://schemas.microsoft.com/office/drawing/2014/main" id="{CFA2ACDD-334A-5AC9-B793-ACCC9FA38F6B}"/>
              </a:ext>
            </a:extLst>
          </p:cNvPr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isn't a flat file you scroll through. It's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 And when you need to go deeper, specialist analytical modules sit inside the same report.</a:t>
            </a:r>
          </a:p>
        </p:txBody>
      </p:sp>
      <p:sp>
        <p:nvSpPr>
          <p:cNvPr id="107" name="StaticBG">
            <a:extLst>
              <a:ext uri="{FF2B5EF4-FFF2-40B4-BE49-F238E27FC236}">
                <a16:creationId xmlns:a16="http://schemas.microsoft.com/office/drawing/2014/main" id="{1EAE242F-AF14-926C-AAEC-50985404FC9B}"/>
              </a:ext>
            </a:extLst>
          </p:cNvPr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taticTxt">
            <a:extLst>
              <a:ext uri="{FF2B5EF4-FFF2-40B4-BE49-F238E27FC236}">
                <a16:creationId xmlns:a16="http://schemas.microsoft.com/office/drawing/2014/main" id="{884946EC-7A80-EF53-F5D3-71F005563459}"/>
              </a:ext>
            </a:extLst>
          </p:cNvPr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>
            <a:extLst>
              <a:ext uri="{FF2B5EF4-FFF2-40B4-BE49-F238E27FC236}">
                <a16:creationId xmlns:a16="http://schemas.microsoft.com/office/drawing/2014/main" id="{F34A673D-C3E0-0D09-F929-5FF10F971B64}"/>
              </a:ext>
            </a:extLst>
          </p:cNvPr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TurasTxt">
            <a:extLst>
              <a:ext uri="{FF2B5EF4-FFF2-40B4-BE49-F238E27FC236}">
                <a16:creationId xmlns:a16="http://schemas.microsoft.com/office/drawing/2014/main" id="{6F8F98AD-6235-6F9D-BDA5-6DB65B3CE9C5}"/>
              </a:ext>
            </a:extLst>
          </p:cNvPr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Interactive, filterable, explorable tables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Insights your team actually uses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Build and present a narrative without leaving the report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Deeper analysis? It's all in the same report.</a:t>
            </a:r>
          </a:p>
        </p:txBody>
      </p:sp>
      <p:sp>
        <p:nvSpPr>
          <p:cNvPr id="111" name="Fact0BG">
            <a:extLst>
              <a:ext uri="{FF2B5EF4-FFF2-40B4-BE49-F238E27FC236}">
                <a16:creationId xmlns:a16="http://schemas.microsoft.com/office/drawing/2014/main" id="{F9697CB6-BA82-7F55-700A-6F2BCB682BE7}"/>
              </a:ext>
            </a:extLst>
          </p:cNvPr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act0Acc">
            <a:extLst>
              <a:ext uri="{FF2B5EF4-FFF2-40B4-BE49-F238E27FC236}">
                <a16:creationId xmlns:a16="http://schemas.microsoft.com/office/drawing/2014/main" id="{5119832F-8681-133F-72B5-46F6DEFA186A}"/>
              </a:ext>
            </a:extLst>
          </p:cNvPr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Fact0Txt">
            <a:extLst>
              <a:ext uri="{FF2B5EF4-FFF2-40B4-BE49-F238E27FC236}">
                <a16:creationId xmlns:a16="http://schemas.microsoft.com/office/drawing/2014/main" id="{42AB8ECD-C171-5F83-03CB-799815ED2FD8}"/>
              </a:ext>
            </a:extLst>
          </p:cNvPr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file and go</a:t>
            </a:r>
          </a:p>
        </p:txBody>
      </p:sp>
      <p:sp>
        <p:nvSpPr>
          <p:cNvPr id="114" name="Fact1BG">
            <a:extLst>
              <a:ext uri="{FF2B5EF4-FFF2-40B4-BE49-F238E27FC236}">
                <a16:creationId xmlns:a16="http://schemas.microsoft.com/office/drawing/2014/main" id="{AB43CA6E-673F-388F-CA3F-59F127D0319C}"/>
              </a:ext>
            </a:extLst>
          </p:cNvPr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act1Acc">
            <a:extLst>
              <a:ext uri="{FF2B5EF4-FFF2-40B4-BE49-F238E27FC236}">
                <a16:creationId xmlns:a16="http://schemas.microsoft.com/office/drawing/2014/main" id="{2587AD77-0089-9930-ED9E-5A1C0FEE7934}"/>
              </a:ext>
            </a:extLst>
          </p:cNvPr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Fact1Txt">
            <a:extLst>
              <a:ext uri="{FF2B5EF4-FFF2-40B4-BE49-F238E27FC236}">
                <a16:creationId xmlns:a16="http://schemas.microsoft.com/office/drawing/2014/main" id="{4D43407A-5880-37AC-EE63-0775DAC556CB}"/>
              </a:ext>
            </a:extLst>
          </p:cNvPr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</a:t>
            </a:r>
          </a:p>
        </p:txBody>
      </p:sp>
      <p:sp>
        <p:nvSpPr>
          <p:cNvPr id="117" name="Fact2BG">
            <a:extLst>
              <a:ext uri="{FF2B5EF4-FFF2-40B4-BE49-F238E27FC236}">
                <a16:creationId xmlns:a16="http://schemas.microsoft.com/office/drawing/2014/main" id="{AE59F247-82C0-F42B-D2AB-D77F5E7FB6F4}"/>
              </a:ext>
            </a:extLst>
          </p:cNvPr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act2Acc">
            <a:extLst>
              <a:ext uri="{FF2B5EF4-FFF2-40B4-BE49-F238E27FC236}">
                <a16:creationId xmlns:a16="http://schemas.microsoft.com/office/drawing/2014/main" id="{D7A05CEF-0529-5895-0C78-9B07F915193B}"/>
              </a:ext>
            </a:extLst>
          </p:cNvPr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9" name="Fact2Txt">
            <a:extLst>
              <a:ext uri="{FF2B5EF4-FFF2-40B4-BE49-F238E27FC236}">
                <a16:creationId xmlns:a16="http://schemas.microsoft.com/office/drawing/2014/main" id="{FCA51353-6141-2B09-C656-793A698A5C85}"/>
              </a:ext>
            </a:extLst>
          </p:cNvPr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</a:t>
            </a:r>
          </a:p>
        </p:txBody>
      </p:sp>
      <p:sp>
        <p:nvSpPr>
          <p:cNvPr id="120" name="Call">
            <a:extLst>
              <a:ext uri="{FF2B5EF4-FFF2-40B4-BE49-F238E27FC236}">
                <a16:creationId xmlns:a16="http://schemas.microsoft.com/office/drawing/2014/main" id="{E430A6FA-B4BA-F0E0-38D3-85F4D266FEC4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Research your whole team can use</a:t>
            </a:r>
          </a:p>
        </p:txBody>
      </p:sp>
    </p:spTree>
    <p:extLst>
      <p:ext uri="{BB962C8B-B14F-4D97-AF65-F5344CB8AC3E}">
        <p14:creationId xmlns:p14="http://schemas.microsoft.com/office/powerpoint/2010/main" val="42242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8389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WORKFLOW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 and switch views. </a:t>
            </a:r>
          </a:p>
          <a:p>
            <a:pPr algn="ctr"/>
            <a:endParaRPr lang="en-GB" sz="1200" dirty="0">
              <a:solidFill>
                <a:srgbClr val="4A5568"/>
              </a:solidFill>
              <a:latin typeface="Source Sans Pro"/>
            </a:endParaRP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Plain-language callouts explain what you're seeing and what it means.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Save key charts, add commentary and arrange them into a clear narrative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story in-file, or export to PowerPoint or PDF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A703AAA-D800-5B10-4FB5-E6384DC4F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—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2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051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 SYSTEM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 with TURF and a simulator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Westendorp, Gabor-Granger with simulators and monadic 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354144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report.</a:t>
            </a:r>
          </a:p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Advanced modules include plain-language callouts that guide users through the statistics — so the outputs are understood, not just delivered.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52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WORKING TOGETHER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834187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NEXT STEPS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12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demo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Let's look at a live report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2432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7" name="BrandMark"/>
          <p:cNvSpPr/>
          <p:nvPr/>
        </p:nvSpPr>
        <p:spPr>
          <a:xfrm>
            <a:off x="4191000" y="54610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000" dirty="0">
                <a:solidFill>
                  <a:srgbClr val="6B7280"/>
                </a:solidFill>
                <a:latin typeface="Source Sans Pro"/>
              </a:rPr>
              <a:t>The Research LampPost</a:t>
            </a: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22259</TotalTime>
  <Words>1139</Words>
  <Application>Microsoft Macintosh PowerPoint</Application>
  <PresentationFormat>Widescreen</PresentationFormat>
  <Paragraphs>191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-webkit-standard</vt:lpstr>
      <vt:lpstr>Aptos</vt:lpstr>
      <vt:lpstr>Aptos Display</vt:lpstr>
      <vt:lpstr>Arial</vt:lpstr>
      <vt:lpstr>Calibri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38</cp:revision>
  <dcterms:created xsi:type="dcterms:W3CDTF">2026-02-19T04:31:59Z</dcterms:created>
  <dcterms:modified xsi:type="dcterms:W3CDTF">2026-03-24T07:30:01Z</dcterms:modified>
</cp:coreProperties>
</file>