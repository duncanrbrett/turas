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95" r:id="rId9"/>
    <p:sldId id="394" r:id="rId10"/>
    <p:sldId id="396" r:id="rId11"/>
    <p:sldId id="390" r:id="rId12"/>
    <p:sldId id="391" r:id="rId13"/>
    <p:sldId id="392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654"/>
    <p:restoredTop sz="94692"/>
  </p:normalViewPr>
  <p:slideViewPr>
    <p:cSldViewPr snapToGrid="0">
      <p:cViewPr varScale="1">
        <p:scale>
          <a:sx n="152" d="100"/>
          <a:sy n="152" d="100"/>
        </p:scale>
        <p:origin x="106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-595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79133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for yourself</a:t>
            </a:r>
            <a:endParaRPr lang="en-GB" sz="2800" b="1" dirty="0">
              <a:solidFill>
                <a:srgbClr val="CC9900"/>
              </a:solidFill>
              <a:latin typeface="Raleway"/>
            </a:endParaRP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602300"/>
            <a:ext cx="449580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Insights disconnected from the data behind them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  <a:p>
            <a:pPr algn="l">
              <a:spcBef>
                <a:spcPts val="600"/>
              </a:spcBef>
            </a:pPr>
            <a:endParaRPr lang="en-GB" sz="1400" dirty="0">
              <a:solidFill>
                <a:srgbClr val="9090A8"/>
              </a:solidFill>
              <a:latin typeface="Source Sans Pro"/>
            </a:endParaRPr>
          </a:p>
        </p:txBody>
      </p:sp>
      <p:sp>
        <p:nvSpPr>
          <p:cNvPr id="251" name="RightBullets"/>
          <p:cNvSpPr txBox="1"/>
          <p:nvPr/>
        </p:nvSpPr>
        <p:spPr>
          <a:xfrm>
            <a:off x="6858000" y="4613069"/>
            <a:ext cx="4495800" cy="1104825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 tables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Build &amp; present a narrative without leaving the report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887" y="2240117"/>
            <a:ext cx="4605098" cy="2311194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3035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106031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isn't a flat file you scroll through. It's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 And when you need to go deeper, specialist analytical modules sit inside the same report.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Interactive, filterable, explorable tables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Insights your team actually uses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Build and present a narrative without leaving the report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Deeper analysis? It's all in the same report.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file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Research your whole team can use</a:t>
            </a:r>
          </a:p>
        </p:txBody>
      </p:sp>
    </p:spTree>
    <p:extLst>
      <p:ext uri="{BB962C8B-B14F-4D97-AF65-F5344CB8AC3E}">
        <p14:creationId xmlns:p14="http://schemas.microsoft.com/office/powerpoint/2010/main" val="42242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8389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 and switch views. </a:t>
            </a:r>
          </a:p>
          <a:p>
            <a:pPr algn="ctr"/>
            <a:endParaRPr lang="en-GB" sz="1200" dirty="0">
              <a:solidFill>
                <a:srgbClr val="4A5568"/>
              </a:solidFill>
              <a:latin typeface="Source Sans Pro"/>
            </a:endParaRP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Plain-language callouts explain what you're seeing and what it means.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Save key charts, add commentary and arrange them into a clear narrative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story in-file, or export to PowerPoint or PDF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A703AAA-D800-5B10-4FB5-E6384DC4F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—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051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SYSTEM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 with TURF and a simulator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with simulators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354144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report.</a:t>
            </a:r>
          </a:p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Advanced modules include plain-language callouts that guide users through the statistics — so the outputs are understood, not just delivered.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52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834187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12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2432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8" name="Picture 7" descr="A logo with a yellow and blue diamond&#10;&#10;AI-generated content may be incorrect.">
            <a:extLst>
              <a:ext uri="{FF2B5EF4-FFF2-40B4-BE49-F238E27FC236}">
                <a16:creationId xmlns:a16="http://schemas.microsoft.com/office/drawing/2014/main" id="{13F92F90-D33B-0689-B5C0-AF4DB9924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114" y="4595977"/>
            <a:ext cx="2365231" cy="166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22339</TotalTime>
  <Words>1136</Words>
  <Application>Microsoft Macintosh PowerPoint</Application>
  <PresentationFormat>Widescreen</PresentationFormat>
  <Paragraphs>190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-webkit-standard</vt:lpstr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41</cp:revision>
  <dcterms:created xsi:type="dcterms:W3CDTF">2026-02-19T04:31:59Z</dcterms:created>
  <dcterms:modified xsi:type="dcterms:W3CDTF">2026-03-24T14:23:18Z</dcterms:modified>
</cp:coreProperties>
</file>