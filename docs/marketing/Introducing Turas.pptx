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70" r:id="rId2"/>
    <p:sldId id="273" r:id="rId3"/>
    <p:sldId id="257" r:id="rId4"/>
    <p:sldId id="276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72" r:id="rId14"/>
    <p:sldId id="259" r:id="rId15"/>
    <p:sldId id="265" r:id="rId16"/>
    <p:sldId id="266" r:id="rId17"/>
    <p:sldId id="267" r:id="rId18"/>
    <p:sldId id="268" r:id="rId19"/>
    <p:sldId id="269" r:id="rId20"/>
    <p:sldId id="271" r:id="rId21"/>
    <p:sldId id="28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5"/>
    <p:restoredTop sz="94694"/>
  </p:normalViewPr>
  <p:slideViewPr>
    <p:cSldViewPr snapToGrid="0">
      <p:cViewPr varScale="1">
        <p:scale>
          <a:sx n="100" d="100"/>
          <a:sy n="100" d="100"/>
        </p:scale>
        <p:origin x="17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2293FD-1E42-1447-A1A4-389C6E1A364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979EB0-E91F-CC45-B59B-1976BB608C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6880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D44EC-6A7D-931C-DE0A-5051B0AC6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48EE9-E7C3-C861-9D75-AB6794F86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2B195-3C0A-E457-B45B-C24CC4348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9A4FD-8110-D206-1A57-C94067709A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98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D36A1-3252-7524-EF6D-B65CC56F4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B8C300-CEB1-BE49-17BB-3D7246DBA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3F0B1-19CA-4006-0C5F-BB1638FE4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8746-F672-BC34-7B73-191FC5E288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10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8D90E-926D-0C5A-B805-7C4137FBE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2ACBC-55B3-6EF1-2CF1-BFE614580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4504D-9955-D2A0-6B8A-D516A6AF3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B43F3-1950-F295-4B4B-D44EC33E1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82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CCF3F-DCF7-92CC-FE95-E72408B15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7DB6B3-7EC2-068F-9337-3710A4975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57E02F-25FA-B963-6E53-D7C85B3A6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DB3AE-20EB-7E46-2D6A-196349C350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43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3B7AF-1BA3-8D3A-BFA6-0F9AADE38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B84E1D-3237-2519-5CA7-593DE8809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4DB51D-7DE8-B175-87D1-2A3803957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1879D-652A-7ECA-E1DD-11F20B7C17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545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252CA-D568-8BC3-7168-43AB1AFAD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DBDD3-4294-8680-400A-3988E73196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E0BF83-78C5-15EC-35B7-5508B23D4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193EA-6DB0-923F-AA4E-A85B5FF772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492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D55F5-6293-367B-FF10-877BC94C6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52145A-2FAC-738A-FEC1-34474778C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CDAAE-6FA6-D039-E696-D1D2C3104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639F5-B3B5-2A94-FF14-DB09CDDE83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170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35824-0373-163D-6D04-48D897FAC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849938-CA5B-9BF8-FCD4-068411B67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D40C98-E9E0-8D19-86DE-E2F785B6C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9D393-273E-B1F9-92D2-E73E8E166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473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979EB0-E91F-CC45-B59B-1976BB608CC1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104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224B-6EF3-FB65-642C-3649B80EC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1D155-AEA9-51F0-C000-DCCD756BE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D2051-9DA1-F6DC-1476-0E21952F3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E3D9A-D843-4CEC-2410-07B1AED0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4FB17-3E1F-8FF4-BBB8-E683249FF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570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F18C7-9E75-9D92-31F2-64EDD3BEC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98666-7F89-0798-7812-610A4F273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7C2C5-C454-2E44-38B1-E7F97A07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D9A58-720B-AE5D-9E1F-D8808B243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4908A-4C3E-704D-411B-F0CD4E098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404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E906-C1C1-4EF6-7F2D-FFF9DF3B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F2797-315D-8EE6-C317-089F02FB4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A4D23-4766-D947-8E13-D72E4400A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9D983-C6D2-2775-BED1-AB2853F66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4EC42-0B0E-39A1-50DE-3B1AFCCC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726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7BCBA-3BEB-431C-17BD-19C9153D5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98E8D-625D-EAC1-774F-462A9149EE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ACD29-E934-5075-51FC-3CA037F35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2F2AF-2519-7E5C-14CC-653BF642F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F2499-3386-BAA4-89FD-C5518E56A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CE1E-3792-37BE-9C0E-A1F30EF25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4436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7724B-AC52-4D87-E0F0-AC0E639B8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9756C-D8D1-FD84-9F82-A61C0D1D9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2A09C-AFD1-60C2-942E-087A141C0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4B2655-4B3E-3F34-5271-D2705E2F49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DC732A-EC0E-C1B7-0D1B-6D77F502D2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7AD936-90F1-771D-269B-23346EE74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C1F7F5-A645-2EE6-B2C1-7B17D9D2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750C74-AB81-09A8-99FE-B028507D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554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997B8-D818-36E1-17E5-61AED5982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617C6F-0965-4F12-1862-DA26B6ACC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7010F1-22C2-E0E6-9B49-8F87FCE21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A713D6-E479-A889-8B1B-6000E684C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2950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58E932-1BA6-3386-AEA3-A5AE7A3A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6769CC-B4A8-AA5D-8871-EB3A766B7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8A79D-8172-05C7-07D8-6E33DECA7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0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78ED1-37E4-AB65-D83A-642E064B7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CA085-F7A4-CF30-6421-4A0339785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500EE-C98B-2FAD-3FD5-6A1F895D9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B8969-B390-0B69-774D-400643991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68E3B-53BE-1306-5834-43582A164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016D2-7099-9486-09F5-905198C9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825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C9AD3-736A-C5CE-C8C9-7194B4F6B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255B36-E0B0-3AE1-B7EB-06261E1440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EC956-F5BC-ABE1-82BE-7D6328C07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7E8FC-FD61-682B-8415-F71F33E3E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0E4F1-9ABB-0B4A-DF54-0BB981682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E5837-52F4-5104-B068-1E6B5F0A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709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CF308-83E3-ABAD-FFDB-FA5F72A55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CCF83-895E-4A51-43F2-EDAC00656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A23F1-2C23-5FA5-E90F-175731A0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112B3-D368-CCEB-A920-C84E30BA9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79D1A-4434-E69D-87A5-2812CAE9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673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0797A4-1152-2907-E754-BF746F866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4B2B39-B627-ACFB-BBCC-1B76B931A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D7629-44A8-D468-332A-9B12B70C3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6E56C-8290-7B51-6B46-9AEC50986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AEA3E-52AE-207A-7EF6-C8E7F7FF9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130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5427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5E75CF-E691-D86D-EE33-3FA33FB00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BC6B1-28E7-7B11-4C95-FE3A13652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16F65-897A-0723-626B-C13FB4DC21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A5A3C-601B-7ED7-A730-692B2721B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7D9B1-3852-47E6-64E4-68AC332A5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99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river running through a desert&#10;&#10;AI-generated content may be incorrect.">
            <a:extLst>
              <a:ext uri="{FF2B5EF4-FFF2-40B4-BE49-F238E27FC236}">
                <a16:creationId xmlns:a16="http://schemas.microsoft.com/office/drawing/2014/main" id="{42107E63-9AE6-455E-83EE-4B213E6CB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52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1B2A3D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6C3F1A-6632-A2DB-45B5-73CE46A1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0"/>
            <a:ext cx="10972800" cy="91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Calibri"/>
              </a:rPr>
              <a:t>Turas Analytics Engine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2000" y="4495800"/>
            <a:ext cx="1828800" cy="0"/>
          </a:xfrm>
          <a:prstGeom prst="line">
            <a:avLst/>
          </a:prstGeom>
          <a:ln w="38100">
            <a:solidFill>
              <a:srgbClr val="4A90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opAccent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 descr="A blue and yellow diamond with a star on it&#10;&#10;AI-generated content may be incorrect.">
            <a:extLst>
              <a:ext uri="{FF2B5EF4-FFF2-40B4-BE49-F238E27FC236}">
                <a16:creationId xmlns:a16="http://schemas.microsoft.com/office/drawing/2014/main" id="{7A0B7A84-EAF0-A86E-8F4A-2A0E437BA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099" y="193672"/>
            <a:ext cx="1792312" cy="126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57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2D1C2E-628B-F342-8B9E-1EDC207525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3C050A-E8A6-9340-AECB-D5AFFD566095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1B2A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A495AE-8458-0641-8432-7291A499C029}"/>
              </a:ext>
            </a:extLst>
          </p:cNvPr>
          <p:cNvSpPr txBox="1"/>
          <p:nvPr/>
        </p:nvSpPr>
        <p:spPr>
          <a:xfrm>
            <a:off x="762000" y="254000"/>
            <a:ext cx="508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7AB5E8"/>
                </a:solidFill>
                <a:latin typeface="Calibri"/>
                <a:cs typeface="Calibri"/>
              </a:rPr>
              <a:t>What is Turas?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F1CED1-8BFF-634F-B314-E4CFC52C705A}"/>
              </a:ext>
            </a:extLst>
          </p:cNvPr>
          <p:cNvSpPr txBox="1"/>
          <p:nvPr/>
        </p:nvSpPr>
        <p:spPr>
          <a:xfrm>
            <a:off x="762000" y="635000"/>
            <a:ext cx="10668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600" b="1" dirty="0">
                <a:solidFill>
                  <a:srgbClr val="FFFFFF"/>
                </a:solidFill>
                <a:latin typeface="Calibri"/>
                <a:cs typeface="Calibri"/>
              </a:rPr>
              <a:t>1. Your Research Should Work Harder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1B9D40-8E3A-7C4E-AC52-00C299B114CE}"/>
              </a:ext>
            </a:extLst>
          </p:cNvPr>
          <p:cNvSpPr txBox="1"/>
          <p:nvPr/>
        </p:nvSpPr>
        <p:spPr>
          <a:xfrm>
            <a:off x="762000" y="1879600"/>
            <a:ext cx="10668000" cy="132343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You commission research, collect good data, and get a PowerPoint deck that answers the questions you asked at the time.</a:t>
            </a:r>
          </a:p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Then a new question surfaces. Someone has to go back to the analyst, reopen the dataset, and rebuild the analysis. That takes time and money. Usually it just doesn't happen.</a:t>
            </a:r>
          </a:p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Most research ends up as a presentation rather than a resource.</a:t>
            </a:r>
          </a:p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There is a better way.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C4E34A-1B67-D64E-9845-92A4C46E92C5}"/>
              </a:ext>
            </a:extLst>
          </p:cNvPr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2920AC-B26A-D04E-9D11-61F96EB7649F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DF4AEA-0047-C844-8E90-AB53E48EAFF2}"/>
              </a:ext>
            </a:extLst>
          </p:cNvPr>
          <p:cNvSpPr/>
          <p:nvPr/>
        </p:nvSpPr>
        <p:spPr>
          <a:xfrm>
            <a:off x="762000" y="1714500"/>
            <a:ext cx="1524000" cy="254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8145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A7047C-FAD6-DB46-8BD8-4D99E8E1AC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F464AB-DDA6-E748-9953-5AEF81DE6156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1B2A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A27846-A213-D44E-AC09-70C0A2D01324}"/>
              </a:ext>
            </a:extLst>
          </p:cNvPr>
          <p:cNvSpPr txBox="1"/>
          <p:nvPr/>
        </p:nvSpPr>
        <p:spPr>
          <a:xfrm>
            <a:off x="762000" y="254000"/>
            <a:ext cx="508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7AB5E8"/>
                </a:solidFill>
                <a:latin typeface="Calibri"/>
                <a:cs typeface="Calibri"/>
              </a:rPr>
              <a:t>Why You Can Trust 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7A8E68-1D28-D643-A66E-58A9624BB935}"/>
              </a:ext>
            </a:extLst>
          </p:cNvPr>
          <p:cNvSpPr txBox="1"/>
          <p:nvPr/>
        </p:nvSpPr>
        <p:spPr>
          <a:xfrm>
            <a:off x="762000" y="635000"/>
            <a:ext cx="10668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600" b="1" dirty="0">
                <a:solidFill>
                  <a:srgbClr val="FFFFFF"/>
                </a:solidFill>
                <a:latin typeface="Calibri"/>
                <a:cs typeface="Calibri"/>
              </a:rPr>
              <a:t>2. What Turas Delivers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87D263-8620-0544-B30D-D7CEDEC528BC}"/>
              </a:ext>
            </a:extLst>
          </p:cNvPr>
          <p:cNvSpPr txBox="1"/>
          <p:nvPr/>
        </p:nvSpPr>
        <p:spPr>
          <a:xfrm>
            <a:off x="762000" y="1879600"/>
            <a:ext cx="10668000" cy="156966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Turas is a survey analytics platform that transforms your dataset into an interactive analytical resource — one your team can explore, share, and return to without going back to the analyst every time a question changes.</a:t>
            </a:r>
          </a:p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You get rigorous statistical analysis run directly from your data, an interactive report your team can navigate themselves, and a permanent analytical record of your research.</a:t>
            </a:r>
          </a:p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One dataset. One report. Useful for as long as the data is relevant.</a:t>
            </a:r>
          </a:p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No subscription fees. No licence costs. You pay per project.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35D2FD-2054-5B42-AE08-A9663F56C355}"/>
              </a:ext>
            </a:extLst>
          </p:cNvPr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6785DA-5C28-C744-9F80-DB5FEED97801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3C62D1-1CAD-7C4C-BC1C-6667A710ACB8}"/>
              </a:ext>
            </a:extLst>
          </p:cNvPr>
          <p:cNvSpPr/>
          <p:nvPr/>
        </p:nvSpPr>
        <p:spPr>
          <a:xfrm>
            <a:off x="762000" y="1714500"/>
            <a:ext cx="1524000" cy="254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12D684C-A584-5D4D-A68D-21E12D0AB9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6B7343-5168-5A4B-B996-763FA6B896C6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1B2A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94BAAE-3C33-B748-B5E9-6200AA8679CD}"/>
              </a:ext>
            </a:extLst>
          </p:cNvPr>
          <p:cNvSpPr txBox="1"/>
          <p:nvPr/>
        </p:nvSpPr>
        <p:spPr>
          <a:xfrm>
            <a:off x="762000" y="254000"/>
            <a:ext cx="635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7AB5E8"/>
                </a:solidFill>
                <a:latin typeface="Calibri"/>
                <a:cs typeface="Calibri"/>
              </a:rPr>
              <a:t>Why HTML Reports Are the Future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6F2661-B740-7640-B6A4-948F162C4EB8}"/>
              </a:ext>
            </a:extLst>
          </p:cNvPr>
          <p:cNvSpPr txBox="1"/>
          <p:nvPr/>
        </p:nvSpPr>
        <p:spPr>
          <a:xfrm>
            <a:off x="762000" y="635000"/>
            <a:ext cx="10668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600" b="1" dirty="0">
                <a:solidFill>
                  <a:srgbClr val="FFFFFF"/>
                </a:solidFill>
                <a:latin typeface="Calibri"/>
                <a:cs typeface="Calibri"/>
              </a:rPr>
              <a:t>3. Built on Serious Statistical Foundations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679450-EC88-4E42-80A8-2028054A2F8A}"/>
              </a:ext>
            </a:extLst>
          </p:cNvPr>
          <p:cNvSpPr txBox="1"/>
          <p:nvPr/>
        </p:nvSpPr>
        <p:spPr>
          <a:xfrm>
            <a:off x="762000" y="1879600"/>
            <a:ext cx="10668000" cy="156966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Turas is built on R — the open-source statistical environment used as standard by national statistics offices, central banks, universities, and government agencies worldwide.</a:t>
            </a:r>
          </a:p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Because R is open and transparent, every calculation is fully inspectable. The methods behind every output can be examined and verified. Every result traces directly back to the underlying tables.</a:t>
            </a:r>
          </a:p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There are no proprietary black boxes. When a finding is challenged, you have a clean, traceable analytical record to stand behind.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0F88F0-4AB3-A644-8A34-468209B486E4}"/>
              </a:ext>
            </a:extLst>
          </p:cNvPr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04D429-0E25-604D-BE14-495099E382B0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A69A21-C5EB-D745-BA4E-A84439F80755}"/>
              </a:ext>
            </a:extLst>
          </p:cNvPr>
          <p:cNvSpPr/>
          <p:nvPr/>
        </p:nvSpPr>
        <p:spPr>
          <a:xfrm>
            <a:off x="762000" y="1714500"/>
            <a:ext cx="1524000" cy="254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7581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EEE78-897B-3BC8-594E-BF5981927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9EFF48B-1704-C85E-AEF1-487C431B0F7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E6FD9C-6E02-8944-6E09-54CFBEDE75F7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1B2A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20F6A1-5FEE-DB46-DA48-A8AD10BCAAAB}"/>
              </a:ext>
            </a:extLst>
          </p:cNvPr>
          <p:cNvSpPr txBox="1"/>
          <p:nvPr/>
        </p:nvSpPr>
        <p:spPr>
          <a:xfrm>
            <a:off x="762000" y="254000"/>
            <a:ext cx="635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7AB5E8"/>
                </a:solidFill>
                <a:latin typeface="Calibri"/>
                <a:cs typeface="Calibri"/>
              </a:rPr>
              <a:t>Why HTML Reports Are the Future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BADDC5-80D4-C60D-15B8-FD2329E44A55}"/>
              </a:ext>
            </a:extLst>
          </p:cNvPr>
          <p:cNvSpPr txBox="1"/>
          <p:nvPr/>
        </p:nvSpPr>
        <p:spPr>
          <a:xfrm>
            <a:off x="762000" y="635000"/>
            <a:ext cx="10668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600" b="1" dirty="0">
                <a:solidFill>
                  <a:srgbClr val="FFFFFF"/>
                </a:solidFill>
                <a:latin typeface="Calibri"/>
                <a:cs typeface="Calibri"/>
              </a:rPr>
              <a:t>4. Professional Oversight on Every Project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B14566-F493-777F-36B3-4EF535514D13}"/>
              </a:ext>
            </a:extLst>
          </p:cNvPr>
          <p:cNvSpPr txBox="1"/>
          <p:nvPr/>
        </p:nvSpPr>
        <p:spPr>
          <a:xfrm>
            <a:off x="762000" y="1879600"/>
            <a:ext cx="10668000" cy="156966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Turas is not a self-service tool.</a:t>
            </a:r>
          </a:p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The Research </a:t>
            </a:r>
            <a:r>
              <a:rPr lang="en-GB" sz="1600" dirty="0" err="1">
                <a:solidFill>
                  <a:srgbClr val="444444"/>
                </a:solidFill>
                <a:latin typeface="Calibri"/>
                <a:cs typeface="Calibri"/>
              </a:rPr>
              <a:t>LampPost</a:t>
            </a:r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 is an organisational member of the Southern African Marketing Research Association (SAMRA), the professional body that sets and upholds research standards in South Africa. Duncan Brett is a SAMRA-accredited researcher with over 30 years of experience in quantitative market research.</a:t>
            </a:r>
          </a:p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Every project is guided from data preparation through to final output. The right methods are applied, the data is structured correctly, and results are interpreted responsibly — not just generated automatically.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B0B5F9-D55B-332F-2A87-DCA05F9FD4BE}"/>
              </a:ext>
            </a:extLst>
          </p:cNvPr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5A2A40-52DC-C7D6-E00C-DE3316132647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60357B-B6D1-61F5-3406-633EC710CDDA}"/>
              </a:ext>
            </a:extLst>
          </p:cNvPr>
          <p:cNvSpPr/>
          <p:nvPr/>
        </p:nvSpPr>
        <p:spPr>
          <a:xfrm>
            <a:off x="762000" y="1714500"/>
            <a:ext cx="1524000" cy="254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607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7A3EA-DD34-2924-6AC1-59B081801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805FBD-2364-9645-B720-483F6429EF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C458D6-EA1F-0696-E14A-CAE04D39EDB6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1B2A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1A17F1-B871-227E-3606-78430426823F}"/>
              </a:ext>
            </a:extLst>
          </p:cNvPr>
          <p:cNvSpPr txBox="1"/>
          <p:nvPr/>
        </p:nvSpPr>
        <p:spPr>
          <a:xfrm>
            <a:off x="762000" y="254000"/>
            <a:ext cx="635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dirty="0">
                <a:solidFill>
                  <a:srgbClr val="7AB5E8"/>
                </a:solidFill>
                <a:latin typeface="Calibri"/>
                <a:cs typeface="Calibri"/>
              </a:rPr>
              <a:t>Why HTML Reports Are the Future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7D5C24-EB1C-BA32-0AD4-2872A0F1E107}"/>
              </a:ext>
            </a:extLst>
          </p:cNvPr>
          <p:cNvSpPr txBox="1"/>
          <p:nvPr/>
        </p:nvSpPr>
        <p:spPr>
          <a:xfrm>
            <a:off x="762000" y="635000"/>
            <a:ext cx="10668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600" b="1" dirty="0">
                <a:solidFill>
                  <a:srgbClr val="FFFFFF"/>
                </a:solidFill>
                <a:latin typeface="Calibri"/>
                <a:cs typeface="Calibri"/>
              </a:rPr>
              <a:t>5. Your Data Stays With You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F1A287-99A2-1CBD-FAC7-2A6927F6BF16}"/>
              </a:ext>
            </a:extLst>
          </p:cNvPr>
          <p:cNvSpPr txBox="1"/>
          <p:nvPr/>
        </p:nvSpPr>
        <p:spPr>
          <a:xfrm>
            <a:off x="762000" y="1879600"/>
            <a:ext cx="10668000" cy="107721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Your dataset is never uploaded to a cloud platform, shared with a third party, or processed on external infrastructure. All analysis runs on our own hardware, in a controlled environment.</a:t>
            </a:r>
          </a:p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Once the report is delivered, it is finalised and self-contained. It cannot be altered after the fact, giving you a stable record of exactly what the data showed at the time of analysis.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6A85DC-AD59-72D3-DC62-758467949F17}"/>
              </a:ext>
            </a:extLst>
          </p:cNvPr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B83526-ED39-2B28-5FBD-719BFB50C4A1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CB2910-6246-145A-BA97-2C2166046BAC}"/>
              </a:ext>
            </a:extLst>
          </p:cNvPr>
          <p:cNvSpPr/>
          <p:nvPr/>
        </p:nvSpPr>
        <p:spPr>
          <a:xfrm>
            <a:off x="762000" y="1714500"/>
            <a:ext cx="1524000" cy="254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336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A5059-55D3-C579-EF26-2ED538115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A20B01-A8BA-40A8-2D7F-3DE941E4DD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51E993-0A9E-47E6-4C13-DA5C37A4EA3E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1B2A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7834EE-DA1B-E9D6-89C4-C9798ACEBEA3}"/>
              </a:ext>
            </a:extLst>
          </p:cNvPr>
          <p:cNvSpPr txBox="1"/>
          <p:nvPr/>
        </p:nvSpPr>
        <p:spPr>
          <a:xfrm>
            <a:off x="762000" y="254000"/>
            <a:ext cx="635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dirty="0">
                <a:solidFill>
                  <a:srgbClr val="7AB5E8"/>
                </a:solidFill>
                <a:latin typeface="Calibri"/>
                <a:cs typeface="Calibri"/>
              </a:rPr>
              <a:t>Why HTML Reports Are the Future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CF4D6B-B058-F090-245F-22351C1814A4}"/>
              </a:ext>
            </a:extLst>
          </p:cNvPr>
          <p:cNvSpPr txBox="1"/>
          <p:nvPr/>
        </p:nvSpPr>
        <p:spPr>
          <a:xfrm>
            <a:off x="762000" y="635000"/>
            <a:ext cx="10668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600" b="1" dirty="0">
                <a:solidFill>
                  <a:srgbClr val="FFFFFF"/>
                </a:solidFill>
                <a:latin typeface="Calibri"/>
                <a:cs typeface="Calibri"/>
              </a:rPr>
              <a:t>6. Fast, Consistent, Dependable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F4974B-BF18-3A18-F4D6-6473DF94C529}"/>
              </a:ext>
            </a:extLst>
          </p:cNvPr>
          <p:cNvSpPr txBox="1"/>
          <p:nvPr/>
        </p:nvSpPr>
        <p:spPr>
          <a:xfrm>
            <a:off x="762000" y="1879600"/>
            <a:ext cx="10668000" cy="156966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Traditional analysis can take weeks once a dataset arrives. Turas compresses that timeline significantly. For our first client report, a preliminary analytical output was available within a day of fieldwork closing.</a:t>
            </a:r>
          </a:p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Consistency is built into the process. When analysis is rebuilt manually, results can shift — different analysts, updated software, changed defaults. Turas runs within a controlled computational environment, applying the same methods every time. For tracking studies this matters particularly: results stay comparable across waves, and earlier findings don't quietly change because a software package was updated.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76D930-1BDA-90BA-2B7E-A1ADC6DCC5BD}"/>
              </a:ext>
            </a:extLst>
          </p:cNvPr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205711-53CD-6FEE-ED5B-E837B4F88806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BDEFA7-8B38-3780-FEA1-7BC9D56E762A}"/>
              </a:ext>
            </a:extLst>
          </p:cNvPr>
          <p:cNvSpPr/>
          <p:nvPr/>
        </p:nvSpPr>
        <p:spPr>
          <a:xfrm>
            <a:off x="762000" y="1714500"/>
            <a:ext cx="1524000" cy="254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5377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32B5D-01DF-D3CD-3DFF-FEDA035C3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4E324A6-3B32-3AB6-D838-06DEC6FEC0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E351CC-81B4-D0B0-8D99-F81BC686CE1F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1B2A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3E1A0-3D9F-DFAC-8AB3-93BE2EA745A0}"/>
              </a:ext>
            </a:extLst>
          </p:cNvPr>
          <p:cNvSpPr txBox="1"/>
          <p:nvPr/>
        </p:nvSpPr>
        <p:spPr>
          <a:xfrm>
            <a:off x="762000" y="254000"/>
            <a:ext cx="635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dirty="0">
                <a:solidFill>
                  <a:srgbClr val="7AB5E8"/>
                </a:solidFill>
                <a:latin typeface="Calibri"/>
                <a:cs typeface="Calibri"/>
              </a:rPr>
              <a:t>Why HTML Reports Are the Future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38F407-187B-E15B-1E2E-4B41A98A20D1}"/>
              </a:ext>
            </a:extLst>
          </p:cNvPr>
          <p:cNvSpPr txBox="1"/>
          <p:nvPr/>
        </p:nvSpPr>
        <p:spPr>
          <a:xfrm>
            <a:off x="762000" y="635000"/>
            <a:ext cx="10668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600" b="1" dirty="0">
                <a:solidFill>
                  <a:srgbClr val="FFFFFF"/>
                </a:solidFill>
                <a:latin typeface="Calibri"/>
                <a:cs typeface="Calibri"/>
              </a:rPr>
              <a:t>7. An Interactive Report, Not a Static File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676B8F-9861-9B31-E0DC-1E6A3B8ABDD2}"/>
              </a:ext>
            </a:extLst>
          </p:cNvPr>
          <p:cNvSpPr txBox="1"/>
          <p:nvPr/>
        </p:nvSpPr>
        <p:spPr>
          <a:xfrm>
            <a:off x="762000" y="1879600"/>
            <a:ext cx="10668000" cy="132343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Results are delivered as an interactive report that runs in any modern web browser. Nothing to install. No subscription. No licence to manage.</a:t>
            </a:r>
          </a:p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It works as a single source of truth for your research. Your team can browse all tables in one environment, switch between table and chart views, and cut results by any segment or subgroup — without waiting for the analyst.</a:t>
            </a:r>
          </a:p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Tables can be exported to Excel at any point, so Turas fits into existing workflows rather than displacing them.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FBFEB7-CEF9-248E-CDC9-A391FFF7331D}"/>
              </a:ext>
            </a:extLst>
          </p:cNvPr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5BD4A6-2837-93F5-84CC-AF7EE37E5D1E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48D042-D137-14D5-715A-5D009ECF132B}"/>
              </a:ext>
            </a:extLst>
          </p:cNvPr>
          <p:cNvSpPr/>
          <p:nvPr/>
        </p:nvSpPr>
        <p:spPr>
          <a:xfrm>
            <a:off x="762000" y="1714500"/>
            <a:ext cx="1524000" cy="254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937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B4CF2-20DC-6483-92D5-5074FD530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92097DA-D55E-0E14-7BBD-85D74CB9C0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FDF450-C6C1-1D77-5837-24B2009B7751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1B2A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20C99A-AD54-A366-62CA-84CE33886DEC}"/>
              </a:ext>
            </a:extLst>
          </p:cNvPr>
          <p:cNvSpPr txBox="1"/>
          <p:nvPr/>
        </p:nvSpPr>
        <p:spPr>
          <a:xfrm>
            <a:off x="762000" y="254000"/>
            <a:ext cx="635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dirty="0">
                <a:solidFill>
                  <a:srgbClr val="7AB5E8"/>
                </a:solidFill>
                <a:latin typeface="Calibri"/>
                <a:cs typeface="Calibri"/>
              </a:rPr>
              <a:t>Why HTML Reports Are the Future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D70A43-5EF0-77B6-30F5-066DD6EF7457}"/>
              </a:ext>
            </a:extLst>
          </p:cNvPr>
          <p:cNvSpPr txBox="1"/>
          <p:nvPr/>
        </p:nvSpPr>
        <p:spPr>
          <a:xfrm>
            <a:off x="762000" y="635000"/>
            <a:ext cx="10668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600" b="1" dirty="0">
                <a:solidFill>
                  <a:srgbClr val="FFFFFF"/>
                </a:solidFill>
                <a:latin typeface="Calibri"/>
                <a:cs typeface="Calibri"/>
              </a:rPr>
              <a:t>8. From Exploration to Presentation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F220F0-EB26-215E-ECD0-5E203BAB9EDF}"/>
              </a:ext>
            </a:extLst>
          </p:cNvPr>
          <p:cNvSpPr txBox="1"/>
          <p:nvPr/>
        </p:nvSpPr>
        <p:spPr>
          <a:xfrm>
            <a:off x="762000" y="1879600"/>
            <a:ext cx="10668000" cy="107721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The report includes a pinned views feature that lets users capture key findings and build a narrative directly within the same environment.</a:t>
            </a:r>
          </a:p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Pinned views can include charts, commentary and images, and can be exported to PowerPoint or PDF when needed.</a:t>
            </a:r>
          </a:p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The same report supports analytical exploration and stakeholder presentation — without switching tools.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58D2EE-9A2A-9AB2-B52B-AADA4B9FA153}"/>
              </a:ext>
            </a:extLst>
          </p:cNvPr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6C2AA1-B6A8-B28B-7E2F-436538270AFA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E8707D-EE08-E645-F512-22063FD64D26}"/>
              </a:ext>
            </a:extLst>
          </p:cNvPr>
          <p:cNvSpPr/>
          <p:nvPr/>
        </p:nvSpPr>
        <p:spPr>
          <a:xfrm>
            <a:off x="762000" y="1714500"/>
            <a:ext cx="1524000" cy="254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339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309C4-BFDB-4BDF-C630-CC3E60191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25C1992-C425-EB6A-BF7B-608EE1873F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836C4F-99B2-A756-DAD7-54C7AD717A54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1B2A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4593EE-D732-78A7-C766-2DA8A936385F}"/>
              </a:ext>
            </a:extLst>
          </p:cNvPr>
          <p:cNvSpPr txBox="1"/>
          <p:nvPr/>
        </p:nvSpPr>
        <p:spPr>
          <a:xfrm>
            <a:off x="762000" y="254000"/>
            <a:ext cx="635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dirty="0">
                <a:solidFill>
                  <a:srgbClr val="7AB5E8"/>
                </a:solidFill>
                <a:latin typeface="Calibri"/>
                <a:cs typeface="Calibri"/>
              </a:rPr>
              <a:t>Why HTML Reports Are the Future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722F58-4D87-4FC4-BC32-9FF31F4EA316}"/>
              </a:ext>
            </a:extLst>
          </p:cNvPr>
          <p:cNvSpPr txBox="1"/>
          <p:nvPr/>
        </p:nvSpPr>
        <p:spPr>
          <a:xfrm>
            <a:off x="762000" y="635000"/>
            <a:ext cx="10668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600" b="1" dirty="0">
                <a:solidFill>
                  <a:srgbClr val="FFFFFF"/>
                </a:solidFill>
                <a:latin typeface="Calibri"/>
                <a:cs typeface="Calibri"/>
              </a:rPr>
              <a:t>9. What Turas Can Analyse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9139D2-5EEC-7C7E-7AF2-0BAFE1F6A32B}"/>
              </a:ext>
            </a:extLst>
          </p:cNvPr>
          <p:cNvSpPr txBox="1"/>
          <p:nvPr/>
        </p:nvSpPr>
        <p:spPr>
          <a:xfrm>
            <a:off x="762000" y="1879600"/>
            <a:ext cx="5130800" cy="60016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Turas can incorporate a range of specialist analytical modules, all delivered within the same interactive report.</a:t>
            </a:r>
          </a:p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Tabs — automated crosstabs with frequency, column and row percentages, significance testing, and weighting.</a:t>
            </a:r>
          </a:p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Tracker — multi-wave trend analysis with significance testing and question mapping across waves.</a:t>
            </a:r>
          </a:p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Key Driver — identifies the factors with the strongest statistical relationship to key business outcomes.</a:t>
            </a:r>
          </a:p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Key Driver (Categorical) — regression-based analysis for categorical outcomes such as purchase decisions, segments, or customer tiers.</a:t>
            </a:r>
          </a:p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Segment — statistical clustering to identify natural customer groups beyond broad demographic averages.</a:t>
            </a:r>
          </a:p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Conjoint — discrete choice modelling with an interactive market simulator.</a:t>
            </a:r>
          </a:p>
          <a:p>
            <a:pPr algn="l"/>
            <a:r>
              <a:rPr lang="en-GB" sz="1600" dirty="0" err="1">
                <a:solidFill>
                  <a:srgbClr val="444444"/>
                </a:solidFill>
                <a:latin typeface="Calibri"/>
                <a:cs typeface="Calibri"/>
              </a:rPr>
              <a:t>MaxDiff</a:t>
            </a:r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 — precise preference rankings from balanced best/worst item sets.</a:t>
            </a:r>
          </a:p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Pricing — price sensitivity analysis using Van </a:t>
            </a:r>
            <a:r>
              <a:rPr lang="en-GB" sz="1600" dirty="0" err="1">
                <a:solidFill>
                  <a:srgbClr val="444444"/>
                </a:solidFill>
                <a:latin typeface="Calibri"/>
                <a:cs typeface="Calibri"/>
              </a:rPr>
              <a:t>Westendorp</a:t>
            </a:r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 and Gabor-Granger models.</a:t>
            </a:r>
          </a:p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Weighting — ensures the data represents your target population before analysis begins.</a:t>
            </a:r>
          </a:p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Confidence — rigorous validity testing that goes beyond standard significance flags.</a:t>
            </a:r>
          </a:p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Multiple modules can be combined into a single report.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226467-84EB-21D3-09FF-A3EC95BD1DA2}"/>
              </a:ext>
            </a:extLst>
          </p:cNvPr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CE9C78-9283-6819-B31E-E25C33F281B9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866217-C862-97F6-F780-1A17BDC52388}"/>
              </a:ext>
            </a:extLst>
          </p:cNvPr>
          <p:cNvSpPr/>
          <p:nvPr/>
        </p:nvSpPr>
        <p:spPr>
          <a:xfrm>
            <a:off x="762000" y="1714500"/>
            <a:ext cx="1524000" cy="254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2BEF19-D796-EA50-689F-4DCE58262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2" y="1813244"/>
            <a:ext cx="5762296" cy="436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212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B1E78-558A-578F-B8A1-E16906D49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B51DE5-6F80-AF90-7550-16BD3A745F6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D0FA2B-AE8E-93F3-136D-49F702A4AA28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1B2A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191ABE-E6E9-73C6-0776-B8F97475419F}"/>
              </a:ext>
            </a:extLst>
          </p:cNvPr>
          <p:cNvSpPr txBox="1"/>
          <p:nvPr/>
        </p:nvSpPr>
        <p:spPr>
          <a:xfrm>
            <a:off x="762000" y="254000"/>
            <a:ext cx="635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dirty="0">
                <a:solidFill>
                  <a:srgbClr val="7AB5E8"/>
                </a:solidFill>
                <a:latin typeface="Calibri"/>
                <a:cs typeface="Calibri"/>
              </a:rPr>
              <a:t>Why HTML Reports Are the Future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45BEC1-8087-B07B-BE21-BB50D13EF9E6}"/>
              </a:ext>
            </a:extLst>
          </p:cNvPr>
          <p:cNvSpPr txBox="1"/>
          <p:nvPr/>
        </p:nvSpPr>
        <p:spPr>
          <a:xfrm>
            <a:off x="762000" y="635000"/>
            <a:ext cx="10668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600" b="1" dirty="0">
                <a:solidFill>
                  <a:srgbClr val="FFFFFF"/>
                </a:solidFill>
                <a:latin typeface="Calibri"/>
                <a:cs typeface="Calibri"/>
              </a:rPr>
              <a:t>10. What We Can Help With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8CAEB5-CD16-8BD6-7E3E-B72B0F2317E3}"/>
              </a:ext>
            </a:extLst>
          </p:cNvPr>
          <p:cNvSpPr txBox="1"/>
          <p:nvPr/>
        </p:nvSpPr>
        <p:spPr>
          <a:xfrm>
            <a:off x="762000" y="1879600"/>
            <a:ext cx="10668000" cy="107721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Support is available throughout the project — questionnaire design, analytical planning, data preparation, and interpretation of results.</a:t>
            </a:r>
          </a:p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For most projects we also prepare an initial set of pinned views, giving your team a ready-made starting point rather than a blank report.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407C11-4A90-1239-5CBC-FB79AC222805}"/>
              </a:ext>
            </a:extLst>
          </p:cNvPr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2B96E3-DA17-997F-BB0E-29758306927C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2B045C-C2E9-10C9-C88B-B5EBC5C7D945}"/>
              </a:ext>
            </a:extLst>
          </p:cNvPr>
          <p:cNvSpPr/>
          <p:nvPr/>
        </p:nvSpPr>
        <p:spPr>
          <a:xfrm>
            <a:off x="762000" y="1714500"/>
            <a:ext cx="1524000" cy="254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705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C1237-4AB7-8108-912E-440E1D09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3450C61-CCD8-7FC4-57D2-BD365E80BC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D15A66-A52E-19FD-0D64-39FB3AD24FA9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1B2A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09263F-F2B9-2A97-7EAE-0A344FB1799B}"/>
              </a:ext>
            </a:extLst>
          </p:cNvPr>
          <p:cNvSpPr txBox="1"/>
          <p:nvPr/>
        </p:nvSpPr>
        <p:spPr>
          <a:xfrm>
            <a:off x="762000" y="254000"/>
            <a:ext cx="635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dirty="0">
                <a:solidFill>
                  <a:srgbClr val="7AB5E8"/>
                </a:solidFill>
                <a:latin typeface="Calibri"/>
                <a:cs typeface="Calibri"/>
              </a:rPr>
              <a:t>Why HTML Reports Are the Future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63CF19-26EC-94D7-A6F3-8777140A12B2}"/>
              </a:ext>
            </a:extLst>
          </p:cNvPr>
          <p:cNvSpPr txBox="1"/>
          <p:nvPr/>
        </p:nvSpPr>
        <p:spPr>
          <a:xfrm>
            <a:off x="762000" y="635000"/>
            <a:ext cx="10668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600" b="1" dirty="0">
                <a:solidFill>
                  <a:srgbClr val="FFFFFF"/>
                </a:solidFill>
                <a:latin typeface="Calibri"/>
                <a:cs typeface="Calibri"/>
              </a:rPr>
              <a:t>11. See It In Action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F94B89-0C36-257E-0FBC-832AB8F4CB84}"/>
              </a:ext>
            </a:extLst>
          </p:cNvPr>
          <p:cNvSpPr txBox="1"/>
          <p:nvPr/>
        </p:nvSpPr>
        <p:spPr>
          <a:xfrm>
            <a:off x="762000" y="1879600"/>
            <a:ext cx="10668000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The most effective way to understand Turas is a live demonstration.</a:t>
            </a:r>
          </a:p>
          <a:p>
            <a:pPr algn="l"/>
            <a:r>
              <a:rPr lang="en-GB" sz="1600" dirty="0">
                <a:solidFill>
                  <a:srgbClr val="444444"/>
                </a:solidFill>
                <a:latin typeface="Calibri"/>
                <a:cs typeface="Calibri"/>
              </a:rPr>
              <a:t>We can walk through a real dataset and show how survey data becomes a working analytical resource — from raw data to interactive report.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17FD45-47CD-9AF9-389C-45C23FA05D24}"/>
              </a:ext>
            </a:extLst>
          </p:cNvPr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B5E578-392B-54FC-3242-1E3A3B36CEF5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FBCAC7-4ED1-2F45-B539-8CAA03FF5851}"/>
              </a:ext>
            </a:extLst>
          </p:cNvPr>
          <p:cNvSpPr/>
          <p:nvPr/>
        </p:nvSpPr>
        <p:spPr>
          <a:xfrm>
            <a:off x="762000" y="1714500"/>
            <a:ext cx="1524000" cy="254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362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1A97DD-B5E4-2A0C-253F-9BBB7CA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river running through a desert&#10;&#10;AI-generated content may be incorrect.">
            <a:extLst>
              <a:ext uri="{FF2B5EF4-FFF2-40B4-BE49-F238E27FC236}">
                <a16:creationId xmlns:a16="http://schemas.microsoft.com/office/drawing/2014/main" id="{D1EB3FB4-A12A-F2EB-87F1-428F12031E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52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29A7FF3-8F8C-1735-C29D-F65891F04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1B2A3D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C45343-D4B9-47CD-B4D0-DA7C788B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0"/>
            <a:ext cx="10972800" cy="91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b="0" dirty="0">
                <a:solidFill>
                  <a:srgbClr val="FFFFFF"/>
                </a:solidFill>
                <a:latin typeface="Calibri Light"/>
              </a:rPr>
              <a:t>Sample Slides from </a:t>
            </a:r>
            <a:r>
              <a:rPr lang="en-US" sz="4000" b="1" dirty="0">
                <a:solidFill>
                  <a:srgbClr val="FFFFFF"/>
                </a:solidFill>
                <a:latin typeface="Calibri"/>
              </a:rPr>
              <a:t>Turas</a:t>
            </a:r>
          </a:p>
          <a:p>
            <a:pPr algn="l"/>
            <a:r>
              <a:rPr lang="en-US" sz="1800" dirty="0">
                <a:solidFill>
                  <a:srgbClr val="D0E0F0"/>
                </a:solidFill>
                <a:latin typeface="Calibri"/>
              </a:rPr>
              <a:t>Demonstrating report pin outputs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CC8D73-175E-11D6-245E-8A24B9CE8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2000" y="4495800"/>
            <a:ext cx="1828800" cy="0"/>
          </a:xfrm>
          <a:prstGeom prst="line">
            <a:avLst/>
          </a:prstGeom>
          <a:ln w="38100">
            <a:solidFill>
              <a:srgbClr val="4A90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opAccentBar">
            <a:extLst>
              <a:ext uri="{FF2B5EF4-FFF2-40B4-BE49-F238E27FC236}">
                <a16:creationId xmlns:a16="http://schemas.microsoft.com/office/drawing/2014/main" id="{91C5457B-C152-C130-B252-4E30BA02FBDF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 descr="A blue and yellow diamond with a star on it&#10;&#10;AI-generated content may be incorrect.">
            <a:extLst>
              <a:ext uri="{FF2B5EF4-FFF2-40B4-BE49-F238E27FC236}">
                <a16:creationId xmlns:a16="http://schemas.microsoft.com/office/drawing/2014/main" id="{781FCE29-48B5-17C9-E5B3-5F6FDCC1E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9915" y="133349"/>
            <a:ext cx="1956220" cy="137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499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DC8233D8-7CE6-3040-A583-B424DEA90C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FC6D8A-FA2C-B54F-B35B-8DFC9810C9AC}"/>
              </a:ext>
            </a:extLst>
          </p:cNvPr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1B2A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43C047-B410-634B-9AD0-0B17B73EDCD0}"/>
              </a:ext>
            </a:extLst>
          </p:cNvPr>
          <p:cNvSpPr txBox="1"/>
          <p:nvPr/>
        </p:nvSpPr>
        <p:spPr>
          <a:xfrm>
            <a:off x="762000" y="1905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7AB5E8"/>
                </a:solidFill>
                <a:latin typeface="Calibri"/>
                <a:cs typeface="Calibri"/>
              </a:rPr>
              <a:t>What Turas Can Do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9E8EE64-A87D-4745-9389-EC091DB2CB05}"/>
              </a:ext>
            </a:extLst>
          </p:cNvPr>
          <p:cNvSpPr txBox="1"/>
          <p:nvPr/>
        </p:nvSpPr>
        <p:spPr>
          <a:xfrm>
            <a:off x="762000" y="5334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400" b="1">
                <a:solidFill>
                  <a:srgbClr val="FFFFFF"/>
                </a:solidFill>
                <a:latin typeface="Calibri"/>
                <a:cs typeface="Calibri"/>
              </a:rPr>
              <a:t>Analysis Modules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57FF6B-F539-1846-B74D-8D1A234B0100}"/>
              </a:ext>
            </a:extLst>
          </p:cNvPr>
          <p:cNvSpPr/>
          <p:nvPr/>
        </p:nvSpPr>
        <p:spPr>
          <a:xfrm>
            <a:off x="762000" y="1422400"/>
            <a:ext cx="1524000" cy="254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F070BF6-DB99-F543-899E-E29C4E3D1578}"/>
              </a:ext>
            </a:extLst>
          </p:cNvPr>
          <p:cNvSpPr/>
          <p:nvPr/>
        </p:nvSpPr>
        <p:spPr>
          <a:xfrm>
            <a:off x="762000" y="1574800"/>
            <a:ext cx="2603500" cy="1117600"/>
          </a:xfrm>
          <a:prstGeom prst="roundRect">
            <a:avLst/>
          </a:prstGeom>
          <a:solidFill>
            <a:srgbClr val="F0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3190C93-7907-B641-B8DD-EA779F0A213C}"/>
              </a:ext>
            </a:extLst>
          </p:cNvPr>
          <p:cNvSpPr/>
          <p:nvPr/>
        </p:nvSpPr>
        <p:spPr>
          <a:xfrm>
            <a:off x="3517900" y="1574800"/>
            <a:ext cx="2603500" cy="1117600"/>
          </a:xfrm>
          <a:prstGeom prst="roundRect">
            <a:avLst/>
          </a:prstGeom>
          <a:solidFill>
            <a:srgbClr val="F0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781D9EC-CFF0-3844-8E6C-D5412B0A3192}"/>
              </a:ext>
            </a:extLst>
          </p:cNvPr>
          <p:cNvSpPr/>
          <p:nvPr/>
        </p:nvSpPr>
        <p:spPr>
          <a:xfrm>
            <a:off x="6273800" y="1574800"/>
            <a:ext cx="2603500" cy="1117600"/>
          </a:xfrm>
          <a:prstGeom prst="roundRect">
            <a:avLst/>
          </a:prstGeom>
          <a:solidFill>
            <a:srgbClr val="F0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6F64443-D3D6-A849-881D-F8A1A1BCD391}"/>
              </a:ext>
            </a:extLst>
          </p:cNvPr>
          <p:cNvSpPr/>
          <p:nvPr/>
        </p:nvSpPr>
        <p:spPr>
          <a:xfrm>
            <a:off x="9029700" y="1574800"/>
            <a:ext cx="2603500" cy="1117600"/>
          </a:xfrm>
          <a:prstGeom prst="roundRect">
            <a:avLst/>
          </a:prstGeom>
          <a:solidFill>
            <a:srgbClr val="F0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FF58FC37-F053-2640-991A-B2F6CCE174BC}"/>
              </a:ext>
            </a:extLst>
          </p:cNvPr>
          <p:cNvSpPr/>
          <p:nvPr/>
        </p:nvSpPr>
        <p:spPr>
          <a:xfrm>
            <a:off x="762000" y="2794000"/>
            <a:ext cx="2603500" cy="1117600"/>
          </a:xfrm>
          <a:prstGeom prst="roundRect">
            <a:avLst/>
          </a:prstGeom>
          <a:solidFill>
            <a:srgbClr val="F0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3A7D42BE-E159-534A-95C2-3E080884706A}"/>
              </a:ext>
            </a:extLst>
          </p:cNvPr>
          <p:cNvSpPr/>
          <p:nvPr/>
        </p:nvSpPr>
        <p:spPr>
          <a:xfrm>
            <a:off x="3517900" y="2794000"/>
            <a:ext cx="2603500" cy="1117600"/>
          </a:xfrm>
          <a:prstGeom prst="roundRect">
            <a:avLst/>
          </a:prstGeom>
          <a:solidFill>
            <a:srgbClr val="F0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4D49E127-BDD0-1B43-86D8-FD5A40893B80}"/>
              </a:ext>
            </a:extLst>
          </p:cNvPr>
          <p:cNvSpPr/>
          <p:nvPr/>
        </p:nvSpPr>
        <p:spPr>
          <a:xfrm>
            <a:off x="6273800" y="2794000"/>
            <a:ext cx="2603500" cy="1117600"/>
          </a:xfrm>
          <a:prstGeom prst="roundRect">
            <a:avLst/>
          </a:prstGeom>
          <a:solidFill>
            <a:srgbClr val="F0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B9912827-55B8-954D-BAA4-4F76826FFD98}"/>
              </a:ext>
            </a:extLst>
          </p:cNvPr>
          <p:cNvSpPr/>
          <p:nvPr/>
        </p:nvSpPr>
        <p:spPr>
          <a:xfrm>
            <a:off x="9029700" y="2794000"/>
            <a:ext cx="2603500" cy="1117600"/>
          </a:xfrm>
          <a:prstGeom prst="roundRect">
            <a:avLst/>
          </a:prstGeom>
          <a:solidFill>
            <a:srgbClr val="F0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790DA2-E312-4C41-9213-1619638B3E3E}"/>
              </a:ext>
            </a:extLst>
          </p:cNvPr>
          <p:cNvSpPr txBox="1"/>
          <p:nvPr/>
        </p:nvSpPr>
        <p:spPr>
          <a:xfrm>
            <a:off x="889000" y="1651000"/>
            <a:ext cx="234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1B2A3D"/>
                </a:solidFill>
                <a:latin typeface="Calibri"/>
                <a:cs typeface="Calibri"/>
              </a:rPr>
              <a:t>Tabs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B6FA97-7E01-EB4C-A664-8D16277891A2}"/>
              </a:ext>
            </a:extLst>
          </p:cNvPr>
          <p:cNvSpPr txBox="1"/>
          <p:nvPr/>
        </p:nvSpPr>
        <p:spPr>
          <a:xfrm>
            <a:off x="889000" y="1955800"/>
            <a:ext cx="23495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555555"/>
                </a:solidFill>
                <a:latin typeface="Calibri"/>
                <a:cs typeface="Calibri"/>
              </a:rPr>
              <a:t>Automated crosstabs with frequency, column %, row %, significance testing &amp; weighting.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003FE3-9A4B-1743-983E-31C587F473B1}"/>
              </a:ext>
            </a:extLst>
          </p:cNvPr>
          <p:cNvSpPr txBox="1"/>
          <p:nvPr/>
        </p:nvSpPr>
        <p:spPr>
          <a:xfrm>
            <a:off x="3644900" y="1651000"/>
            <a:ext cx="234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1B2A3D"/>
                </a:solidFill>
                <a:latin typeface="Calibri"/>
                <a:cs typeface="Calibri"/>
              </a:rPr>
              <a:t>Tracker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D47FCD7-5CCC-C441-81B9-3168ECCF30F0}"/>
              </a:ext>
            </a:extLst>
          </p:cNvPr>
          <p:cNvSpPr txBox="1"/>
          <p:nvPr/>
        </p:nvSpPr>
        <p:spPr>
          <a:xfrm>
            <a:off x="3644900" y="1955800"/>
            <a:ext cx="23495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555555"/>
                </a:solidFill>
                <a:latin typeface="Calibri"/>
                <a:cs typeface="Calibri"/>
              </a:rPr>
              <a:t>Multi-wave trend analysis with significance testing and question mapping across waves.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51E0F9-85D5-BB46-96C2-0DBAA6E95C85}"/>
              </a:ext>
            </a:extLst>
          </p:cNvPr>
          <p:cNvSpPr txBox="1"/>
          <p:nvPr/>
        </p:nvSpPr>
        <p:spPr>
          <a:xfrm>
            <a:off x="6400800" y="1651000"/>
            <a:ext cx="234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1B2A3D"/>
                </a:solidFill>
                <a:latin typeface="Calibri"/>
                <a:cs typeface="Calibri"/>
              </a:rPr>
              <a:t>Key Driver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21EAE8-B1A8-AD42-B659-03CF9BBDB478}"/>
              </a:ext>
            </a:extLst>
          </p:cNvPr>
          <p:cNvSpPr txBox="1"/>
          <p:nvPr/>
        </p:nvSpPr>
        <p:spPr>
          <a:xfrm>
            <a:off x="6400800" y="1955800"/>
            <a:ext cx="23495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555555"/>
                </a:solidFill>
                <a:latin typeface="Calibri"/>
                <a:cs typeface="Calibri"/>
              </a:rPr>
              <a:t>Identifies factors with the strongest statistical relationship to key business outcomes.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9AE69A-C069-AB49-BFFE-90A9D60AC8A7}"/>
              </a:ext>
            </a:extLst>
          </p:cNvPr>
          <p:cNvSpPr txBox="1"/>
          <p:nvPr/>
        </p:nvSpPr>
        <p:spPr>
          <a:xfrm>
            <a:off x="9156700" y="1651000"/>
            <a:ext cx="234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1B2A3D"/>
                </a:solidFill>
                <a:latin typeface="Calibri"/>
                <a:cs typeface="Calibri"/>
              </a:rPr>
              <a:t>Key Driver (Cat.)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989C79-1E27-CB4D-8E36-D438D3355670}"/>
              </a:ext>
            </a:extLst>
          </p:cNvPr>
          <p:cNvSpPr txBox="1"/>
          <p:nvPr/>
        </p:nvSpPr>
        <p:spPr>
          <a:xfrm>
            <a:off x="9156700" y="1955800"/>
            <a:ext cx="23495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555555"/>
                </a:solidFill>
                <a:latin typeface="Calibri"/>
                <a:cs typeface="Calibri"/>
              </a:rPr>
              <a:t>Regression methods for categorical outcomes — purchase decisions, segments, or tiers.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AE5A11-65E8-4047-A2B8-2B13CA66730C}"/>
              </a:ext>
            </a:extLst>
          </p:cNvPr>
          <p:cNvSpPr txBox="1"/>
          <p:nvPr/>
        </p:nvSpPr>
        <p:spPr>
          <a:xfrm>
            <a:off x="889000" y="2870200"/>
            <a:ext cx="234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1B2A3D"/>
                </a:solidFill>
                <a:latin typeface="Calibri"/>
                <a:cs typeface="Calibri"/>
              </a:rPr>
              <a:t>Segment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41FE5B-4D9E-B945-8BCA-A1DDD336A85F}"/>
              </a:ext>
            </a:extLst>
          </p:cNvPr>
          <p:cNvSpPr txBox="1"/>
          <p:nvPr/>
        </p:nvSpPr>
        <p:spPr>
          <a:xfrm>
            <a:off x="889000" y="3175000"/>
            <a:ext cx="23495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555555"/>
                </a:solidFill>
                <a:latin typeface="Calibri"/>
                <a:cs typeface="Calibri"/>
              </a:rPr>
              <a:t>Statistical clustering to discover natural customer groups beyond broad averages.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82F090-30CF-AF4D-9458-44D4ECDAC31A}"/>
              </a:ext>
            </a:extLst>
          </p:cNvPr>
          <p:cNvSpPr txBox="1"/>
          <p:nvPr/>
        </p:nvSpPr>
        <p:spPr>
          <a:xfrm>
            <a:off x="3644900" y="2870200"/>
            <a:ext cx="234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1B2A3D"/>
                </a:solidFill>
                <a:latin typeface="Calibri"/>
                <a:cs typeface="Calibri"/>
              </a:rPr>
              <a:t>Conjoint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61BEF0A-1593-2743-AF66-78215481E6C2}"/>
              </a:ext>
            </a:extLst>
          </p:cNvPr>
          <p:cNvSpPr txBox="1"/>
          <p:nvPr/>
        </p:nvSpPr>
        <p:spPr>
          <a:xfrm>
            <a:off x="3644900" y="3175000"/>
            <a:ext cx="23495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555555"/>
                </a:solidFill>
                <a:latin typeface="Calibri"/>
                <a:cs typeface="Calibri"/>
              </a:rPr>
              <a:t>Discrete choice modelling with an Excel-based interactive market simulator.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19C3EF0-82D5-004D-9A17-2AFF25A97564}"/>
              </a:ext>
            </a:extLst>
          </p:cNvPr>
          <p:cNvSpPr txBox="1"/>
          <p:nvPr/>
        </p:nvSpPr>
        <p:spPr>
          <a:xfrm>
            <a:off x="6400800" y="2870200"/>
            <a:ext cx="234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1B2A3D"/>
                </a:solidFill>
                <a:latin typeface="Calibri"/>
                <a:cs typeface="Calibri"/>
              </a:rPr>
              <a:t>MaxDiff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ACBB32C-2E22-8A47-83E4-79C1EA177110}"/>
              </a:ext>
            </a:extLst>
          </p:cNvPr>
          <p:cNvSpPr txBox="1"/>
          <p:nvPr/>
        </p:nvSpPr>
        <p:spPr>
          <a:xfrm>
            <a:off x="6400800" y="3175000"/>
            <a:ext cx="23495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555555"/>
                </a:solidFill>
                <a:latin typeface="Calibri"/>
                <a:cs typeface="Calibri"/>
              </a:rPr>
              <a:t>Precise preference rankings from balanced best/worst item sets.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1EAE9E5-6F0C-8246-8FCF-09E439AB5914}"/>
              </a:ext>
            </a:extLst>
          </p:cNvPr>
          <p:cNvSpPr txBox="1"/>
          <p:nvPr/>
        </p:nvSpPr>
        <p:spPr>
          <a:xfrm>
            <a:off x="9156700" y="2870200"/>
            <a:ext cx="234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1B2A3D"/>
                </a:solidFill>
                <a:latin typeface="Calibri"/>
                <a:cs typeface="Calibri"/>
              </a:rPr>
              <a:t>Pricing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2D06395-3496-7343-A2ED-871DF34814A3}"/>
              </a:ext>
            </a:extLst>
          </p:cNvPr>
          <p:cNvSpPr txBox="1"/>
          <p:nvPr/>
        </p:nvSpPr>
        <p:spPr>
          <a:xfrm>
            <a:off x="9156700" y="3175000"/>
            <a:ext cx="23495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555555"/>
                </a:solidFill>
                <a:latin typeface="Calibri"/>
                <a:cs typeface="Calibri"/>
              </a:rPr>
              <a:t>Price sensitivity analysis using Van Westendorp &amp; Gabor-Granger models.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3C3CA275-5B10-E84F-BA78-7C50005E6DBC}"/>
              </a:ext>
            </a:extLst>
          </p:cNvPr>
          <p:cNvSpPr/>
          <p:nvPr/>
        </p:nvSpPr>
        <p:spPr>
          <a:xfrm>
            <a:off x="762000" y="4318000"/>
            <a:ext cx="10668000" cy="698500"/>
          </a:xfrm>
          <a:prstGeom prst="roundRect">
            <a:avLst/>
          </a:prstGeom>
          <a:solidFill>
            <a:srgbClr val="1B2A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85ADAF3-61C3-C541-9DDB-D07F886F79FE}"/>
              </a:ext>
            </a:extLst>
          </p:cNvPr>
          <p:cNvSpPr txBox="1"/>
          <p:nvPr/>
        </p:nvSpPr>
        <p:spPr>
          <a:xfrm>
            <a:off x="952500" y="43688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7AB5E8"/>
                </a:solidFill>
                <a:latin typeface="Calibri"/>
                <a:cs typeface="Calibri"/>
              </a:rPr>
              <a:t>Supporting Modules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A28D3C2-0AEF-9F43-A3A9-3276BF9C851D}"/>
              </a:ext>
            </a:extLst>
          </p:cNvPr>
          <p:cNvSpPr txBox="1"/>
          <p:nvPr/>
        </p:nvSpPr>
        <p:spPr>
          <a:xfrm>
            <a:off x="952500" y="4648200"/>
            <a:ext cx="10287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 dirty="0">
                <a:solidFill>
                  <a:srgbClr val="CCCCCC"/>
                </a:solidFill>
                <a:latin typeface="Calibri"/>
                <a:cs typeface="Calibri"/>
              </a:rPr>
              <a:t>Weighting — ensures data represents your target population  |  Confidence — rigorous validity testing beyond standard significance flags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7B49658-CD81-4F4A-BEE8-82A4157F8438}"/>
              </a:ext>
            </a:extLst>
          </p:cNvPr>
          <p:cNvSpPr txBox="1"/>
          <p:nvPr/>
        </p:nvSpPr>
        <p:spPr>
          <a:xfrm>
            <a:off x="762000" y="3969108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GB" sz="1200" i="1" dirty="0">
                <a:solidFill>
                  <a:srgbClr val="999999"/>
                </a:solidFill>
                <a:latin typeface="Calibri"/>
                <a:cs typeface="Calibri"/>
              </a:rPr>
              <a:t>Current operational modules (with more in development)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769B0F3-4AA1-444C-9A47-8B57023619BB}"/>
              </a:ext>
            </a:extLst>
          </p:cNvPr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A58C9D-15F4-854C-B25E-D94CE378247F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03627-5B54-92CC-23C0-1719AE2C4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685800"/>
          </a:xfrm>
        </p:spPr>
        <p:txBody>
          <a:bodyPr lIns="0" tIns="0" rIns="0" bIns="0" anchor="b">
            <a:normAutofit/>
          </a:bodyPr>
          <a:lstStyle/>
          <a:p>
            <a:pPr algn="l"/>
            <a:r>
              <a:rPr lang="en-GB" sz="2800" b="1" dirty="0">
                <a:solidFill>
                  <a:srgbClr val="1B2A3D"/>
                </a:solidFill>
                <a:latin typeface="Calibri"/>
              </a:rPr>
              <a:t>Overall satisfaction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823819-EFD8-54A8-CBEE-F41AD6A893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066800"/>
            <a:ext cx="11277600" cy="5638800"/>
          </a:xfrm>
        </p:spPr>
      </p:pic>
      <p:cxnSp>
        <p:nvCxnSpPr>
          <p:cNvPr id="20" name="AccentLine"/>
          <p:cNvCxnSpPr/>
          <p:nvPr/>
        </p:nvCxnSpPr>
        <p:spPr>
          <a:xfrm>
            <a:off x="609600" y="914400"/>
            <a:ext cx="1828800" cy="0"/>
          </a:xfrm>
          <a:prstGeom prst="line">
            <a:avLst/>
          </a:prstGeom>
          <a:ln w="38100">
            <a:solidFill>
              <a:srgbClr val="4A90D9"/>
            </a:solidFill>
          </a:ln>
        </p:spPr>
      </p:cxnSp>
      <p:sp>
        <p:nvSpPr>
          <p:cNvPr id="21" name="Top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476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F0344-D7B7-E3E4-2063-A2FF09438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685800"/>
          </a:xfrm>
        </p:spPr>
        <p:txBody>
          <a:bodyPr lIns="0" tIns="0" rIns="0" bIns="0" anchor="b">
            <a:normAutofit/>
          </a:bodyPr>
          <a:lstStyle/>
          <a:p>
            <a:pPr algn="l"/>
            <a:r>
              <a:rPr lang="en-GB" sz="2800" b="1" dirty="0">
                <a:solidFill>
                  <a:srgbClr val="1B2A3D"/>
                </a:solidFill>
                <a:latin typeface="Calibri"/>
              </a:rPr>
              <a:t>Age by region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105FF194-763A-3264-0F85-7F293E0C6C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066800"/>
            <a:ext cx="11277600" cy="5638800"/>
          </a:xfrm>
        </p:spPr>
      </p:pic>
      <p:cxnSp>
        <p:nvCxnSpPr>
          <p:cNvPr id="20" name="AccentLine"/>
          <p:cNvCxnSpPr/>
          <p:nvPr/>
        </p:nvCxnSpPr>
        <p:spPr>
          <a:xfrm>
            <a:off x="609600" y="914400"/>
            <a:ext cx="1828800" cy="0"/>
          </a:xfrm>
          <a:prstGeom prst="line">
            <a:avLst/>
          </a:prstGeom>
          <a:ln w="38100">
            <a:solidFill>
              <a:srgbClr val="4A90D9"/>
            </a:solidFill>
          </a:ln>
        </p:spPr>
      </p:cxnSp>
      <p:sp>
        <p:nvSpPr>
          <p:cNvPr id="21" name="Top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61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58476-1AE8-31CE-0D75-A7574802B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685800"/>
          </a:xfrm>
        </p:spPr>
        <p:txBody>
          <a:bodyPr lIns="0" tIns="0" rIns="0" bIns="0" anchor="b">
            <a:normAutofit/>
          </a:bodyPr>
          <a:lstStyle/>
          <a:p>
            <a:pPr algn="l"/>
            <a:r>
              <a:rPr lang="en-GB" sz="2800" b="1" dirty="0">
                <a:solidFill>
                  <a:srgbClr val="1B2A3D"/>
                </a:solidFill>
                <a:latin typeface="Calibri"/>
              </a:rPr>
              <a:t>What is driving satisfaction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8D2BCE-A4A7-9E32-3529-2E4133AC81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066800"/>
            <a:ext cx="11277600" cy="5638800"/>
          </a:xfrm>
        </p:spPr>
      </p:pic>
      <p:cxnSp>
        <p:nvCxnSpPr>
          <p:cNvPr id="20" name="AccentLine"/>
          <p:cNvCxnSpPr/>
          <p:nvPr/>
        </p:nvCxnSpPr>
        <p:spPr>
          <a:xfrm>
            <a:off x="609600" y="914400"/>
            <a:ext cx="1828800" cy="0"/>
          </a:xfrm>
          <a:prstGeom prst="line">
            <a:avLst/>
          </a:prstGeom>
          <a:ln w="38100">
            <a:solidFill>
              <a:srgbClr val="4A90D9"/>
            </a:solidFill>
          </a:ln>
        </p:spPr>
      </p:cxnSp>
      <p:sp>
        <p:nvSpPr>
          <p:cNvPr id="21" name="Top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679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8321B-5570-74FC-E35A-129FF3F47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685800"/>
          </a:xfrm>
        </p:spPr>
        <p:txBody>
          <a:bodyPr lIns="0" tIns="0" rIns="0" bIns="0" anchor="b">
            <a:normAutofit/>
          </a:bodyPr>
          <a:lstStyle/>
          <a:p>
            <a:pPr algn="l"/>
            <a:r>
              <a:rPr lang="en-GB" sz="2400" b="1" dirty="0">
                <a:solidFill>
                  <a:srgbClr val="1B2A3D"/>
                </a:solidFill>
                <a:latin typeface="Calibri"/>
              </a:rPr>
              <a:t>The older you are the higher the chances of satisfaction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975E0A76-F89C-BD26-F9F5-14BB0431B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066800"/>
            <a:ext cx="11277600" cy="5638800"/>
          </a:xfrm>
        </p:spPr>
      </p:pic>
      <p:cxnSp>
        <p:nvCxnSpPr>
          <p:cNvPr id="20" name="AccentLine"/>
          <p:cNvCxnSpPr/>
          <p:nvPr/>
        </p:nvCxnSpPr>
        <p:spPr>
          <a:xfrm>
            <a:off x="609600" y="914400"/>
            <a:ext cx="1828800" cy="0"/>
          </a:xfrm>
          <a:prstGeom prst="line">
            <a:avLst/>
          </a:prstGeom>
          <a:ln w="38100">
            <a:solidFill>
              <a:srgbClr val="4A90D9"/>
            </a:solidFill>
          </a:ln>
        </p:spPr>
      </p:cxnSp>
      <p:sp>
        <p:nvSpPr>
          <p:cNvPr id="21" name="Top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26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41D50-A656-AA12-BCE4-0B63EA6B4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685800"/>
          </a:xfrm>
        </p:spPr>
        <p:txBody>
          <a:bodyPr lIns="0" tIns="0" rIns="0" bIns="0" anchor="b">
            <a:normAutofit/>
          </a:bodyPr>
          <a:lstStyle/>
          <a:p>
            <a:pPr algn="l"/>
            <a:r>
              <a:rPr lang="en-GB" sz="2800" b="1" dirty="0">
                <a:solidFill>
                  <a:srgbClr val="1B2A3D"/>
                </a:solidFill>
                <a:latin typeface="Calibri"/>
              </a:rPr>
              <a:t>Cross wave comparison</a:t>
            </a:r>
          </a:p>
        </p:txBody>
      </p:sp>
      <p:pic>
        <p:nvPicPr>
          <p:cNvPr id="9" name="Content Placeholder 8" descr="A graph on a computer screen&#10;&#10;AI-generated content may be incorrect.">
            <a:extLst>
              <a:ext uri="{FF2B5EF4-FFF2-40B4-BE49-F238E27FC236}">
                <a16:creationId xmlns:a16="http://schemas.microsoft.com/office/drawing/2014/main" id="{1212E547-028A-E5FD-29F3-491EAAA13F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066800"/>
            <a:ext cx="11277600" cy="5638800"/>
          </a:xfrm>
        </p:spPr>
      </p:pic>
      <p:cxnSp>
        <p:nvCxnSpPr>
          <p:cNvPr id="20" name="AccentLine"/>
          <p:cNvCxnSpPr/>
          <p:nvPr/>
        </p:nvCxnSpPr>
        <p:spPr>
          <a:xfrm>
            <a:off x="609600" y="914400"/>
            <a:ext cx="1828800" cy="0"/>
          </a:xfrm>
          <a:prstGeom prst="line">
            <a:avLst/>
          </a:prstGeom>
          <a:ln w="38100">
            <a:solidFill>
              <a:srgbClr val="4A90D9"/>
            </a:solidFill>
          </a:ln>
        </p:spPr>
      </p:cxnSp>
      <p:sp>
        <p:nvSpPr>
          <p:cNvPr id="21" name="Top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061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FB6B47-D3CA-316F-5961-3925B3456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2D936-2845-D175-D7B8-E9FA08B95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685800"/>
          </a:xfrm>
        </p:spPr>
        <p:txBody>
          <a:bodyPr lIns="0" tIns="0" rIns="0" bIns="0" anchor="b">
            <a:normAutofit/>
          </a:bodyPr>
          <a:lstStyle/>
          <a:p>
            <a:pPr algn="l"/>
            <a:r>
              <a:rPr lang="en-GB" sz="2800" b="1" dirty="0">
                <a:solidFill>
                  <a:srgbClr val="1B2A3D"/>
                </a:solidFill>
                <a:latin typeface="Calibri"/>
              </a:rPr>
              <a:t>Importance performance maps</a:t>
            </a:r>
          </a:p>
        </p:txBody>
      </p:sp>
      <p:cxnSp>
        <p:nvCxnSpPr>
          <p:cNvPr id="20" name="AccentLine">
            <a:extLst>
              <a:ext uri="{FF2B5EF4-FFF2-40B4-BE49-F238E27FC236}">
                <a16:creationId xmlns:a16="http://schemas.microsoft.com/office/drawing/2014/main" id="{C0A8309F-8240-07B6-4CE8-7EF79987B872}"/>
              </a:ext>
            </a:extLst>
          </p:cNvPr>
          <p:cNvCxnSpPr/>
          <p:nvPr/>
        </p:nvCxnSpPr>
        <p:spPr>
          <a:xfrm>
            <a:off x="609600" y="914400"/>
            <a:ext cx="1828800" cy="0"/>
          </a:xfrm>
          <a:prstGeom prst="line">
            <a:avLst/>
          </a:prstGeom>
          <a:ln w="38100">
            <a:solidFill>
              <a:srgbClr val="4A90D9"/>
            </a:solidFill>
          </a:ln>
        </p:spPr>
      </p:cxnSp>
      <p:sp>
        <p:nvSpPr>
          <p:cNvPr id="21" name="TopBar">
            <a:extLst>
              <a:ext uri="{FF2B5EF4-FFF2-40B4-BE49-F238E27FC236}">
                <a16:creationId xmlns:a16="http://schemas.microsoft.com/office/drawing/2014/main" id="{AF5923D6-6734-ADFE-534F-12412D068CC4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607900-133F-A11C-EA44-AFA3A1255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73" y="1021760"/>
            <a:ext cx="10157255" cy="571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4583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BB73C2-984A-1002-FE45-A7C025C5D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river running through a desert&#10;&#10;AI-generated content may be incorrect.">
            <a:extLst>
              <a:ext uri="{FF2B5EF4-FFF2-40B4-BE49-F238E27FC236}">
                <a16:creationId xmlns:a16="http://schemas.microsoft.com/office/drawing/2014/main" id="{A55FEB41-169C-DFC5-EB93-338C6BA9F2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52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0BE1BAC-96C3-C8CF-ED64-C974FC309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1B2A3D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F47B31-E80B-CFB2-3348-A12A4FF76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50" y="4572000"/>
            <a:ext cx="10972800" cy="91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5F2B7A-D8CB-F866-092D-EE32CD45B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2000" y="4495800"/>
            <a:ext cx="1828800" cy="0"/>
          </a:xfrm>
          <a:prstGeom prst="line">
            <a:avLst/>
          </a:prstGeom>
          <a:ln w="38100">
            <a:solidFill>
              <a:srgbClr val="4A90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opAccentBar">
            <a:extLst>
              <a:ext uri="{FF2B5EF4-FFF2-40B4-BE49-F238E27FC236}">
                <a16:creationId xmlns:a16="http://schemas.microsoft.com/office/drawing/2014/main" id="{F6F75ACC-389C-4142-A542-20537875AC35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 descr="A blue and yellow diamond with a star on it&#10;&#10;AI-generated content may be incorrect.">
            <a:extLst>
              <a:ext uri="{FF2B5EF4-FFF2-40B4-BE49-F238E27FC236}">
                <a16:creationId xmlns:a16="http://schemas.microsoft.com/office/drawing/2014/main" id="{74E43171-CBB9-5BD6-00E5-1F8096AB6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099" y="193672"/>
            <a:ext cx="1792312" cy="12626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29F7A2-D2DD-22B2-51D0-CB66BC8ABA07}"/>
              </a:ext>
            </a:extLst>
          </p:cNvPr>
          <p:cNvSpPr txBox="1"/>
          <p:nvPr/>
        </p:nvSpPr>
        <p:spPr>
          <a:xfrm>
            <a:off x="714500" y="5261427"/>
            <a:ext cx="762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dirty="0">
                <a:solidFill>
                  <a:srgbClr val="7AB5E8"/>
                </a:solidFill>
                <a:latin typeface="Calibri"/>
                <a:cs typeface="Calibri"/>
              </a:rPr>
              <a:t>Reproducible research analysis, delivered.</a:t>
            </a:r>
          </a:p>
        </p:txBody>
      </p:sp>
    </p:spTree>
    <p:extLst>
      <p:ext uri="{BB962C8B-B14F-4D97-AF65-F5344CB8AC3E}">
        <p14:creationId xmlns:p14="http://schemas.microsoft.com/office/powerpoint/2010/main" val="3703074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5074CAE-08C3-3B4F-8C27-CA6529B72A4E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20222</TotalTime>
  <Words>1268</Words>
  <Application>Microsoft Macintosh PowerPoint</Application>
  <PresentationFormat>Widescreen</PresentationFormat>
  <Paragraphs>107</Paragraphs>
  <Slides>21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Calibri Light</vt:lpstr>
      <vt:lpstr>Office Theme</vt:lpstr>
      <vt:lpstr>Turas Analytics Engine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Sample Slides from Turas Demonstrating report pin outputs</vt:lpstr>
      <vt:lpstr>PowerPoint Presentation</vt:lpstr>
      <vt:lpstr>Overall satisfaction</vt:lpstr>
      <vt:lpstr>Age by region</vt:lpstr>
      <vt:lpstr>What is driving satisfaction</vt:lpstr>
      <vt:lpstr>The older you are the higher the chances of satisfaction</vt:lpstr>
      <vt:lpstr>Cross wave comparison</vt:lpstr>
      <vt:lpstr>Importance performance maps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Duncan Brett</dc:creator>
  <cp:lastModifiedBy>Duncan Brett</cp:lastModifiedBy>
  <cp:revision>14</cp:revision>
  <dcterms:created xsi:type="dcterms:W3CDTF">2026-02-19T04:31:59Z</dcterms:created>
  <dcterms:modified xsi:type="dcterms:W3CDTF">2026-03-16T12:48:47Z</dcterms:modified>
</cp:coreProperties>
</file>