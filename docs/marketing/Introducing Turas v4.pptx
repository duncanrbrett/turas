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21"/>
  </p:notesMasterIdLst>
  <p:sldIdLst>
    <p:sldId id="296" r:id="rId3"/>
    <p:sldId id="332" r:id="rId4"/>
    <p:sldId id="347" r:id="rId5"/>
    <p:sldId id="323" r:id="rId6"/>
    <p:sldId id="334" r:id="rId7"/>
    <p:sldId id="325" r:id="rId8"/>
    <p:sldId id="349" r:id="rId9"/>
    <p:sldId id="350" r:id="rId10"/>
    <p:sldId id="352" r:id="rId11"/>
    <p:sldId id="329" r:id="rId12"/>
    <p:sldId id="348" r:id="rId13"/>
    <p:sldId id="336" r:id="rId14"/>
    <p:sldId id="341" r:id="rId15"/>
    <p:sldId id="342" r:id="rId16"/>
    <p:sldId id="343" r:id="rId17"/>
    <p:sldId id="344" r:id="rId18"/>
    <p:sldId id="331" r:id="rId19"/>
    <p:sldId id="34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032"/>
    <p:restoredTop sz="94694"/>
  </p:normalViewPr>
  <p:slideViewPr>
    <p:cSldViewPr snapToGrid="0">
      <p:cViewPr varScale="1">
        <p:scale>
          <a:sx n="105" d="100"/>
          <a:sy n="105" d="100"/>
        </p:scale>
        <p:origin x="224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2293FD-1E42-1447-A1A4-389C6E1A364E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979EB0-E91F-CC45-B59B-1976BB608C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880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44EC-6A7D-931C-DE0A-5051B0AC6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848EE9-E7C3-C861-9D75-AB6794F86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52B195-3C0A-E457-B45B-C24CC4348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9A4FD-8110-D206-1A57-C94067709A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9986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36A1-3252-7524-EF6D-B65CC56F4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B8C300-CEB1-BE49-17BB-3D7246DBA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93F0B1-19CA-4006-0C5F-BB1638FE4A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D8746-F672-BC34-7B73-191FC5E288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0102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8D90E-926D-0C5A-B805-7C4137FBE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2ACBC-55B3-6EF1-2CF1-BFE6145806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4504D-9955-D2A0-6B8A-D516A6AF3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EB43F3-1950-F295-4B4B-D44EC33E16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8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CCF3F-DCF7-92CC-FE95-E72408B15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7DB6B3-7EC2-068F-9337-3710A4975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57E02F-25FA-B963-6E53-D7C85B3A6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DB3AE-20EB-7E46-2D6A-196349C350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1436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3B7AF-1BA3-8D3A-BFA6-0F9AADE3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B84E1D-3237-2519-5CA7-593DE8809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4DB51D-7DE8-B175-87D1-2A3803957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71879D-652A-7ECA-E1DD-11F20B7C17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5452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252CA-D568-8BC3-7168-43AB1AFA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DBDD3-4294-8680-400A-3988E7319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E0BF83-78C5-15EC-35B7-5508B23D4B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4193EA-6DB0-923F-AA4E-A85B5FF772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4926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D55F5-6293-367B-FF10-877BC94C6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52145A-2FAC-738A-FEC1-34474778C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BCDAAE-6FA6-D039-E696-D1D2C3104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639F5-B3B5-2A94-FF14-DB09CDDE83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7170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35824-0373-163D-6D04-48D897FAC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49938-CA5B-9BF8-FCD4-068411B67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40C98-E9E0-8D19-86DE-E2F785B6C1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B9D393-273E-B1F9-92D2-E73E8E166D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747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8224B-6EF3-FB65-642C-3649B80EC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71D155-AEA9-51F0-C000-DCCD756BEF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D2051-9DA1-F6DC-1476-0E21952F3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E3D9A-D843-4CEC-2410-07B1AED06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4FB17-3E1F-8FF4-BBB8-E683249FF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570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F18C7-9E75-9D92-31F2-64EDD3BE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98666-7F89-0798-7812-610A4F273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7C2C5-C454-2E44-38B1-E7F97A07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D9A58-720B-AE5D-9E1F-D8808B243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4908A-4C3E-704D-411B-F0CD4E098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540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4E906-C1C1-4EF6-7F2D-FFF9DF3B6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2797-315D-8EE6-C317-089F02FB4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A4D23-4766-D947-8E13-D72E4400A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9D983-C6D2-2775-BED1-AB2853F66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4EC42-0B0E-39A1-50DE-3B1AFCCC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7260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7BCBA-3BEB-431C-17BD-19C9153D5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98E8D-625D-EAC1-774F-462A9149E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3ACD29-E934-5075-51FC-3CA037F35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F2AF-2519-7E5C-14CC-653BF642F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F2499-3386-BAA4-89FD-C5518E56A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6CE1E-3792-37BE-9C0E-A1F30EF25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4436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7724B-AC52-4D87-E0F0-AC0E639B8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29756C-D8D1-FD84-9F82-A61C0D1D98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2A09C-AFD1-60C2-942E-087A141C0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4B2655-4B3E-3F34-5271-D2705E2F49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DC732A-EC0E-C1B7-0D1B-6D77F502D2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7AD936-90F1-771D-269B-23346EE74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C1F7F5-A645-2EE6-B2C1-7B17D9D26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750C74-AB81-09A8-99FE-B028507D0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955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997B8-D818-36E1-17E5-61AED5982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617C6F-0965-4F12-1862-DA26B6AC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7010F1-22C2-E0E6-9B49-8F87FCE21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713D6-E479-A889-8B1B-6000E684C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2950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58E932-1BA6-3386-AEA3-A5AE7A3A9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6769CC-B4A8-AA5D-8871-EB3A766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8A79D-8172-05C7-07D8-6E33DECA7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0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78ED1-37E4-AB65-D83A-642E064B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CA085-F7A4-CF30-6421-4A0339785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500EE-C98B-2FAD-3FD5-6A1F895D9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CB8969-B390-0B69-774D-400643991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968E3B-53BE-1306-5834-43582A164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B016D2-7099-9486-09F5-905198C94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825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C9AD3-736A-C5CE-C8C9-7194B4F6B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255B36-E0B0-3AE1-B7EB-06261E144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AEC956-F5BC-ABE1-82BE-7D6328C070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7E8FC-FD61-682B-8415-F71F33E3E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0E4F1-9ABB-0B4A-DF54-0BB981682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E5837-52F4-5104-B068-1E6B5F0A0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0709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F308-83E3-ABAD-FFDB-FA5F72A55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CCF83-895E-4A51-43F2-EDAC00656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A23F1-2C23-5FA5-E90F-175731A0F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112B3-D368-CCEB-A920-C84E30BA9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79D1A-4434-E69D-87A5-2812CAE9D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7673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0797A4-1152-2907-E754-BF746F8667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4B2B39-B627-ACFB-BBCC-1B76B931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D7629-44A8-D468-332A-9B12B70C3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6E56C-8290-7B51-6B46-9AEC50986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AAEA3E-52AE-207A-7EF6-C8E7F7FF9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1308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54274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8224B-6EF3-FB65-642C-3649B80EC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71D155-AEA9-51F0-C000-DCCD756BEF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D2051-9DA1-F6DC-1476-0E21952F3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E3D9A-D843-4CEC-2410-07B1AED06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4FB17-3E1F-8FF4-BBB8-E683249FF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5708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F18C7-9E75-9D92-31F2-64EDD3BE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98666-7F89-0798-7812-610A4F273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7C2C5-C454-2E44-38B1-E7F97A07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D9A58-720B-AE5D-9E1F-D8808B243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4908A-4C3E-704D-411B-F0CD4E098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54049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4E906-C1C1-4EF6-7F2D-FFF9DF3B6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2797-315D-8EE6-C317-089F02FB4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A4D23-4766-D947-8E13-D72E4400A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9D983-C6D2-2775-BED1-AB2853F66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4EC42-0B0E-39A1-50DE-3B1AFCCC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72606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7BCBA-3BEB-431C-17BD-19C9153D5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98E8D-625D-EAC1-774F-462A9149E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3ACD29-E934-5075-51FC-3CA037F35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F2AF-2519-7E5C-14CC-653BF642F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F2499-3386-BAA4-89FD-C5518E56A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6CE1E-3792-37BE-9C0E-A1F30EF25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44360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7724B-AC52-4D87-E0F0-AC0E639B8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29756C-D8D1-FD84-9F82-A61C0D1D98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2A09C-AFD1-60C2-942E-087A141C0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4B2655-4B3E-3F34-5271-D2705E2F49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DC732A-EC0E-C1B7-0D1B-6D77F502D2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7AD936-90F1-771D-269B-23346EE74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C1F7F5-A645-2EE6-B2C1-7B17D9D26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750C74-AB81-09A8-99FE-B028507D0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95546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997B8-D818-36E1-17E5-61AED5982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617C6F-0965-4F12-1862-DA26B6AC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7010F1-22C2-E0E6-9B49-8F87FCE21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713D6-E479-A889-8B1B-6000E684C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29505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58E932-1BA6-3386-AEA3-A5AE7A3A9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6769CC-B4A8-AA5D-8871-EB3A766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8A79D-8172-05C7-07D8-6E33DECA7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031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78ED1-37E4-AB65-D83A-642E064B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CA085-F7A4-CF30-6421-4A0339785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500EE-C98B-2FAD-3FD5-6A1F895D9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CB8969-B390-0B69-774D-400643991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968E3B-53BE-1306-5834-43582A164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B016D2-7099-9486-09F5-905198C94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82551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C9AD3-736A-C5CE-C8C9-7194B4F6B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255B36-E0B0-3AE1-B7EB-06261E144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AEC956-F5BC-ABE1-82BE-7D6328C070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7E8FC-FD61-682B-8415-F71F33E3E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0E4F1-9ABB-0B4A-DF54-0BB981682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E5837-52F4-5104-B068-1E6B5F0A0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07097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F308-83E3-ABAD-FFDB-FA5F72A55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CCF83-895E-4A51-43F2-EDAC00656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A23F1-2C23-5FA5-E90F-175731A0F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112B3-D368-CCEB-A920-C84E30BA9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79D1A-4434-E69D-87A5-2812CAE9D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767325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0797A4-1152-2907-E754-BF746F8667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4B2B39-B627-ACFB-BBCC-1B76B931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D7629-44A8-D468-332A-9B12B70C3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6E56C-8290-7B51-6B46-9AEC50986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AAEA3E-52AE-207A-7EF6-C8E7F7FF9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13080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5427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5E75CF-E691-D86D-EE33-3FA33FB00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BC6B1-28E7-7B11-4C95-FE3A13652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16F65-897A-0723-626B-C13FB4DC21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A5A3C-601B-7ED7-A730-692B2721BB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7D9B1-3852-47E6-64E4-68AC332A58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699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5E75CF-E691-D86D-EE33-3FA33FB00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BC6B1-28E7-7B11-4C95-FE3A13652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16F65-897A-0723-626B-C13FB4DC21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883654-0045-5F4C-BD43-6C918E968447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A5A3C-601B-7ED7-A730-692B2721BB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7D9B1-3852-47E6-64E4-68AC332A58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7AFBAB-DCF6-AB44-A865-ED35659D11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699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iver running through a desert&#10;&#10;AI-generated content may be incorrect.">
            <a:extLst>
              <a:ext uri="{FF2B5EF4-FFF2-40B4-BE49-F238E27FC236}">
                <a16:creationId xmlns:a16="http://schemas.microsoft.com/office/drawing/2014/main" id="{42107E63-9AE6-455E-83EE-4B213E6CB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52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114800"/>
            <a:ext cx="12192000" cy="2743200"/>
          </a:xfrm>
          <a:prstGeom prst="rect">
            <a:avLst/>
          </a:prstGeom>
          <a:solidFill>
            <a:srgbClr val="1B2A3D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C3F1A-6632-A2DB-45B5-73CE46A1B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0"/>
            <a:ext cx="10972800" cy="914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Calibri"/>
              </a:rPr>
              <a:t>Turas Analytics Engine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62000" y="4495800"/>
            <a:ext cx="1828800" cy="0"/>
          </a:xfrm>
          <a:prstGeom prst="line">
            <a:avLst/>
          </a:prstGeom>
          <a:ln w="38100">
            <a:solidFill>
              <a:srgbClr val="4A90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opAccentBar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4" name="Picture 3" descr="A blue and yellow diamond with a star on it&#10;&#10;AI-generated content may be incorrect.">
            <a:extLst>
              <a:ext uri="{FF2B5EF4-FFF2-40B4-BE49-F238E27FC236}">
                <a16:creationId xmlns:a16="http://schemas.microsoft.com/office/drawing/2014/main" id="{7A0B7A84-EAF0-A86E-8F4A-2A0E437BA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099" y="193672"/>
            <a:ext cx="1792312" cy="1262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969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" name="Heade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286000" cy="2794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WHAT IS TURAS?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Research Should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Work Harder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01</a:t>
            </a:r>
          </a:p>
        </p:txBody>
      </p:sp>
      <p:sp>
        <p:nvSpPr>
          <p:cNvPr id="106" name="MidAcc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0" name="C0BG"/>
          <p:cNvSpPr/>
          <p:nvPr/>
        </p:nvSpPr>
        <p:spPr>
          <a:xfrm>
            <a:off x="762000" y="1968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1" name="C0Acc"/>
          <p:cNvSpPr/>
          <p:nvPr/>
        </p:nvSpPr>
        <p:spPr>
          <a:xfrm>
            <a:off x="762000" y="1968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2" name="C0Txt"/>
          <p:cNvSpPr/>
          <p:nvPr/>
        </p:nvSpPr>
        <p:spPr>
          <a:xfrm>
            <a:off x="1041400" y="2120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Good Data, Limited Life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You commission research and get a deck that answers the questions you asked at the time.</a:t>
            </a:r>
          </a:p>
        </p:txBody>
      </p:sp>
      <p:sp>
        <p:nvSpPr>
          <p:cNvPr id="113" name="C1BG"/>
          <p:cNvSpPr/>
          <p:nvPr/>
        </p:nvSpPr>
        <p:spPr>
          <a:xfrm>
            <a:off x="762000" y="34290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4" name="C1Acc"/>
          <p:cNvSpPr/>
          <p:nvPr/>
        </p:nvSpPr>
        <p:spPr>
          <a:xfrm>
            <a:off x="762000" y="34290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5" name="C1Txt"/>
          <p:cNvSpPr/>
          <p:nvPr/>
        </p:nvSpPr>
        <p:spPr>
          <a:xfrm>
            <a:off x="1041400" y="35814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New Questions, Old Process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new question surfaces, someone has to reopen the dataset and rebuild the analysis. That takes time and money.</a:t>
            </a:r>
          </a:p>
        </p:txBody>
      </p:sp>
      <p:sp>
        <p:nvSpPr>
          <p:cNvPr id="116" name="C2BG"/>
          <p:cNvSpPr/>
          <p:nvPr/>
        </p:nvSpPr>
        <p:spPr>
          <a:xfrm>
            <a:off x="762000" y="4889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7" name="C2Acc"/>
          <p:cNvSpPr/>
          <p:nvPr/>
        </p:nvSpPr>
        <p:spPr>
          <a:xfrm>
            <a:off x="762000" y="4889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8" name="C2Txt"/>
          <p:cNvSpPr/>
          <p:nvPr/>
        </p:nvSpPr>
        <p:spPr>
          <a:xfrm>
            <a:off x="1041400" y="5041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There Is a Better Way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Most research ends up as a presentation rather than a resource. Turas changes that.</a:t>
            </a:r>
          </a:p>
        </p:txBody>
      </p:sp>
      <p:sp>
        <p:nvSpPr>
          <p:cNvPr id="1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4697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540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WHY YOU CAN TRUST IT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Turas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Delivers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02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7" name="F0"/>
          <p:cNvSpPr/>
          <p:nvPr/>
        </p:nvSpPr>
        <p:spPr>
          <a:xfrm>
            <a:off x="762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08" name="FA0"/>
          <p:cNvSpPr/>
          <p:nvPr/>
        </p:nvSpPr>
        <p:spPr>
          <a:xfrm>
            <a:off x="914400" y="187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9" name="FT0"/>
          <p:cNvSpPr/>
          <p:nvPr/>
        </p:nvSpPr>
        <p:spPr>
          <a:xfrm>
            <a:off x="914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Interactive Analytics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An interactive resource your team can explore, share, and return to.</a:t>
            </a:r>
          </a:p>
        </p:txBody>
      </p:sp>
      <p:sp>
        <p:nvSpPr>
          <p:cNvPr id="110" name="F1"/>
          <p:cNvSpPr/>
          <p:nvPr/>
        </p:nvSpPr>
        <p:spPr>
          <a:xfrm>
            <a:off x="4445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1" name="FA1"/>
          <p:cNvSpPr/>
          <p:nvPr/>
        </p:nvSpPr>
        <p:spPr>
          <a:xfrm>
            <a:off x="4597400" y="1879600"/>
            <a:ext cx="5080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2" name="FT1"/>
          <p:cNvSpPr/>
          <p:nvPr/>
        </p:nvSpPr>
        <p:spPr>
          <a:xfrm>
            <a:off x="4597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Rigorous Statistics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Statistical analysis run directly from your data with full transparency.</a:t>
            </a:r>
          </a:p>
        </p:txBody>
      </p:sp>
      <p:sp>
        <p:nvSpPr>
          <p:cNvPr id="113" name="F2"/>
          <p:cNvSpPr/>
          <p:nvPr/>
        </p:nvSpPr>
        <p:spPr>
          <a:xfrm>
            <a:off x="8128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4" name="FA2"/>
          <p:cNvSpPr/>
          <p:nvPr/>
        </p:nvSpPr>
        <p:spPr>
          <a:xfrm>
            <a:off x="8280400" y="1879600"/>
            <a:ext cx="5080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5" name="FT2"/>
          <p:cNvSpPr/>
          <p:nvPr/>
        </p:nvSpPr>
        <p:spPr>
          <a:xfrm>
            <a:off x="8280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Permanent Record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One dataset. One report. Useful for as long as the data is relevant.</a:t>
            </a:r>
          </a:p>
        </p:txBody>
      </p:sp>
      <p:sp>
        <p:nvSpPr>
          <p:cNvPr id="116" name="F3"/>
          <p:cNvSpPr/>
          <p:nvPr/>
        </p:nvSpPr>
        <p:spPr>
          <a:xfrm>
            <a:off x="762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7" name="FA3"/>
          <p:cNvSpPr/>
          <p:nvPr/>
        </p:nvSpPr>
        <p:spPr>
          <a:xfrm>
            <a:off x="914400" y="3149600"/>
            <a:ext cx="508000" cy="381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8" name="FT3"/>
          <p:cNvSpPr/>
          <p:nvPr/>
        </p:nvSpPr>
        <p:spPr>
          <a:xfrm>
            <a:off x="914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Pay Per Project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No subscriptions. No licence costs. No installations. You pay per project.</a:t>
            </a:r>
          </a:p>
        </p:txBody>
      </p:sp>
      <p:sp>
        <p:nvSpPr>
          <p:cNvPr id="119" name="F4"/>
          <p:cNvSpPr/>
          <p:nvPr/>
        </p:nvSpPr>
        <p:spPr>
          <a:xfrm>
            <a:off x="6350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20" name="FA4"/>
          <p:cNvSpPr/>
          <p:nvPr/>
        </p:nvSpPr>
        <p:spPr>
          <a:xfrm>
            <a:off x="6502400" y="314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1" name="FT4"/>
          <p:cNvSpPr/>
          <p:nvPr/>
        </p:nvSpPr>
        <p:spPr>
          <a:xfrm>
            <a:off x="6502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Bring Your Own Data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Works with any survey dataset, whether fieldwork was commissioned through us or not. Have data sitting unused? We can breathe life into it.</a:t>
            </a:r>
          </a:p>
        </p:txBody>
      </p:sp>
      <p:sp>
        <p:nvSpPr>
          <p:cNvPr id="122" name="Quote"/>
          <p:cNvSpPr/>
          <p:nvPr/>
        </p:nvSpPr>
        <p:spPr>
          <a:xfrm>
            <a:off x="762000" y="45085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Five reasons to choose Turas — interactive, rigorous, permanent, affordable, and open to any dataset.</a:t>
            </a:r>
          </a:p>
        </p:txBody>
      </p:sp>
    </p:spTree>
    <p:extLst>
      <p:ext uri="{BB962C8B-B14F-4D97-AF65-F5344CB8AC3E}">
        <p14:creationId xmlns:p14="http://schemas.microsoft.com/office/powerpoint/2010/main" val="427254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>
                <a:solidFill>
                  <a:srgbClr val="FFFFFF"/>
                </a:solidFill>
                <a:latin typeface="Source Sans Pro"/>
              </a:rPr>
              <a:t>THE TECHNOLOGY</a:t>
            </a:r>
            <a:endParaRPr lang="en-GB" sz="900" b="1" dirty="0">
              <a:solidFill>
                <a:srgbClr val="FFFFFF"/>
              </a:solidFill>
              <a:latin typeface="Source Sans Pro"/>
            </a:endParaRP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Serious Statistical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Foundations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03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0" name="C0"/>
          <p:cNvSpPr/>
          <p:nvPr/>
        </p:nvSpPr>
        <p:spPr>
          <a:xfrm>
            <a:off x="762000" y="1968500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1" name="CT0"/>
          <p:cNvSpPr/>
          <p:nvPr/>
        </p:nvSpPr>
        <p:spPr>
          <a:xfrm>
            <a:off x="9525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Built on R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open-source statistical environment used by national statistics offices, central banks, and universities worldwide.</a:t>
            </a:r>
          </a:p>
        </p:txBody>
      </p:sp>
      <p:sp>
        <p:nvSpPr>
          <p:cNvPr id="112" name="C1"/>
          <p:cNvSpPr/>
          <p:nvPr/>
        </p:nvSpPr>
        <p:spPr>
          <a:xfrm>
            <a:off x="4495800" y="1968500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3" name="CT1"/>
          <p:cNvSpPr/>
          <p:nvPr/>
        </p:nvSpPr>
        <p:spPr>
          <a:xfrm>
            <a:off x="46863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Fully Transparent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calculation is inspectable. Methods can be examined and verified. Results trace back to underlying tables.</a:t>
            </a:r>
          </a:p>
        </p:txBody>
      </p:sp>
      <p:sp>
        <p:nvSpPr>
          <p:cNvPr id="114" name="C2"/>
          <p:cNvSpPr/>
          <p:nvPr/>
        </p:nvSpPr>
        <p:spPr>
          <a:xfrm>
            <a:off x="8229600" y="1968500"/>
            <a:ext cx="32004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5" name="CT2"/>
          <p:cNvSpPr/>
          <p:nvPr/>
        </p:nvSpPr>
        <p:spPr>
          <a:xfrm>
            <a:off x="8420100" y="2032000"/>
            <a:ext cx="28194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No Black Boxes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finding is challenged, you have a clean, traceable analytical record to stand behind.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795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Every result traces directly back to the underlying tables.</a:t>
            </a:r>
          </a:p>
          <a:p>
            <a:pPr algn="ctr"/>
            <a:r>
              <a:rPr lang="en-GB" sz="1400" dirty="0">
                <a:solidFill>
                  <a:srgbClr val="B8C9DB"/>
                </a:solidFill>
                <a:latin typeface="Source Sans Pro"/>
              </a:rPr>
              <a:t>Open, transparent.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49879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EEE78-897B-3BC8-594E-BF5981927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>
                <a:solidFill>
                  <a:srgbClr val="FFFFFF"/>
                </a:solidFill>
                <a:latin typeface="Source Sans Pro"/>
              </a:rPr>
              <a:t>THE SERVICE MODEL</a:t>
            </a:r>
            <a:endParaRPr lang="en-GB" sz="900" b="1" dirty="0">
              <a:solidFill>
                <a:srgbClr val="FFFFFF"/>
              </a:solidFill>
              <a:latin typeface="Source Sans Pro"/>
            </a:endParaRP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Professional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Oversight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04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7" name="KeyStat"/>
          <p:cNvSpPr/>
          <p:nvPr/>
        </p:nvSpPr>
        <p:spPr>
          <a:xfrm>
            <a:off x="762000" y="1879600"/>
            <a:ext cx="106680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800" i="1" dirty="0">
                <a:solidFill>
                  <a:srgbClr val="323367"/>
                </a:solidFill>
                <a:latin typeface="Source Sans Pro"/>
              </a:rPr>
              <a:t>Turas is not a self-service tool.</a:t>
            </a:r>
          </a:p>
        </p:txBody>
      </p:sp>
      <p:sp>
        <p:nvSpPr>
          <p:cNvPr id="110" name="PC0"/>
          <p:cNvSpPr/>
          <p:nvPr/>
        </p:nvSpPr>
        <p:spPr>
          <a:xfrm>
            <a:off x="762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1" name="PT0"/>
          <p:cNvSpPr/>
          <p:nvPr/>
        </p:nvSpPr>
        <p:spPr>
          <a:xfrm>
            <a:off x="952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SAMRA Accredited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Research </a:t>
            </a:r>
            <a:r>
              <a:rPr lang="en-GB" sz="1400" dirty="0" err="1">
                <a:solidFill>
                  <a:srgbClr val="4A5568"/>
                </a:solidFill>
                <a:latin typeface="Source Sans Pro"/>
              </a:rPr>
              <a:t>LampPost</a:t>
            </a:r>
            <a:r>
              <a:rPr lang="en-GB" sz="1400" dirty="0">
                <a:solidFill>
                  <a:srgbClr val="4A5568"/>
                </a:solidFill>
                <a:latin typeface="Source Sans Pro"/>
              </a:rPr>
              <a:t> are organisational members of the Southern African Marketing Research Association. Duncan Brett developed Turas and is a SAMRA-Accredited Researcher with 30+ years in quantitative market research.</a:t>
            </a:r>
          </a:p>
        </p:txBody>
      </p:sp>
      <p:sp>
        <p:nvSpPr>
          <p:cNvPr id="112" name="PC1"/>
          <p:cNvSpPr/>
          <p:nvPr/>
        </p:nvSpPr>
        <p:spPr>
          <a:xfrm>
            <a:off x="6350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3" name="PT1"/>
          <p:cNvSpPr/>
          <p:nvPr/>
        </p:nvSpPr>
        <p:spPr>
          <a:xfrm>
            <a:off x="6540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Guided End-to-End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project is guided from data preparation through to final output. The right methods are applied, data is structured correctly, and results are interpreted responsibly.</a:t>
            </a:r>
          </a:p>
        </p:txBody>
      </p:sp>
      <p:sp>
        <p:nvSpPr>
          <p:cNvPr id="140" name="Stat"/>
          <p:cNvSpPr/>
          <p:nvPr/>
        </p:nvSpPr>
        <p:spPr>
          <a:xfrm>
            <a:off x="762000" y="5270500"/>
            <a:ext cx="10668000" cy="889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2800" b="1" dirty="0">
                <a:solidFill>
                  <a:srgbClr val="CC9900"/>
                </a:solidFill>
                <a:latin typeface="Raleway"/>
              </a:rPr>
              <a:t>30+</a:t>
            </a:r>
            <a:r>
              <a:rPr lang="en-GB" sz="1600" dirty="0">
                <a:solidFill>
                  <a:srgbClr val="FFFFFF"/>
                </a:solidFill>
                <a:latin typeface="Source Sans Pro"/>
              </a:rPr>
              <a:t>  years of quantitative market research expertise behind every project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2050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A3EA-DD34-2924-6AC1-59B081801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>
                <a:solidFill>
                  <a:srgbClr val="FFFFFF"/>
                </a:solidFill>
                <a:latin typeface="Source Sans Pro"/>
              </a:rPr>
              <a:t>DATA SECURITY</a:t>
            </a:r>
            <a:endParaRPr lang="en-GB" sz="900" b="1" dirty="0">
              <a:solidFill>
                <a:srgbClr val="FFFFFF"/>
              </a:solidFill>
              <a:latin typeface="Source Sans Pro"/>
            </a:endParaRP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Stays With You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05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0" name="S0"/>
          <p:cNvSpPr/>
          <p:nvPr/>
        </p:nvSpPr>
        <p:spPr>
          <a:xfrm>
            <a:off x="990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1" name="ST0"/>
          <p:cNvSpPr/>
          <p:nvPr/>
        </p:nvSpPr>
        <p:spPr>
          <a:xfrm>
            <a:off x="1181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3E3E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Data Security</a:t>
            </a:r>
          </a:p>
          <a:p>
            <a:pPr algn="ctr">
              <a:spcAft>
                <a:spcPts val="4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Your data is analysed entirely on our own hardware — never processed by a third-party analytical platform or shared with an external service</a:t>
            </a:r>
          </a:p>
        </p:txBody>
      </p:sp>
      <p:sp>
        <p:nvSpPr>
          <p:cNvPr id="114" name="S2"/>
          <p:cNvSpPr/>
          <p:nvPr/>
        </p:nvSpPr>
        <p:spPr>
          <a:xfrm>
            <a:off x="6324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5" name="ST2"/>
          <p:cNvSpPr/>
          <p:nvPr/>
        </p:nvSpPr>
        <p:spPr>
          <a:xfrm>
            <a:off x="6515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Immutable Record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delivered report is finalised and self-contained — it cannot be altered after the fact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A stable record of exactly what the data showed at the time of analysis.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7501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A5059-55D3-C579-EF26-2ED538115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>
                <a:solidFill>
                  <a:srgbClr val="FFFFFF"/>
                </a:solidFill>
                <a:latin typeface="Source Sans Pro"/>
              </a:rPr>
              <a:t>SPEED &amp; RELIABILITY</a:t>
            </a:r>
            <a:endParaRPr lang="en-GB" sz="900" b="1" dirty="0">
              <a:solidFill>
                <a:srgbClr val="FFFFFF"/>
              </a:solidFill>
              <a:latin typeface="Source Sans Pro"/>
            </a:endParaRP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Fast, Consistent,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Dependable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06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7" name="Fast"/>
          <p:cNvSpPr/>
          <p:nvPr/>
        </p:nvSpPr>
        <p:spPr>
          <a:xfrm>
            <a:off x="762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CC9900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CC9900"/>
                </a:solidFill>
                <a:latin typeface="Raleway"/>
              </a:rPr>
              <a:t>1 Day*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Preliminary output once data is clean and formatted</a:t>
            </a:r>
          </a:p>
        </p:txBody>
      </p:sp>
      <p:sp>
        <p:nvSpPr>
          <p:cNvPr id="108" name="Slow"/>
          <p:cNvSpPr/>
          <p:nvPr/>
        </p:nvSpPr>
        <p:spPr>
          <a:xfrm>
            <a:off x="6223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3E3E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E53E3E"/>
                </a:solidFill>
                <a:latin typeface="Raleway"/>
              </a:rPr>
              <a:t>Weeks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Traditional analysis timeline</a:t>
            </a:r>
          </a:p>
        </p:txBody>
      </p:sp>
      <p:sp>
        <p:nvSpPr>
          <p:cNvPr id="109" name="Caveat"/>
          <p:cNvSpPr/>
          <p:nvPr/>
        </p:nvSpPr>
        <p:spPr>
          <a:xfrm>
            <a:off x="762000" y="3581400"/>
            <a:ext cx="1066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000" i="1" dirty="0">
                <a:solidFill>
                  <a:srgbClr val="94A3B8"/>
                </a:solidFill>
                <a:latin typeface="Source Sans Pro"/>
              </a:rPr>
              <a:t>*Post data cleaning. Actual turnaround depends on data layout and processing complexity.</a:t>
            </a:r>
          </a:p>
        </p:txBody>
      </p:sp>
      <p:sp>
        <p:nvSpPr>
          <p:cNvPr id="110" name="ConsBG"/>
          <p:cNvSpPr/>
          <p:nvPr/>
        </p:nvSpPr>
        <p:spPr>
          <a:xfrm>
            <a:off x="762000" y="3962400"/>
            <a:ext cx="5207000" cy="1270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1" name="ConsAcc"/>
          <p:cNvSpPr/>
          <p:nvPr/>
        </p:nvSpPr>
        <p:spPr>
          <a:xfrm>
            <a:off x="762000" y="3962400"/>
            <a:ext cx="63500" cy="1270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2" name="ConsTxt"/>
          <p:cNvSpPr/>
          <p:nvPr/>
        </p:nvSpPr>
        <p:spPr>
          <a:xfrm>
            <a:off x="1016000" y="4064000"/>
            <a:ext cx="47625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Built-in Consistency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Same methods, every time. For tracking studies, results stay comparable across waves.</a:t>
            </a:r>
          </a:p>
        </p:txBody>
      </p:sp>
      <p:sp>
        <p:nvSpPr>
          <p:cNvPr id="113" name="OldBG"/>
          <p:cNvSpPr/>
          <p:nvPr/>
        </p:nvSpPr>
        <p:spPr>
          <a:xfrm>
            <a:off x="6223000" y="3962400"/>
            <a:ext cx="5207000" cy="1270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4" name="OldAcc"/>
          <p:cNvSpPr/>
          <p:nvPr/>
        </p:nvSpPr>
        <p:spPr>
          <a:xfrm>
            <a:off x="6223000" y="3962400"/>
            <a:ext cx="63500" cy="12700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5" name="OldTxt"/>
          <p:cNvSpPr/>
          <p:nvPr/>
        </p:nvSpPr>
        <p:spPr>
          <a:xfrm>
            <a:off x="6477000" y="4064000"/>
            <a:ext cx="47625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Revive Old Surveys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Got old survey data gathering dust? We can re-run it through Turas and unlock insights you never extracted.</a:t>
            </a:r>
          </a:p>
        </p:txBody>
      </p:sp>
      <p:sp>
        <p:nvSpPr>
          <p:cNvPr id="116" name="Call"/>
          <p:cNvSpPr/>
          <p:nvPr/>
        </p:nvSpPr>
        <p:spPr>
          <a:xfrm>
            <a:off x="762000" y="5461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Controlled computational environment. Reproducible results. Every time.</a:t>
            </a:r>
          </a:p>
        </p:txBody>
      </p:sp>
    </p:spTree>
    <p:extLst>
      <p:ext uri="{BB962C8B-B14F-4D97-AF65-F5344CB8AC3E}">
        <p14:creationId xmlns:p14="http://schemas.microsoft.com/office/powerpoint/2010/main" val="3920869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2B5D-01DF-D3CD-3DFF-FEDA035C3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>
                <a:solidFill>
                  <a:srgbClr val="FFFFFF"/>
                </a:solidFill>
                <a:latin typeface="Source Sans Pro"/>
              </a:rPr>
              <a:t>THE DELIVERABLE</a:t>
            </a:r>
            <a:endParaRPr lang="en-GB" sz="900" b="1" dirty="0">
              <a:solidFill>
                <a:srgbClr val="FFFFFF"/>
              </a:solidFill>
              <a:latin typeface="Source Sans Pro"/>
            </a:endParaRP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07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4" name="Title"/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Alive</a:t>
            </a:r>
          </a:p>
        </p:txBody>
      </p:sp>
      <p:sp>
        <p:nvSpPr>
          <p:cNvPr id="2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6" name="Hero"/>
          <p:cNvSpPr/>
          <p:nvPr/>
        </p:nvSpPr>
        <p:spPr>
          <a:xfrm>
            <a:off x="762000" y="1841500"/>
            <a:ext cx="10668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A Turas report isn’t a flat file you scroll through. It’s an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interactive experience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 — intuitive enough for anyone on your team to explore with minimal training.</a:t>
            </a:r>
          </a:p>
        </p:txBody>
      </p:sp>
      <p:sp>
        <p:nvSpPr>
          <p:cNvPr id="107" name="StaticBG"/>
          <p:cNvSpPr/>
          <p:nvPr/>
        </p:nvSpPr>
        <p:spPr>
          <a:xfrm>
            <a:off x="762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5F5"/>
          </a:solidFill>
          <a:ln w="9525">
            <a:solidFill>
              <a:srgbClr val="FED7D7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08" name="StaticTxt"/>
          <p:cNvSpPr/>
          <p:nvPr/>
        </p:nvSpPr>
        <p:spPr>
          <a:xfrm>
            <a:off x="952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53030"/>
                </a:solidFill>
                <a:latin typeface="Raleway"/>
              </a:rPr>
              <a:t>Static PPT / PDF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Fixed views — what you see is all you get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New question? Ask the analyst, wait days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Sits on a shared drive, rarely reopened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One person’s interpretation, locked in</a:t>
            </a:r>
          </a:p>
        </p:txBody>
      </p:sp>
      <p:sp>
        <p:nvSpPr>
          <p:cNvPr id="109" name="TurasBG"/>
          <p:cNvSpPr/>
          <p:nvPr/>
        </p:nvSpPr>
        <p:spPr>
          <a:xfrm>
            <a:off x="6350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FF0"/>
          </a:solidFill>
          <a:ln w="9525">
            <a:solidFill>
              <a:srgbClr val="FEFCBF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0" name="TurasTxt"/>
          <p:cNvSpPr/>
          <p:nvPr/>
        </p:nvSpPr>
        <p:spPr>
          <a:xfrm>
            <a:off x="6540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C9900"/>
                </a:solidFill>
                <a:latin typeface="Raleway"/>
              </a:rPr>
              <a:t>Turas Interactive Report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Explore every cut, filter, and chart on demand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Answer your own follow-up questions instantly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Share one file — the whole team has access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So intuitive, minimal training needed</a:t>
            </a:r>
          </a:p>
        </p:txBody>
      </p:sp>
      <p:sp>
        <p:nvSpPr>
          <p:cNvPr id="111" name="Fact0BG"/>
          <p:cNvSpPr/>
          <p:nvPr/>
        </p:nvSpPr>
        <p:spPr>
          <a:xfrm>
            <a:off x="7620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2" name="Fact0Acc"/>
          <p:cNvSpPr/>
          <p:nvPr/>
        </p:nvSpPr>
        <p:spPr>
          <a:xfrm>
            <a:off x="914400" y="4889500"/>
            <a:ext cx="4445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3" name="Fact0Txt"/>
          <p:cNvSpPr/>
          <p:nvPr/>
        </p:nvSpPr>
        <p:spPr>
          <a:xfrm>
            <a:off x="9144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Browser-Based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Nothing to install. Open a link and go.</a:t>
            </a:r>
          </a:p>
        </p:txBody>
      </p:sp>
      <p:sp>
        <p:nvSpPr>
          <p:cNvPr id="114" name="Fact1BG"/>
          <p:cNvSpPr/>
          <p:nvPr/>
        </p:nvSpPr>
        <p:spPr>
          <a:xfrm>
            <a:off x="43688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5" name="Fact1Acc"/>
          <p:cNvSpPr/>
          <p:nvPr/>
        </p:nvSpPr>
        <p:spPr>
          <a:xfrm>
            <a:off x="4521200" y="4889500"/>
            <a:ext cx="4445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6" name="Fact1Txt"/>
          <p:cNvSpPr/>
          <p:nvPr/>
        </p:nvSpPr>
        <p:spPr>
          <a:xfrm>
            <a:off x="45212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Table + Chart Views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Switch between views with one click.</a:t>
            </a:r>
          </a:p>
        </p:txBody>
      </p:sp>
      <p:sp>
        <p:nvSpPr>
          <p:cNvPr id="117" name="Fact2BG"/>
          <p:cNvSpPr/>
          <p:nvPr/>
        </p:nvSpPr>
        <p:spPr>
          <a:xfrm>
            <a:off x="79756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8" name="Fact2Acc"/>
          <p:cNvSpPr/>
          <p:nvPr/>
        </p:nvSpPr>
        <p:spPr>
          <a:xfrm>
            <a:off x="8128000" y="4889500"/>
            <a:ext cx="4445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9" name="Fact2Txt"/>
          <p:cNvSpPr/>
          <p:nvPr/>
        </p:nvSpPr>
        <p:spPr>
          <a:xfrm>
            <a:off x="81280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Excel Export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Pull any table into Excel whenever you need it.</a:t>
            </a:r>
          </a:p>
        </p:txBody>
      </p:sp>
      <p:sp>
        <p:nvSpPr>
          <p:cNvPr id="120" name="Call"/>
          <p:cNvSpPr/>
          <p:nvPr/>
        </p:nvSpPr>
        <p:spPr>
          <a:xfrm>
            <a:off x="762000" y="5905500"/>
            <a:ext cx="10668000" cy="635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Not a dashboard. Not a PDF. A living report your whole team can explore.</a:t>
            </a:r>
          </a:p>
        </p:txBody>
      </p:sp>
    </p:spTree>
    <p:extLst>
      <p:ext uri="{BB962C8B-B14F-4D97-AF65-F5344CB8AC3E}">
        <p14:creationId xmlns:p14="http://schemas.microsoft.com/office/powerpoint/2010/main" val="3254322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B4CF2-20DC-6483-92D5-5074FD530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>
                <a:solidFill>
                  <a:srgbClr val="FFFFFF"/>
                </a:solidFill>
                <a:latin typeface="Source Sans Pro"/>
              </a:rPr>
              <a:t>THE WORKFLOW</a:t>
            </a:r>
            <a:endParaRPr lang="en-GB" sz="900" b="1" dirty="0">
              <a:solidFill>
                <a:srgbClr val="FFFFFF"/>
              </a:solidFill>
              <a:latin typeface="Source Sans Pro"/>
            </a:endParaRP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08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4" name="Title"/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Build Your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Story</a:t>
            </a:r>
          </a:p>
        </p:txBody>
      </p:sp>
      <p:sp>
        <p:nvSpPr>
          <p:cNvPr id="2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6" name="Hero"/>
          <p:cNvSpPr/>
          <p:nvPr/>
        </p:nvSpPr>
        <p:spPr>
          <a:xfrm>
            <a:off x="762000" y="1841500"/>
            <a:ext cx="10668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Exploring the data is just the start. With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pins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, you capture the charts and tables that matter and arrange them into a narrative others can follow.</a:t>
            </a:r>
          </a:p>
        </p:txBody>
      </p:sp>
      <p:sp>
        <p:nvSpPr>
          <p:cNvPr id="107" name="Step0"/>
          <p:cNvSpPr/>
          <p:nvPr/>
        </p:nvSpPr>
        <p:spPr>
          <a:xfrm>
            <a:off x="762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08" name="SN0"/>
          <p:cNvSpPr/>
          <p:nvPr/>
        </p:nvSpPr>
        <p:spPr>
          <a:xfrm>
            <a:off x="2159000" y="2781300"/>
            <a:ext cx="508000" cy="50800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1</a:t>
            </a:r>
          </a:p>
        </p:txBody>
      </p:sp>
      <p:sp>
        <p:nvSpPr>
          <p:cNvPr id="109" name="STxt0"/>
          <p:cNvSpPr/>
          <p:nvPr/>
        </p:nvSpPr>
        <p:spPr>
          <a:xfrm>
            <a:off x="952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Explore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Browse the interactive report. Filter, compare, switch views — follow wherever the data leads you.</a:t>
            </a:r>
          </a:p>
        </p:txBody>
      </p:sp>
      <p:sp>
        <p:nvSpPr>
          <p:cNvPr id="110" name="Arr0"/>
          <p:cNvSpPr/>
          <p:nvPr/>
        </p:nvSpPr>
        <p:spPr>
          <a:xfrm>
            <a:off x="4089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1" name="Step1"/>
          <p:cNvSpPr/>
          <p:nvPr/>
        </p:nvSpPr>
        <p:spPr>
          <a:xfrm>
            <a:off x="4445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2" name="SN1"/>
          <p:cNvSpPr/>
          <p:nvPr/>
        </p:nvSpPr>
        <p:spPr>
          <a:xfrm>
            <a:off x="5842000" y="2781300"/>
            <a:ext cx="508000" cy="508000"/>
          </a:xfrm>
          <a:prstGeom prst="ellipse">
            <a:avLst/>
          </a:prstGeom>
          <a:solidFill>
            <a:srgbClr val="CC99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2</a:t>
            </a:r>
          </a:p>
        </p:txBody>
      </p:sp>
      <p:sp>
        <p:nvSpPr>
          <p:cNvPr id="113" name="STxt1"/>
          <p:cNvSpPr/>
          <p:nvPr/>
        </p:nvSpPr>
        <p:spPr>
          <a:xfrm>
            <a:off x="4635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Pin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Found something worth sharing? Pin it. Add your own commentary, title it, and build a sequence that tells a clear story.</a:t>
            </a:r>
          </a:p>
        </p:txBody>
      </p:sp>
      <p:sp>
        <p:nvSpPr>
          <p:cNvPr id="114" name="Arr1"/>
          <p:cNvSpPr/>
          <p:nvPr/>
        </p:nvSpPr>
        <p:spPr>
          <a:xfrm>
            <a:off x="7772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5" name="Step2"/>
          <p:cNvSpPr/>
          <p:nvPr/>
        </p:nvSpPr>
        <p:spPr>
          <a:xfrm>
            <a:off x="8128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6" name="SN2"/>
          <p:cNvSpPr/>
          <p:nvPr/>
        </p:nvSpPr>
        <p:spPr>
          <a:xfrm>
            <a:off x="9525000" y="2781300"/>
            <a:ext cx="508000" cy="508000"/>
          </a:xfrm>
          <a:prstGeom prst="ellipse">
            <a:avLst/>
          </a:prstGeom>
          <a:solidFill>
            <a:srgbClr val="E56B3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3</a:t>
            </a:r>
          </a:p>
        </p:txBody>
      </p:sp>
      <p:sp>
        <p:nvSpPr>
          <p:cNvPr id="117" name="STxt2"/>
          <p:cNvSpPr/>
          <p:nvPr/>
        </p:nvSpPr>
        <p:spPr>
          <a:xfrm>
            <a:off x="8318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Present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Walk stakeholders through your pinned narrative — inside the report itself, or export to PowerPoint or PDF.</a:t>
            </a:r>
          </a:p>
        </p:txBody>
      </p:sp>
      <p:sp>
        <p:nvSpPr>
          <p:cNvPr id="118" name="Call"/>
          <p:cNvSpPr/>
          <p:nvPr/>
        </p:nvSpPr>
        <p:spPr>
          <a:xfrm>
            <a:off x="762000" y="5232400"/>
            <a:ext cx="10668000" cy="8890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You don’t just receive results — you build the story you want to tell.</a:t>
            </a:r>
          </a:p>
          <a:p>
            <a:pPr algn="ctr"/>
            <a:r>
              <a:rPr lang="en-GB" sz="1200" dirty="0">
                <a:solidFill>
                  <a:srgbClr val="A0AEC0"/>
                </a:solidFill>
                <a:latin typeface="Source Sans Pro"/>
              </a:rPr>
              <a:t>One environment for exploration, narrative-building, and presentation — no tool-switching required.</a:t>
            </a:r>
          </a:p>
        </p:txBody>
      </p:sp>
    </p:spTree>
    <p:extLst>
      <p:ext uri="{BB962C8B-B14F-4D97-AF65-F5344CB8AC3E}">
        <p14:creationId xmlns:p14="http://schemas.microsoft.com/office/powerpoint/2010/main" val="1405007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309C4-BFDB-4BDF-C630-CC3E60191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270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" name="Tag"/>
          <p:cNvSpPr/>
          <p:nvPr/>
        </p:nvSpPr>
        <p:spPr>
          <a:xfrm>
            <a:off x="762000" y="190500"/>
            <a:ext cx="3556000" cy="2540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>
                <a:solidFill>
                  <a:srgbClr val="FFFFFF"/>
                </a:solidFill>
                <a:latin typeface="Source Sans Pro"/>
              </a:rPr>
              <a:t>THE PLATFORM</a:t>
            </a:r>
            <a:endParaRPr lang="en-GB" sz="900" b="1" dirty="0">
              <a:solidFill>
                <a:srgbClr val="FFFFFF"/>
              </a:solidFill>
              <a:latin typeface="Source Sans Pro"/>
            </a:endParaRPr>
          </a:p>
        </p:txBody>
      </p:sp>
      <p:sp>
        <p:nvSpPr>
          <p:cNvPr id="104" name="Title"/>
          <p:cNvSpPr/>
          <p:nvPr/>
        </p:nvSpPr>
        <p:spPr>
          <a:xfrm>
            <a:off x="762000" y="508000"/>
            <a:ext cx="8890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600" b="1" dirty="0">
                <a:solidFill>
                  <a:srgbClr val="FFFFFF"/>
                </a:solidFill>
                <a:latin typeface="Raleway"/>
              </a:rPr>
              <a:t>What Turas Can </a:t>
            </a:r>
            <a:r>
              <a:rPr lang="en-GB" sz="2600" b="1" dirty="0">
                <a:solidFill>
                  <a:srgbClr val="CC9900"/>
                </a:solidFill>
                <a:latin typeface="Raleway"/>
              </a:rPr>
              <a:t>Analyse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01600"/>
            <a:ext cx="1651000" cy="106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60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09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4224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7" name="Sub"/>
          <p:cNvSpPr/>
          <p:nvPr/>
        </p:nvSpPr>
        <p:spPr>
          <a:xfrm>
            <a:off x="762000" y="15240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Specialist analytical modules, all delivered within the same interactive report.</a:t>
            </a:r>
          </a:p>
        </p:txBody>
      </p:sp>
      <p:sp>
        <p:nvSpPr>
          <p:cNvPr id="200" name="M0"/>
          <p:cNvSpPr/>
          <p:nvPr/>
        </p:nvSpPr>
        <p:spPr>
          <a:xfrm>
            <a:off x="7620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201" name="MT0"/>
          <p:cNvSpPr/>
          <p:nvPr/>
        </p:nvSpPr>
        <p:spPr>
          <a:xfrm>
            <a:off x="8890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Tabs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Automated crosstabs with significance testing</a:t>
            </a:r>
          </a:p>
        </p:txBody>
      </p:sp>
      <p:sp>
        <p:nvSpPr>
          <p:cNvPr id="202" name="M1"/>
          <p:cNvSpPr/>
          <p:nvPr/>
        </p:nvSpPr>
        <p:spPr>
          <a:xfrm>
            <a:off x="34671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203" name="MT1"/>
          <p:cNvSpPr/>
          <p:nvPr/>
        </p:nvSpPr>
        <p:spPr>
          <a:xfrm>
            <a:off x="35941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Tracker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Multi-wave trend analysis across waves</a:t>
            </a:r>
          </a:p>
        </p:txBody>
      </p:sp>
      <p:sp>
        <p:nvSpPr>
          <p:cNvPr id="204" name="M2"/>
          <p:cNvSpPr/>
          <p:nvPr/>
        </p:nvSpPr>
        <p:spPr>
          <a:xfrm>
            <a:off x="61722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205" name="MT2"/>
          <p:cNvSpPr/>
          <p:nvPr/>
        </p:nvSpPr>
        <p:spPr>
          <a:xfrm>
            <a:off x="62992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Key Driver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Strongest factors driving business outcomes</a:t>
            </a:r>
          </a:p>
        </p:txBody>
      </p:sp>
      <p:sp>
        <p:nvSpPr>
          <p:cNvPr id="206" name="M3"/>
          <p:cNvSpPr/>
          <p:nvPr/>
        </p:nvSpPr>
        <p:spPr>
          <a:xfrm>
            <a:off x="88773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207" name="MT3"/>
          <p:cNvSpPr/>
          <p:nvPr/>
        </p:nvSpPr>
        <p:spPr>
          <a:xfrm>
            <a:off x="90043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Key Driver (Cat.)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Regression for categorical outcomes</a:t>
            </a:r>
          </a:p>
        </p:txBody>
      </p:sp>
      <p:sp>
        <p:nvSpPr>
          <p:cNvPr id="208" name="M4"/>
          <p:cNvSpPr/>
          <p:nvPr/>
        </p:nvSpPr>
        <p:spPr>
          <a:xfrm>
            <a:off x="7620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209" name="MT4"/>
          <p:cNvSpPr/>
          <p:nvPr/>
        </p:nvSpPr>
        <p:spPr>
          <a:xfrm>
            <a:off x="8890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Segment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Statistical clustering for customer groups</a:t>
            </a:r>
          </a:p>
        </p:txBody>
      </p:sp>
      <p:sp>
        <p:nvSpPr>
          <p:cNvPr id="210" name="M5"/>
          <p:cNvSpPr/>
          <p:nvPr/>
        </p:nvSpPr>
        <p:spPr>
          <a:xfrm>
            <a:off x="34671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211" name="MT5"/>
          <p:cNvSpPr/>
          <p:nvPr/>
        </p:nvSpPr>
        <p:spPr>
          <a:xfrm>
            <a:off x="35941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Conjoint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Choice modelling with market simulator</a:t>
            </a:r>
          </a:p>
        </p:txBody>
      </p:sp>
      <p:sp>
        <p:nvSpPr>
          <p:cNvPr id="212" name="M6"/>
          <p:cNvSpPr/>
          <p:nvPr/>
        </p:nvSpPr>
        <p:spPr>
          <a:xfrm>
            <a:off x="61722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213" name="MT6"/>
          <p:cNvSpPr/>
          <p:nvPr/>
        </p:nvSpPr>
        <p:spPr>
          <a:xfrm>
            <a:off x="62992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MaxDiff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Precise preference rankings</a:t>
            </a:r>
          </a:p>
        </p:txBody>
      </p:sp>
      <p:sp>
        <p:nvSpPr>
          <p:cNvPr id="214" name="M7"/>
          <p:cNvSpPr/>
          <p:nvPr/>
        </p:nvSpPr>
        <p:spPr>
          <a:xfrm>
            <a:off x="88773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215" name="MT7"/>
          <p:cNvSpPr/>
          <p:nvPr/>
        </p:nvSpPr>
        <p:spPr>
          <a:xfrm>
            <a:off x="90043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Pricing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Van Westendorp and Gabor-Granger models</a:t>
            </a:r>
          </a:p>
        </p:txBody>
      </p:sp>
      <p:sp>
        <p:nvSpPr>
          <p:cNvPr id="216" name="M8"/>
          <p:cNvSpPr/>
          <p:nvPr/>
        </p:nvSpPr>
        <p:spPr>
          <a:xfrm>
            <a:off x="7620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217" name="MT8"/>
          <p:cNvSpPr/>
          <p:nvPr/>
        </p:nvSpPr>
        <p:spPr>
          <a:xfrm>
            <a:off x="8890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Weighting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Target population representation</a:t>
            </a:r>
          </a:p>
        </p:txBody>
      </p:sp>
      <p:sp>
        <p:nvSpPr>
          <p:cNvPr id="218" name="M9"/>
          <p:cNvSpPr/>
          <p:nvPr/>
        </p:nvSpPr>
        <p:spPr>
          <a:xfrm>
            <a:off x="34671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219" name="MT9"/>
          <p:cNvSpPr/>
          <p:nvPr/>
        </p:nvSpPr>
        <p:spPr>
          <a:xfrm>
            <a:off x="35941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Confidence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Rigorous validity testing</a:t>
            </a:r>
          </a:p>
        </p:txBody>
      </p:sp>
      <p:sp>
        <p:nvSpPr>
          <p:cNvPr id="240" name="Call"/>
          <p:cNvSpPr/>
          <p:nvPr/>
        </p:nvSpPr>
        <p:spPr>
          <a:xfrm>
            <a:off x="762000" y="5207000"/>
            <a:ext cx="10668000" cy="635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22860" rIns="182880" bIns="2286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Multiple modules can be combined into a single report.</a:t>
            </a:r>
          </a:p>
        </p:txBody>
      </p:sp>
      <p:sp>
        <p:nvSpPr>
          <p:cNvPr id="2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420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B1E78-558A-578F-B8A1-E16906D49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>
                <a:solidFill>
                  <a:srgbClr val="FFFFFF"/>
                </a:solidFill>
                <a:latin typeface="Source Sans Pro"/>
              </a:rPr>
              <a:t>WORKING TOGETHER</a:t>
            </a:r>
            <a:endParaRPr lang="en-GB" sz="900" b="1" dirty="0">
              <a:solidFill>
                <a:srgbClr val="FFFFFF"/>
              </a:solidFill>
              <a:latin typeface="Source Sans Pro"/>
            </a:endParaRP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We Can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Help With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10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7" name="P0"/>
          <p:cNvSpPr/>
          <p:nvPr/>
        </p:nvSpPr>
        <p:spPr>
          <a:xfrm>
            <a:off x="762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08" name="PTx0"/>
          <p:cNvSpPr/>
          <p:nvPr/>
        </p:nvSpPr>
        <p:spPr>
          <a:xfrm>
            <a:off x="952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Questionnaire Design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Structuring questions to produce clean, analysable data.</a:t>
            </a:r>
          </a:p>
        </p:txBody>
      </p:sp>
      <p:sp>
        <p:nvSpPr>
          <p:cNvPr id="109" name="P1"/>
          <p:cNvSpPr/>
          <p:nvPr/>
        </p:nvSpPr>
        <p:spPr>
          <a:xfrm>
            <a:off x="4445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0" name="PTx1"/>
          <p:cNvSpPr/>
          <p:nvPr/>
        </p:nvSpPr>
        <p:spPr>
          <a:xfrm>
            <a:off x="4635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Analytical Planning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Choosing the right methods and structuring the approach.</a:t>
            </a:r>
          </a:p>
        </p:txBody>
      </p:sp>
      <p:sp>
        <p:nvSpPr>
          <p:cNvPr id="111" name="P2"/>
          <p:cNvSpPr/>
          <p:nvPr/>
        </p:nvSpPr>
        <p:spPr>
          <a:xfrm>
            <a:off x="8128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2" name="PTx2"/>
          <p:cNvSpPr/>
          <p:nvPr/>
        </p:nvSpPr>
        <p:spPr>
          <a:xfrm>
            <a:off x="8318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Data Preparation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Cleaning, coding, and preparing data for rigorous analysis.</a:t>
            </a:r>
          </a:p>
        </p:txBody>
      </p:sp>
      <p:sp>
        <p:nvSpPr>
          <p:cNvPr id="113" name="P3"/>
          <p:cNvSpPr/>
          <p:nvPr/>
        </p:nvSpPr>
        <p:spPr>
          <a:xfrm>
            <a:off x="762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4" name="PTx3"/>
          <p:cNvSpPr/>
          <p:nvPr/>
        </p:nvSpPr>
        <p:spPr>
          <a:xfrm>
            <a:off x="952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6B33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Interpretation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Making sense of results and building a clear narrative.</a:t>
            </a:r>
          </a:p>
        </p:txBody>
      </p:sp>
      <p:sp>
        <p:nvSpPr>
          <p:cNvPr id="115" name="P4"/>
          <p:cNvSpPr/>
          <p:nvPr/>
        </p:nvSpPr>
        <p:spPr>
          <a:xfrm>
            <a:off x="6350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16" name="PTx4"/>
          <p:cNvSpPr/>
          <p:nvPr/>
        </p:nvSpPr>
        <p:spPr>
          <a:xfrm>
            <a:off x="6540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Third-Party Data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We can evaluate and prepare existing datasets for analysis, regardless of source.</a:t>
            </a:r>
          </a:p>
        </p:txBody>
      </p:sp>
      <p:sp>
        <p:nvSpPr>
          <p:cNvPr id="117" name="Call"/>
          <p:cNvSpPr/>
          <p:nvPr/>
        </p:nvSpPr>
        <p:spPr>
          <a:xfrm>
            <a:off x="762000" y="5334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For most projects we also prepare an initial set of pinned views, giving your team a ready-made starting point.</a:t>
            </a:r>
          </a:p>
        </p:txBody>
      </p:sp>
    </p:spTree>
    <p:extLst>
      <p:ext uri="{BB962C8B-B14F-4D97-AF65-F5344CB8AC3E}">
        <p14:creationId xmlns:p14="http://schemas.microsoft.com/office/powerpoint/2010/main" val="15919603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" name="Header"/>
          <p:cNvSpPr/>
          <p:nvPr/>
        </p:nvSpPr>
        <p:spPr>
          <a:xfrm>
            <a:off x="0" y="0"/>
            <a:ext cx="12192000" cy="11176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" name="Tag"/>
          <p:cNvSpPr/>
          <p:nvPr/>
        </p:nvSpPr>
        <p:spPr>
          <a:xfrm>
            <a:off x="609600" y="177800"/>
            <a:ext cx="2032000" cy="2794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MODULE NAME</a:t>
            </a:r>
          </a:p>
        </p:txBody>
      </p:sp>
      <p:sp>
        <p:nvSpPr>
          <p:cNvPr id="104" name="Title"/>
          <p:cNvSpPr/>
          <p:nvPr/>
        </p:nvSpPr>
        <p:spPr>
          <a:xfrm>
            <a:off x="609600" y="4826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Raleway"/>
              </a:rPr>
              <a:t>Screenshot Title Goes Here</a:t>
            </a:r>
          </a:p>
        </p:txBody>
      </p:sp>
      <p:sp>
        <p:nvSpPr>
          <p:cNvPr id="105" name="ScreenshotFrame"/>
          <p:cNvSpPr/>
          <p:nvPr/>
        </p:nvSpPr>
        <p:spPr>
          <a:xfrm>
            <a:off x="609600" y="1270000"/>
            <a:ext cx="10972800" cy="48514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9525">
            <a:solidFill>
              <a:srgbClr val="E2E8F0"/>
            </a:solidFill>
          </a:ln>
          <a:effectLst>
            <a:outerShdw blurRad="50800" dist="25400" dir="5400000" algn="t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6" name="PlaceholderText"/>
          <p:cNvSpPr/>
          <p:nvPr/>
        </p:nvSpPr>
        <p:spPr>
          <a:xfrm>
            <a:off x="609600" y="3302000"/>
            <a:ext cx="109728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600" dirty="0">
                <a:solidFill>
                  <a:srgbClr val="CBD5E0"/>
                </a:solidFill>
                <a:latin typeface="Source Sans Pro"/>
              </a:rPr>
              <a:t>Drop screenshot here</a:t>
            </a:r>
          </a:p>
          <a:p>
            <a:pPr algn="ctr"/>
            <a:r>
              <a:rPr lang="en-GB" sz="1100" dirty="0">
                <a:solidFill>
                  <a:srgbClr val="CBD5E0"/>
                </a:solidFill>
                <a:latin typeface="Source Sans Pro"/>
              </a:rPr>
              <a:t>Delete this text after inserting your image</a:t>
            </a:r>
          </a:p>
        </p:txBody>
      </p:sp>
      <p:sp>
        <p:nvSpPr>
          <p:cNvPr id="107" name="Caption"/>
          <p:cNvSpPr/>
          <p:nvPr/>
        </p:nvSpPr>
        <p:spPr>
          <a:xfrm>
            <a:off x="609600" y="6248400"/>
            <a:ext cx="914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100" i="1" dirty="0">
                <a:solidFill>
                  <a:srgbClr val="4A5568"/>
                </a:solidFill>
                <a:latin typeface="Source Sans Pro"/>
              </a:rPr>
              <a:t>Brief description of what this screenshot shows and which module it demonstrates.</a:t>
            </a:r>
          </a:p>
        </p:txBody>
      </p:sp>
      <p:sp>
        <p:nvSpPr>
          <p:cNvPr id="108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9" name="Brand"/>
          <p:cNvSpPr/>
          <p:nvPr/>
        </p:nvSpPr>
        <p:spPr>
          <a:xfrm>
            <a:off x="10160000" y="62484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/>
            <a:r>
              <a:rPr lang="en-GB" sz="1000" b="1" dirty="0">
                <a:solidFill>
                  <a:srgbClr val="323367"/>
                </a:solidFill>
                <a:latin typeface="Raleway"/>
              </a:rPr>
              <a:t>turas</a:t>
            </a:r>
            <a:r>
              <a:rPr lang="en-GB" sz="1000" dirty="0">
                <a:solidFill>
                  <a:srgbClr val="4A5568"/>
                </a:solidFill>
                <a:latin typeface="Source Sans Pro"/>
              </a:rPr>
              <a:t> analytics</a:t>
            </a:r>
          </a:p>
        </p:txBody>
      </p:sp>
    </p:spTree>
    <p:extLst>
      <p:ext uri="{BB962C8B-B14F-4D97-AF65-F5344CB8AC3E}">
        <p14:creationId xmlns:p14="http://schemas.microsoft.com/office/powerpoint/2010/main" val="14928976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" name="Header"/>
          <p:cNvSpPr/>
          <p:nvPr/>
        </p:nvSpPr>
        <p:spPr>
          <a:xfrm>
            <a:off x="0" y="0"/>
            <a:ext cx="12192000" cy="11176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" name="Tag"/>
          <p:cNvSpPr/>
          <p:nvPr/>
        </p:nvSpPr>
        <p:spPr>
          <a:xfrm>
            <a:off x="609600" y="177800"/>
            <a:ext cx="2032000" cy="2794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INTERACTIVE REPORT</a:t>
            </a:r>
          </a:p>
        </p:txBody>
      </p:sp>
      <p:sp>
        <p:nvSpPr>
          <p:cNvPr id="104" name="Title"/>
          <p:cNvSpPr/>
          <p:nvPr/>
        </p:nvSpPr>
        <p:spPr>
          <a:xfrm>
            <a:off x="609600" y="4826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Raleway"/>
              </a:rPr>
              <a:t>The Live Report Experience</a:t>
            </a:r>
          </a:p>
        </p:txBody>
      </p:sp>
      <p:sp>
        <p:nvSpPr>
          <p:cNvPr id="105" name="ScreenshotFrame"/>
          <p:cNvSpPr/>
          <p:nvPr/>
        </p:nvSpPr>
        <p:spPr>
          <a:xfrm>
            <a:off x="609600" y="1270000"/>
            <a:ext cx="10972800" cy="48514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9525">
            <a:solidFill>
              <a:srgbClr val="E2E8F0"/>
            </a:solidFill>
          </a:ln>
          <a:effectLst>
            <a:outerShdw blurRad="50800" dist="25400" dir="5400000" algn="t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6" name="PlaceholderText"/>
          <p:cNvSpPr/>
          <p:nvPr/>
        </p:nvSpPr>
        <p:spPr>
          <a:xfrm>
            <a:off x="609600" y="3302000"/>
            <a:ext cx="109728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600" dirty="0">
                <a:solidFill>
                  <a:srgbClr val="CBD5E0"/>
                </a:solidFill>
                <a:latin typeface="Source Sans Pro"/>
              </a:rPr>
              <a:t>Drop screenshot here</a:t>
            </a:r>
          </a:p>
          <a:p>
            <a:pPr algn="ctr"/>
            <a:r>
              <a:rPr lang="en-GB" sz="1100" dirty="0">
                <a:solidFill>
                  <a:srgbClr val="CBD5E0"/>
                </a:solidFill>
                <a:latin typeface="Source Sans Pro"/>
              </a:rPr>
              <a:t>Delete this text after inserting your image</a:t>
            </a:r>
          </a:p>
        </p:txBody>
      </p:sp>
      <p:sp>
        <p:nvSpPr>
          <p:cNvPr id="107" name="Caption"/>
          <p:cNvSpPr/>
          <p:nvPr/>
        </p:nvSpPr>
        <p:spPr>
          <a:xfrm>
            <a:off x="609600" y="6248400"/>
            <a:ext cx="914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100" i="1" dirty="0">
                <a:solidFill>
                  <a:srgbClr val="4A5568"/>
                </a:solidFill>
                <a:latin typeface="Source Sans Pro"/>
              </a:rPr>
              <a:t>A fully interactive HTML report with navigation, filtering, and real-time chart exploration.</a:t>
            </a:r>
          </a:p>
        </p:txBody>
      </p:sp>
      <p:sp>
        <p:nvSpPr>
          <p:cNvPr id="108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9" name="Brand"/>
          <p:cNvSpPr/>
          <p:nvPr/>
        </p:nvSpPr>
        <p:spPr>
          <a:xfrm>
            <a:off x="10160000" y="62484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/>
            <a:r>
              <a:rPr lang="en-GB" sz="1000" b="1" dirty="0">
                <a:solidFill>
                  <a:srgbClr val="323367"/>
                </a:solidFill>
                <a:latin typeface="Raleway"/>
              </a:rPr>
              <a:t>turas</a:t>
            </a:r>
            <a:r>
              <a:rPr lang="en-GB" sz="1000" dirty="0">
                <a:solidFill>
                  <a:srgbClr val="4A5568"/>
                </a:solidFill>
                <a:latin typeface="Source Sans Pro"/>
              </a:rPr>
              <a:t> analytics</a:t>
            </a:r>
          </a:p>
        </p:txBody>
      </p:sp>
    </p:spTree>
    <p:extLst>
      <p:ext uri="{BB962C8B-B14F-4D97-AF65-F5344CB8AC3E}">
        <p14:creationId xmlns:p14="http://schemas.microsoft.com/office/powerpoint/2010/main" val="40670207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" name="Header"/>
          <p:cNvSpPr/>
          <p:nvPr/>
        </p:nvSpPr>
        <p:spPr>
          <a:xfrm>
            <a:off x="0" y="0"/>
            <a:ext cx="12192000" cy="11176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" name="Tag"/>
          <p:cNvSpPr/>
          <p:nvPr/>
        </p:nvSpPr>
        <p:spPr>
          <a:xfrm>
            <a:off x="609600" y="177800"/>
            <a:ext cx="2032000" cy="2794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KEY DRIVER</a:t>
            </a:r>
          </a:p>
        </p:txBody>
      </p:sp>
      <p:sp>
        <p:nvSpPr>
          <p:cNvPr id="104" name="Title"/>
          <p:cNvSpPr/>
          <p:nvPr/>
        </p:nvSpPr>
        <p:spPr>
          <a:xfrm>
            <a:off x="609600" y="4826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Raleway"/>
              </a:rPr>
              <a:t>What Drives Customer Satisfaction</a:t>
            </a:r>
          </a:p>
        </p:txBody>
      </p:sp>
      <p:sp>
        <p:nvSpPr>
          <p:cNvPr id="105" name="ScreenshotFrame"/>
          <p:cNvSpPr/>
          <p:nvPr/>
        </p:nvSpPr>
        <p:spPr>
          <a:xfrm>
            <a:off x="609600" y="1270000"/>
            <a:ext cx="10972800" cy="48514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9525">
            <a:solidFill>
              <a:srgbClr val="E2E8F0"/>
            </a:solidFill>
          </a:ln>
          <a:effectLst>
            <a:outerShdw blurRad="50800" dist="25400" dir="5400000" algn="t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6" name="PlaceholderText"/>
          <p:cNvSpPr/>
          <p:nvPr/>
        </p:nvSpPr>
        <p:spPr>
          <a:xfrm>
            <a:off x="609600" y="3302000"/>
            <a:ext cx="109728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600" dirty="0">
                <a:solidFill>
                  <a:srgbClr val="CBD5E0"/>
                </a:solidFill>
                <a:latin typeface="Source Sans Pro"/>
              </a:rPr>
              <a:t>Drop screenshot here</a:t>
            </a:r>
          </a:p>
          <a:p>
            <a:pPr algn="ctr"/>
            <a:r>
              <a:rPr lang="en-GB" sz="1100" dirty="0">
                <a:solidFill>
                  <a:srgbClr val="CBD5E0"/>
                </a:solidFill>
                <a:latin typeface="Source Sans Pro"/>
              </a:rPr>
              <a:t>Delete this text after inserting your image</a:t>
            </a:r>
          </a:p>
        </p:txBody>
      </p:sp>
      <p:sp>
        <p:nvSpPr>
          <p:cNvPr id="107" name="Caption"/>
          <p:cNvSpPr/>
          <p:nvPr/>
        </p:nvSpPr>
        <p:spPr>
          <a:xfrm>
            <a:off x="609600" y="6248400"/>
            <a:ext cx="914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100" i="1" dirty="0">
                <a:solidFill>
                  <a:srgbClr val="4A5568"/>
                </a:solidFill>
                <a:latin typeface="Source Sans Pro"/>
              </a:rPr>
              <a:t>Priority quadrant mapping importance against performance to identify where to focus.</a:t>
            </a:r>
          </a:p>
        </p:txBody>
      </p:sp>
      <p:sp>
        <p:nvSpPr>
          <p:cNvPr id="108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9" name="Brand"/>
          <p:cNvSpPr/>
          <p:nvPr/>
        </p:nvSpPr>
        <p:spPr>
          <a:xfrm>
            <a:off x="10160000" y="62484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/>
            <a:r>
              <a:rPr lang="en-GB" sz="1000" b="1" dirty="0">
                <a:solidFill>
                  <a:srgbClr val="323367"/>
                </a:solidFill>
                <a:latin typeface="Raleway"/>
              </a:rPr>
              <a:t>turas</a:t>
            </a:r>
            <a:r>
              <a:rPr lang="en-GB" sz="1000" dirty="0">
                <a:solidFill>
                  <a:srgbClr val="4A5568"/>
                </a:solidFill>
                <a:latin typeface="Source Sans Pro"/>
              </a:rPr>
              <a:t> analytics</a:t>
            </a:r>
          </a:p>
        </p:txBody>
      </p:sp>
    </p:spTree>
    <p:extLst>
      <p:ext uri="{BB962C8B-B14F-4D97-AF65-F5344CB8AC3E}">
        <p14:creationId xmlns:p14="http://schemas.microsoft.com/office/powerpoint/2010/main" val="34801300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" name="Header"/>
          <p:cNvSpPr/>
          <p:nvPr/>
        </p:nvSpPr>
        <p:spPr>
          <a:xfrm>
            <a:off x="0" y="0"/>
            <a:ext cx="12192000" cy="11176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" name="Tag"/>
          <p:cNvSpPr/>
          <p:nvPr/>
        </p:nvSpPr>
        <p:spPr>
          <a:xfrm>
            <a:off x="609600" y="177800"/>
            <a:ext cx="2032000" cy="2794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CROSSTABS</a:t>
            </a:r>
          </a:p>
        </p:txBody>
      </p:sp>
      <p:sp>
        <p:nvSpPr>
          <p:cNvPr id="104" name="Title"/>
          <p:cNvSpPr/>
          <p:nvPr/>
        </p:nvSpPr>
        <p:spPr>
          <a:xfrm>
            <a:off x="609600" y="4826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Raleway"/>
              </a:rPr>
              <a:t>Satisfaction Breakdown by Region</a:t>
            </a:r>
          </a:p>
        </p:txBody>
      </p:sp>
      <p:sp>
        <p:nvSpPr>
          <p:cNvPr id="105" name="ScreenshotFrame"/>
          <p:cNvSpPr/>
          <p:nvPr/>
        </p:nvSpPr>
        <p:spPr>
          <a:xfrm>
            <a:off x="609600" y="1270000"/>
            <a:ext cx="10972800" cy="48514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9525">
            <a:solidFill>
              <a:srgbClr val="E2E8F0"/>
            </a:solidFill>
          </a:ln>
          <a:effectLst>
            <a:outerShdw blurRad="50800" dist="25400" dir="5400000" algn="t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6" name="PlaceholderText"/>
          <p:cNvSpPr/>
          <p:nvPr/>
        </p:nvSpPr>
        <p:spPr>
          <a:xfrm>
            <a:off x="609600" y="3302000"/>
            <a:ext cx="109728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600" dirty="0">
                <a:solidFill>
                  <a:srgbClr val="CBD5E0"/>
                </a:solidFill>
                <a:latin typeface="Source Sans Pro"/>
              </a:rPr>
              <a:t>Drop screenshot here</a:t>
            </a:r>
          </a:p>
          <a:p>
            <a:pPr algn="ctr"/>
            <a:r>
              <a:rPr lang="en-GB" sz="1100" dirty="0">
                <a:solidFill>
                  <a:srgbClr val="CBD5E0"/>
                </a:solidFill>
                <a:latin typeface="Source Sans Pro"/>
              </a:rPr>
              <a:t>Delete this text after inserting your image</a:t>
            </a:r>
          </a:p>
        </p:txBody>
      </p:sp>
      <p:sp>
        <p:nvSpPr>
          <p:cNvPr id="107" name="Caption"/>
          <p:cNvSpPr/>
          <p:nvPr/>
        </p:nvSpPr>
        <p:spPr>
          <a:xfrm>
            <a:off x="609600" y="6248400"/>
            <a:ext cx="914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100" i="1" dirty="0">
                <a:solidFill>
                  <a:srgbClr val="4A5568"/>
                </a:solidFill>
                <a:latin typeface="Source Sans Pro"/>
              </a:rPr>
              <a:t>Automated crosstabs with significance testing, weighting, and integrated data tables.</a:t>
            </a:r>
          </a:p>
        </p:txBody>
      </p:sp>
      <p:sp>
        <p:nvSpPr>
          <p:cNvPr id="108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9" name="Brand"/>
          <p:cNvSpPr/>
          <p:nvPr/>
        </p:nvSpPr>
        <p:spPr>
          <a:xfrm>
            <a:off x="10160000" y="62484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/>
            <a:r>
              <a:rPr lang="en-GB" sz="1000" b="1" dirty="0">
                <a:solidFill>
                  <a:srgbClr val="323367"/>
                </a:solidFill>
                <a:latin typeface="Raleway"/>
              </a:rPr>
              <a:t>turas</a:t>
            </a:r>
            <a:r>
              <a:rPr lang="en-GB" sz="1000" dirty="0">
                <a:solidFill>
                  <a:srgbClr val="4A5568"/>
                </a:solidFill>
                <a:latin typeface="Source Sans Pro"/>
              </a:rPr>
              <a:t> analytics</a:t>
            </a:r>
          </a:p>
        </p:txBody>
      </p:sp>
    </p:spTree>
    <p:extLst>
      <p:ext uri="{BB962C8B-B14F-4D97-AF65-F5344CB8AC3E}">
        <p14:creationId xmlns:p14="http://schemas.microsoft.com/office/powerpoint/2010/main" val="2662575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" name="Header"/>
          <p:cNvSpPr/>
          <p:nvPr/>
        </p:nvSpPr>
        <p:spPr>
          <a:xfrm>
            <a:off x="0" y="0"/>
            <a:ext cx="12192000" cy="11176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" name="Tag"/>
          <p:cNvSpPr/>
          <p:nvPr/>
        </p:nvSpPr>
        <p:spPr>
          <a:xfrm>
            <a:off x="609600" y="177800"/>
            <a:ext cx="2032000" cy="2794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 wrap="square" lIns="54000" tIns="18000" rIns="54000" bIns="1800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TRACKER</a:t>
            </a:r>
          </a:p>
        </p:txBody>
      </p:sp>
      <p:sp>
        <p:nvSpPr>
          <p:cNvPr id="104" name="Title"/>
          <p:cNvSpPr/>
          <p:nvPr/>
        </p:nvSpPr>
        <p:spPr>
          <a:xfrm>
            <a:off x="609600" y="4826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Raleway"/>
              </a:rPr>
              <a:t>Cross-Wave Trend Comparison</a:t>
            </a:r>
          </a:p>
        </p:txBody>
      </p:sp>
      <p:sp>
        <p:nvSpPr>
          <p:cNvPr id="105" name="ScreenshotFrame"/>
          <p:cNvSpPr/>
          <p:nvPr/>
        </p:nvSpPr>
        <p:spPr>
          <a:xfrm>
            <a:off x="609600" y="1270000"/>
            <a:ext cx="10972800" cy="48514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9525">
            <a:solidFill>
              <a:srgbClr val="E2E8F0"/>
            </a:solidFill>
          </a:ln>
          <a:effectLst>
            <a:outerShdw blurRad="50800" dist="25400" dir="5400000" algn="t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6" name="PlaceholderText"/>
          <p:cNvSpPr/>
          <p:nvPr/>
        </p:nvSpPr>
        <p:spPr>
          <a:xfrm>
            <a:off x="609600" y="3302000"/>
            <a:ext cx="109728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600" dirty="0">
                <a:solidFill>
                  <a:srgbClr val="CBD5E0"/>
                </a:solidFill>
                <a:latin typeface="Source Sans Pro"/>
              </a:rPr>
              <a:t>Drop screenshot here</a:t>
            </a:r>
          </a:p>
          <a:p>
            <a:pPr algn="ctr"/>
            <a:r>
              <a:rPr lang="en-GB" sz="1100" dirty="0">
                <a:solidFill>
                  <a:srgbClr val="CBD5E0"/>
                </a:solidFill>
                <a:latin typeface="Source Sans Pro"/>
              </a:rPr>
              <a:t>Delete this text after inserting your image</a:t>
            </a:r>
          </a:p>
        </p:txBody>
      </p:sp>
      <p:sp>
        <p:nvSpPr>
          <p:cNvPr id="107" name="Caption"/>
          <p:cNvSpPr/>
          <p:nvPr/>
        </p:nvSpPr>
        <p:spPr>
          <a:xfrm>
            <a:off x="609600" y="6248400"/>
            <a:ext cx="914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100" i="1" dirty="0">
                <a:solidFill>
                  <a:srgbClr val="4A5568"/>
                </a:solidFill>
                <a:latin typeface="Source Sans Pro"/>
              </a:rPr>
              <a:t>Multi-wave tracking with significance testing and automated question mapping across waves.</a:t>
            </a:r>
          </a:p>
        </p:txBody>
      </p:sp>
      <p:sp>
        <p:nvSpPr>
          <p:cNvPr id="108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9" name="Brand"/>
          <p:cNvSpPr/>
          <p:nvPr/>
        </p:nvSpPr>
        <p:spPr>
          <a:xfrm>
            <a:off x="10160000" y="62484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/>
            <a:r>
              <a:rPr lang="en-GB" sz="1000" b="1" dirty="0">
                <a:solidFill>
                  <a:srgbClr val="323367"/>
                </a:solidFill>
                <a:latin typeface="Raleway"/>
              </a:rPr>
              <a:t>turas</a:t>
            </a:r>
            <a:r>
              <a:rPr lang="en-GB" sz="1000" dirty="0">
                <a:solidFill>
                  <a:srgbClr val="4A5568"/>
                </a:solidFill>
                <a:latin typeface="Source Sans Pro"/>
              </a:rPr>
              <a:t> analytics</a:t>
            </a:r>
          </a:p>
        </p:txBody>
      </p:sp>
    </p:spTree>
    <p:extLst>
      <p:ext uri="{BB962C8B-B14F-4D97-AF65-F5344CB8AC3E}">
        <p14:creationId xmlns:p14="http://schemas.microsoft.com/office/powerpoint/2010/main" val="23902203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C1237-4AB7-8108-912E-440E1D09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>
                <a:solidFill>
                  <a:srgbClr val="FFFFFF"/>
                </a:solidFill>
                <a:latin typeface="Source Sans Pro"/>
              </a:rPr>
              <a:t>NEXT STEPS</a:t>
            </a:r>
            <a:endParaRPr lang="en-GB" sz="900" b="1" dirty="0">
              <a:solidFill>
                <a:srgbClr val="FFFFFF"/>
              </a:solidFill>
              <a:latin typeface="Source Sans Pro"/>
            </a:endParaRP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See It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In Action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11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0" name="CTA"/>
          <p:cNvSpPr/>
          <p:nvPr/>
        </p:nvSpPr>
        <p:spPr>
          <a:xfrm>
            <a:off x="1524000" y="2286000"/>
            <a:ext cx="9144000" cy="254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CC9900"/>
            </a:solidFill>
          </a:ln>
        </p:spPr>
        <p:txBody>
          <a:bodyPr wrap="square" lIns="228600" tIns="137160" rIns="228600" bIns="137160" anchor="ctr"/>
          <a:lstStyle/>
          <a:p>
            <a:pPr algn="ctr">
              <a:spcAft>
                <a:spcPts val="800"/>
              </a:spcAft>
            </a:pPr>
            <a:r>
              <a:rPr lang="en-GB" sz="2400" b="1" dirty="0">
                <a:solidFill>
                  <a:srgbClr val="1A2744"/>
                </a:solidFill>
                <a:latin typeface="Raleway"/>
              </a:rPr>
              <a:t>The most effective way to understand Turas is a live demonstration.</a:t>
            </a:r>
          </a:p>
          <a:p>
            <a:pPr algn="ctr"/>
            <a:r>
              <a:rPr lang="en-GB" sz="1600" dirty="0">
                <a:solidFill>
                  <a:srgbClr val="4A5568"/>
                </a:solidFill>
                <a:latin typeface="Source Sans Pro"/>
              </a:rPr>
              <a:t>We can walk through a real dataset and show how survey data becomes a working analytical resource — from raw data to interactive report.</a:t>
            </a:r>
          </a:p>
        </p:txBody>
      </p:sp>
      <p:sp>
        <p:nvSpPr>
          <p:cNvPr id="120" name="Btn"/>
          <p:cNvSpPr/>
          <p:nvPr/>
        </p:nvSpPr>
        <p:spPr>
          <a:xfrm>
            <a:off x="4318000" y="5270500"/>
            <a:ext cx="3556000" cy="6350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Request a Demo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52728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01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02" name="Divider"/>
          <p:cNvSpPr/>
          <p:nvPr/>
        </p:nvSpPr>
        <p:spPr>
          <a:xfrm>
            <a:off x="4826000" y="2032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03" name="BrandName"/>
          <p:cNvSpPr/>
          <p:nvPr/>
        </p:nvSpPr>
        <p:spPr>
          <a:xfrm>
            <a:off x="1016000" y="2222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4800" b="1" dirty="0">
                <a:solidFill>
                  <a:srgbClr val="FFFFFF"/>
                </a:solidFill>
                <a:latin typeface="Raleway"/>
              </a:rPr>
              <a:t>Turas</a:t>
            </a:r>
            <a:r>
              <a:rPr lang="en-GB" sz="4800" dirty="0">
                <a:solidFill>
                  <a:srgbClr val="CC9900"/>
                </a:solidFill>
                <a:latin typeface="Raleway"/>
              </a:rPr>
              <a:t>.</a:t>
            </a:r>
          </a:p>
        </p:txBody>
      </p:sp>
      <p:sp>
        <p:nvSpPr>
          <p:cNvPr id="204" name="Tagline"/>
          <p:cNvSpPr/>
          <p:nvPr/>
        </p:nvSpPr>
        <p:spPr>
          <a:xfrm>
            <a:off x="1016000" y="3200400"/>
            <a:ext cx="1016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GB" sz="1800" i="1" dirty="0">
                <a:solidFill>
                  <a:srgbClr val="A0AEC0"/>
                </a:solidFill>
                <a:latin typeface="Source Sans Pro"/>
              </a:rPr>
              <a:t>Reproducible research analysis, delivered.</a:t>
            </a:r>
          </a:p>
        </p:txBody>
      </p:sp>
      <p:sp>
        <p:nvSpPr>
          <p:cNvPr id="205" name="Divider2"/>
          <p:cNvSpPr/>
          <p:nvPr/>
        </p:nvSpPr>
        <p:spPr>
          <a:xfrm>
            <a:off x="4826000" y="3810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06" name="Contact"/>
          <p:cNvSpPr/>
          <p:nvPr/>
        </p:nvSpPr>
        <p:spPr>
          <a:xfrm>
            <a:off x="1016000" y="40640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lnSpc>
                <a:spcPts val="2800"/>
              </a:lnSpc>
            </a:pPr>
            <a:r>
              <a:rPr lang="en-GB" sz="1400" dirty="0">
                <a:solidFill>
                  <a:srgbClr val="CC9900"/>
                </a:solidFill>
                <a:latin typeface="Source Sans Pro"/>
              </a:rPr>
              <a:t>www.yourdomain.com</a:t>
            </a:r>
          </a:p>
          <a:p>
            <a:pPr algn="ctr">
              <a:lnSpc>
                <a:spcPts val="2400"/>
              </a:lnSpc>
            </a:pPr>
            <a:r>
              <a:rPr lang="en-GB" sz="1400" dirty="0">
                <a:solidFill>
                  <a:srgbClr val="A0AEC0"/>
                </a:solidFill>
                <a:latin typeface="Source Sans Pro"/>
              </a:rPr>
              <a:t>your.name@email.com</a:t>
            </a:r>
          </a:p>
        </p:txBody>
      </p:sp>
      <p:sp>
        <p:nvSpPr>
          <p:cNvPr id="207" name="BrandMark"/>
          <p:cNvSpPr/>
          <p:nvPr/>
        </p:nvSpPr>
        <p:spPr>
          <a:xfrm>
            <a:off x="4191000" y="54610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000" dirty="0">
                <a:solidFill>
                  <a:srgbClr val="6B7280"/>
                </a:solidFill>
                <a:latin typeface="Source Sans Pro"/>
              </a:rPr>
              <a:t>The Research LampPost</a:t>
            </a:r>
          </a:p>
        </p:txBody>
      </p:sp>
      <p:sp>
        <p:nvSpPr>
          <p:cNvPr id="208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09" name="Diamond"/>
          <p:cNvSpPr/>
          <p:nvPr/>
        </p:nvSpPr>
        <p:spPr>
          <a:xfrm>
            <a:off x="5943600" y="1651000"/>
            <a:ext cx="304800" cy="304800"/>
          </a:xfrm>
          <a:prstGeom prst="diamond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4815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F0F4F8"/>
      </a:dk1>
      <a:lt1>
        <a:srgbClr val="0B1929"/>
      </a:lt1>
      <a:dk2>
        <a:srgbClr val="B8C9DB"/>
      </a:dk2>
      <a:lt2>
        <a:srgbClr val="132B45"/>
      </a:lt2>
      <a:accent1>
        <a:srgbClr val="00D4AA"/>
      </a:accent1>
      <a:accent2>
        <a:srgbClr val="4A90D9"/>
      </a:accent2>
      <a:accent3>
        <a:srgbClr val="7C5CFC"/>
      </a:accent3>
      <a:accent4>
        <a:srgbClr val="FF6B6B"/>
      </a:accent4>
      <a:accent5>
        <a:srgbClr val="FFD93D"/>
      </a:accent5>
      <a:accent6>
        <a:srgbClr val="4ECDC4"/>
      </a:accent6>
      <a:hlink>
        <a:srgbClr val="467886"/>
      </a:hlink>
      <a:folHlink>
        <a:srgbClr val="96607D"/>
      </a:folHlink>
    </a:clrScheme>
    <a:fontScheme name="Office">
      <a:majorFont>
        <a:latin typeface="Ralew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ans Pro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5074CAE-08C3-3B4F-8C27-CA6529B72A4E}">
  <we:reference id="wa200010001" version="1.0.0.0" store="en-US" storeType="OMEX"/>
  <we:alternateReferences>
    <we:reference id="wa200010001" version="1.0.0.0" store="en-US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20742</TotalTime>
  <Words>1258</Words>
  <Application>Microsoft Macintosh PowerPoint</Application>
  <PresentationFormat>Widescreen</PresentationFormat>
  <Paragraphs>204</Paragraphs>
  <Slides>18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Raleway</vt:lpstr>
      <vt:lpstr>Source Sans Pro</vt:lpstr>
      <vt:lpstr>Office Theme</vt:lpstr>
      <vt:lpstr>Office Theme</vt:lpstr>
      <vt:lpstr>Turas Analytics Engine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Duncan Brett</dc:creator>
  <cp:lastModifiedBy>Duncan Brett</cp:lastModifiedBy>
  <cp:revision>19</cp:revision>
  <dcterms:created xsi:type="dcterms:W3CDTF">2026-02-19T04:31:59Z</dcterms:created>
  <dcterms:modified xsi:type="dcterms:W3CDTF">2026-03-16T21:28:45Z</dcterms:modified>
</cp:coreProperties>
</file>